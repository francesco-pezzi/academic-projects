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30_E20DB2D3.xml" ContentType="application/vnd.ms-powerpoint.comments+xml"/>
  <Override PartName="/ppt/comments/modernComment_136_2167FB00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8" r:id="rId3"/>
    <p:sldId id="269" r:id="rId4"/>
    <p:sldId id="260" r:id="rId5"/>
    <p:sldId id="262" r:id="rId6"/>
    <p:sldId id="271" r:id="rId7"/>
    <p:sldId id="264" r:id="rId8"/>
    <p:sldId id="272" r:id="rId9"/>
    <p:sldId id="265" r:id="rId10"/>
    <p:sldId id="274" r:id="rId11"/>
    <p:sldId id="275" r:id="rId12"/>
    <p:sldId id="277" r:id="rId13"/>
    <p:sldId id="278" r:id="rId14"/>
    <p:sldId id="280" r:id="rId15"/>
    <p:sldId id="318" r:id="rId16"/>
    <p:sldId id="281" r:id="rId17"/>
    <p:sldId id="283" r:id="rId18"/>
    <p:sldId id="284" r:id="rId19"/>
    <p:sldId id="285" r:id="rId20"/>
    <p:sldId id="286" r:id="rId21"/>
    <p:sldId id="289" r:id="rId22"/>
    <p:sldId id="290" r:id="rId23"/>
    <p:sldId id="282" r:id="rId24"/>
    <p:sldId id="287" r:id="rId25"/>
    <p:sldId id="288" r:id="rId26"/>
    <p:sldId id="291" r:id="rId27"/>
    <p:sldId id="292" r:id="rId28"/>
    <p:sldId id="295" r:id="rId29"/>
    <p:sldId id="294" r:id="rId30"/>
    <p:sldId id="296" r:id="rId31"/>
    <p:sldId id="297" r:id="rId32"/>
    <p:sldId id="298" r:id="rId33"/>
    <p:sldId id="300" r:id="rId34"/>
    <p:sldId id="301" r:id="rId35"/>
    <p:sldId id="305" r:id="rId36"/>
    <p:sldId id="306" r:id="rId37"/>
    <p:sldId id="319" r:id="rId38"/>
    <p:sldId id="304" r:id="rId39"/>
    <p:sldId id="302" r:id="rId40"/>
    <p:sldId id="307" r:id="rId41"/>
    <p:sldId id="309" r:id="rId42"/>
    <p:sldId id="310" r:id="rId43"/>
    <p:sldId id="308" r:id="rId44"/>
    <p:sldId id="320" r:id="rId45"/>
    <p:sldId id="316" r:id="rId46"/>
    <p:sldId id="321" r:id="rId47"/>
    <p:sldId id="314" r:id="rId48"/>
    <p:sldId id="317" r:id="rId49"/>
    <p:sldId id="273" r:id="rId5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82C37D-243A-4EED-80FC-9B227431AD3E}" name="Marco Cocomazzi" initials="MC" userId="S::10790352@polimi.it::79cae1ef-be4d-44bb-a339-908b36e0ef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829B"/>
    <a:srgbClr val="475970"/>
    <a:srgbClr val="213652"/>
    <a:srgbClr val="289DD8"/>
    <a:srgbClr val="085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0A069-2D4B-4086-8329-CB0BF01490AC}" v="6523" dt="2026-06-28T14:05:50.527"/>
  </p1510:revLst>
</p1510:revInfo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8/10/relationships/authors" Target="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omments/modernComment_130_E20DB2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CD47CE6-0C28-454D-BBB5-22ABC6B786F6}" authorId="{4782C37D-243A-4EED-80FC-9B227431AD3E}" created="2026-06-22T16:18:32.50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792548563" sldId="304"/>
      <ac:picMk id="13" creationId="{AA84215A-0312-A29C-BD05-F23A258B1791}"/>
    </ac:deMkLst>
    <p188:txBody>
      <a:bodyPr/>
      <a:lstStyle/>
      <a:p>
        <a:r>
          <a:rPr lang="it-IT"/>
          <a:t>Aggiungerei lo zoom come prima magari</a:t>
        </a:r>
      </a:p>
    </p188:txBody>
  </p188:cm>
</p188:cmLst>
</file>

<file path=ppt/comments/modernComment_136_2167FB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88A6063-4C18-4AF1-AD29-35D1F4F5E472}" authorId="{4782C37D-243A-4EED-80FC-9B227431AD3E}" status="resolved" created="2026-06-25T14:26:43.74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560462592" sldId="310"/>
      <ac:picMk id="8" creationId="{3EA4C4BF-2311-D9EE-6DFE-80CFA959C83D}"/>
    </ac:deMkLst>
    <p188:txBody>
      <a:bodyPr/>
      <a:lstStyle/>
      <a:p>
        <a:r>
          <a:rPr lang="it-IT"/>
          <a:t>Da cambiare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FC050-9C1D-4A44-B4C3-0E30B77BCAC1}" type="datetimeFigureOut">
              <a:rPr lang="it-IT" smtClean="0"/>
              <a:t>28/06/2026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0D5E19-E7CA-45F6-8D44-210B4E61BA9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0400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97728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88273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Breakdown of </a:t>
            </a:r>
            <a:r>
              <a:rPr lang="it-IT" err="1"/>
              <a:t>different</a:t>
            </a:r>
            <a:r>
              <a:rPr lang="it-IT"/>
              <a:t> points </a:t>
            </a:r>
            <a:r>
              <a:rPr lang="it-IT" err="1"/>
              <a:t>related</a:t>
            </a:r>
            <a:r>
              <a:rPr lang="it-IT"/>
              <a:t> to task 1, </a:t>
            </a:r>
            <a:r>
              <a:rPr lang="it-IT" err="1"/>
              <a:t>where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start with the PSD </a:t>
            </a:r>
            <a:r>
              <a:rPr lang="it-IT" err="1"/>
              <a:t>estimation</a:t>
            </a:r>
            <a:r>
              <a:rPr lang="it-IT"/>
              <a:t> </a:t>
            </a:r>
            <a:r>
              <a:rPr lang="it-IT" err="1"/>
              <a:t>through</a:t>
            </a:r>
            <a:r>
              <a:rPr lang="it-IT"/>
              <a:t> </a:t>
            </a:r>
            <a:r>
              <a:rPr lang="it-IT" err="1"/>
              <a:t>periodograms</a:t>
            </a:r>
            <a:r>
              <a:rPr lang="it-IT"/>
              <a:t>, </a:t>
            </a:r>
            <a:r>
              <a:rPr lang="it-IT" err="1"/>
              <a:t>then</a:t>
            </a:r>
            <a:r>
              <a:rPr lang="it-IT"/>
              <a:t>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estiamation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used</a:t>
            </a:r>
            <a:r>
              <a:rPr lang="it-IT"/>
              <a:t> to </a:t>
            </a:r>
            <a:r>
              <a:rPr lang="it-IT" err="1"/>
              <a:t>evaluate</a:t>
            </a:r>
            <a:r>
              <a:rPr lang="it-IT"/>
              <a:t> the FRF, </a:t>
            </a:r>
            <a:r>
              <a:rPr lang="it-IT" err="1"/>
              <a:t>comparing</a:t>
            </a:r>
            <a:r>
              <a:rPr lang="it-IT"/>
              <a:t>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methods</a:t>
            </a:r>
            <a:r>
              <a:rPr lang="it-IT"/>
              <a:t>. </a:t>
            </a:r>
            <a:r>
              <a:rPr lang="it-IT" err="1"/>
              <a:t>Finally</a:t>
            </a:r>
            <a:r>
              <a:rPr lang="it-IT"/>
              <a:t>, FRF </a:t>
            </a:r>
            <a:r>
              <a:rPr lang="it-IT" err="1"/>
              <a:t>estimated</a:t>
            </a:r>
            <a:r>
              <a:rPr lang="it-IT"/>
              <a:t> data are </a:t>
            </a:r>
            <a:r>
              <a:rPr lang="it-IT" err="1"/>
              <a:t>used</a:t>
            </a:r>
            <a:r>
              <a:rPr lang="it-IT"/>
              <a:t> for </a:t>
            </a:r>
            <a:r>
              <a:rPr lang="it-IT" err="1"/>
              <a:t>grey</a:t>
            </a:r>
            <a:r>
              <a:rPr lang="it-IT"/>
              <a:t> </a:t>
            </a:r>
            <a:r>
              <a:rPr lang="it-IT" err="1"/>
              <a:t>boc</a:t>
            </a:r>
            <a:r>
              <a:rPr lang="it-IT"/>
              <a:t> model </a:t>
            </a:r>
            <a:r>
              <a:rPr lang="it-IT" err="1"/>
              <a:t>identification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434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First, </a:t>
            </a:r>
            <a:r>
              <a:rPr lang="it-IT" err="1"/>
              <a:t>we</a:t>
            </a:r>
            <a:r>
              <a:rPr lang="it-IT"/>
              <a:t> introduce the </a:t>
            </a:r>
            <a:r>
              <a:rPr lang="it-IT" err="1"/>
              <a:t>linearised</a:t>
            </a:r>
            <a:r>
              <a:rPr lang="it-IT"/>
              <a:t> model for the </a:t>
            </a:r>
            <a:r>
              <a:rPr lang="it-IT" err="1"/>
              <a:t>longitudinal</a:t>
            </a:r>
            <a:r>
              <a:rPr lang="it-IT"/>
              <a:t> dynamics.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can </a:t>
            </a:r>
            <a:r>
              <a:rPr lang="it-IT" err="1"/>
              <a:t>see</a:t>
            </a:r>
            <a:r>
              <a:rPr lang="it-IT"/>
              <a:t>, the state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characterised</a:t>
            </a:r>
            <a:r>
              <a:rPr lang="it-IT"/>
              <a:t> by </a:t>
            </a:r>
            <a:r>
              <a:rPr lang="it-IT" err="1"/>
              <a:t>longitudinal</a:t>
            </a:r>
            <a:r>
              <a:rPr lang="it-IT"/>
              <a:t> </a:t>
            </a:r>
            <a:r>
              <a:rPr lang="it-IT" err="1"/>
              <a:t>velocity</a:t>
            </a:r>
            <a:r>
              <a:rPr lang="it-IT"/>
              <a:t>, pitch rate and pitch angle, the output by </a:t>
            </a:r>
            <a:r>
              <a:rPr lang="it-IT" err="1"/>
              <a:t>acceleration</a:t>
            </a:r>
            <a:r>
              <a:rPr lang="it-IT"/>
              <a:t> and pitch rate </a:t>
            </a:r>
            <a:r>
              <a:rPr lang="it-IT" err="1"/>
              <a:t>itself</a:t>
            </a:r>
            <a:r>
              <a:rPr lang="it-IT"/>
              <a:t> and the input </a:t>
            </a:r>
            <a:r>
              <a:rPr lang="it-IT" err="1"/>
              <a:t>is</a:t>
            </a:r>
            <a:r>
              <a:rPr lang="it-IT"/>
              <a:t> a </a:t>
            </a:r>
            <a:r>
              <a:rPr lang="it-IT" err="1"/>
              <a:t>normalised</a:t>
            </a:r>
            <a:r>
              <a:rPr lang="it-IT"/>
              <a:t> pitch moment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46631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The </a:t>
            </a:r>
            <a:r>
              <a:rPr lang="it-IT" err="1"/>
              <a:t>objective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to </a:t>
            </a:r>
            <a:r>
              <a:rPr lang="it-IT" err="1"/>
              <a:t>perform</a:t>
            </a:r>
            <a:r>
              <a:rPr lang="it-IT"/>
              <a:t> the estimate </a:t>
            </a:r>
            <a:r>
              <a:rPr lang="it-IT" err="1"/>
              <a:t>based</a:t>
            </a:r>
            <a:r>
              <a:rPr lang="it-IT"/>
              <a:t> on the </a:t>
            </a:r>
            <a:r>
              <a:rPr lang="it-IT" err="1"/>
              <a:t>given</a:t>
            </a:r>
            <a:r>
              <a:rPr lang="it-IT"/>
              <a:t> input data and </a:t>
            </a:r>
            <a:r>
              <a:rPr lang="it-IT" err="1"/>
              <a:t>resulting</a:t>
            </a:r>
            <a:r>
              <a:rPr lang="it-IT"/>
              <a:t> output </a:t>
            </a:r>
            <a:r>
              <a:rPr lang="it-IT" err="1"/>
              <a:t>ones</a:t>
            </a:r>
            <a:r>
              <a:rPr lang="it-IT"/>
              <a:t>. The </a:t>
            </a:r>
            <a:r>
              <a:rPr lang="it-IT" err="1"/>
              <a:t>given</a:t>
            </a:r>
            <a:r>
              <a:rPr lang="it-IT"/>
              <a:t> input </a:t>
            </a:r>
            <a:r>
              <a:rPr lang="it-IT" err="1"/>
              <a:t>is</a:t>
            </a:r>
            <a:r>
              <a:rPr lang="it-IT"/>
              <a:t> a </a:t>
            </a:r>
            <a:r>
              <a:rPr lang="it-IT" err="1"/>
              <a:t>sweep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</a:t>
            </a:r>
            <a:r>
              <a:rPr lang="it-IT" err="1"/>
              <a:t>allows</a:t>
            </a:r>
            <a:r>
              <a:rPr lang="it-IT"/>
              <a:t> to </a:t>
            </a:r>
            <a:r>
              <a:rPr lang="it-IT" err="1"/>
              <a:t>excite</a:t>
            </a:r>
            <a:r>
              <a:rPr lang="it-IT"/>
              <a:t>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frequences</a:t>
            </a:r>
            <a:r>
              <a:rPr lang="it-IT"/>
              <a:t> in time.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consquence</a:t>
            </a:r>
            <a:r>
              <a:rPr lang="it-IT"/>
              <a:t> of </a:t>
            </a:r>
            <a:r>
              <a:rPr lang="it-IT" err="1"/>
              <a:t>this</a:t>
            </a:r>
            <a:r>
              <a:rPr lang="it-IT"/>
              <a:t> input, the control </a:t>
            </a:r>
            <a:r>
              <a:rPr lang="it-IT" err="1"/>
              <a:t>will</a:t>
            </a:r>
            <a:r>
              <a:rPr lang="it-IT"/>
              <a:t> act </a:t>
            </a:r>
            <a:r>
              <a:rPr lang="it-IT" err="1"/>
              <a:t>resulting</a:t>
            </a:r>
            <a:r>
              <a:rPr lang="it-IT"/>
              <a:t> in the overall </a:t>
            </a:r>
            <a:r>
              <a:rPr lang="it-IT" err="1"/>
              <a:t>Mtot</a:t>
            </a:r>
            <a:r>
              <a:rPr lang="it-IT"/>
              <a:t> and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will</a:t>
            </a:r>
            <a:r>
              <a:rPr lang="it-IT"/>
              <a:t> </a:t>
            </a:r>
            <a:r>
              <a:rPr lang="it-IT" err="1"/>
              <a:t>see</a:t>
            </a:r>
            <a:r>
              <a:rPr lang="it-IT"/>
              <a:t> in output pitch rate and </a:t>
            </a:r>
            <a:r>
              <a:rPr lang="it-IT" err="1"/>
              <a:t>longitudinal</a:t>
            </a:r>
            <a:r>
              <a:rPr lang="it-IT"/>
              <a:t> </a:t>
            </a:r>
            <a:r>
              <a:rPr lang="it-IT" err="1"/>
              <a:t>acceleration</a:t>
            </a:r>
            <a:r>
              <a:rPr lang="it-IT"/>
              <a:t>. </a:t>
            </a:r>
            <a:r>
              <a:rPr lang="it-IT" err="1"/>
              <a:t>It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relevant</a:t>
            </a:r>
            <a:r>
              <a:rPr lang="it-IT"/>
              <a:t> to note </a:t>
            </a:r>
            <a:r>
              <a:rPr lang="it-IT" err="1"/>
              <a:t>here</a:t>
            </a:r>
            <a:r>
              <a:rPr lang="it-IT"/>
              <a:t> </a:t>
            </a:r>
            <a:r>
              <a:rPr lang="it-IT" err="1"/>
              <a:t>that</a:t>
            </a:r>
            <a:r>
              <a:rPr lang="it-IT"/>
              <a:t> the </a:t>
            </a:r>
            <a:r>
              <a:rPr lang="it-IT" err="1"/>
              <a:t>exciting</a:t>
            </a:r>
            <a:r>
              <a:rPr lang="it-IT"/>
              <a:t> </a:t>
            </a:r>
            <a:r>
              <a:rPr lang="it-IT" err="1"/>
              <a:t>signal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a pitch moment, </a:t>
            </a:r>
            <a:r>
              <a:rPr lang="it-IT" err="1"/>
              <a:t>directly</a:t>
            </a:r>
            <a:r>
              <a:rPr lang="it-IT"/>
              <a:t> </a:t>
            </a:r>
            <a:r>
              <a:rPr lang="it-IT" err="1"/>
              <a:t>affecting</a:t>
            </a:r>
            <a:r>
              <a:rPr lang="it-IT"/>
              <a:t> the pitch rate and </a:t>
            </a:r>
            <a:r>
              <a:rPr lang="it-IT" err="1"/>
              <a:t>only</a:t>
            </a:r>
            <a:r>
              <a:rPr lang="it-IT"/>
              <a:t> </a:t>
            </a:r>
            <a:r>
              <a:rPr lang="it-IT" err="1"/>
              <a:t>indirectly</a:t>
            </a:r>
            <a:r>
              <a:rPr lang="it-IT"/>
              <a:t> the </a:t>
            </a:r>
            <a:r>
              <a:rPr lang="it-IT" err="1"/>
              <a:t>longitudinal</a:t>
            </a:r>
            <a:r>
              <a:rPr lang="it-IT"/>
              <a:t> </a:t>
            </a:r>
            <a:r>
              <a:rPr lang="it-IT" err="1"/>
              <a:t>acceleration</a:t>
            </a:r>
            <a:r>
              <a:rPr lang="it-IT"/>
              <a:t>. From the </a:t>
            </a:r>
            <a:r>
              <a:rPr lang="it-IT" err="1"/>
              <a:t>collected</a:t>
            </a:r>
            <a:r>
              <a:rPr lang="it-IT"/>
              <a:t> data, a </a:t>
            </a:r>
            <a:r>
              <a:rPr lang="it-IT" err="1"/>
              <a:t>mean</a:t>
            </a:r>
            <a:r>
              <a:rPr lang="it-IT"/>
              <a:t> </a:t>
            </a:r>
            <a:r>
              <a:rPr lang="it-IT" err="1"/>
              <a:t>removal</a:t>
            </a:r>
            <a:r>
              <a:rPr lang="it-IT"/>
              <a:t> </a:t>
            </a:r>
            <a:r>
              <a:rPr lang="it-IT" err="1"/>
              <a:t>operation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performed</a:t>
            </a:r>
            <a:r>
              <a:rPr lang="it-IT"/>
              <a:t> to focus </a:t>
            </a:r>
            <a:r>
              <a:rPr lang="it-IT" err="1"/>
              <a:t>only</a:t>
            </a:r>
            <a:r>
              <a:rPr lang="it-IT"/>
              <a:t> on </a:t>
            </a:r>
            <a:r>
              <a:rPr lang="it-IT" err="1"/>
              <a:t>deviations</a:t>
            </a:r>
            <a:r>
              <a:rPr lang="it-IT"/>
              <a:t> and </a:t>
            </a:r>
            <a:r>
              <a:rPr lang="it-IT" err="1"/>
              <a:t>not</a:t>
            </a:r>
            <a:r>
              <a:rPr lang="it-IT"/>
              <a:t> on </a:t>
            </a:r>
            <a:r>
              <a:rPr lang="it-IT" err="1"/>
              <a:t>static</a:t>
            </a:r>
            <a:r>
              <a:rPr lang="it-IT"/>
              <a:t> </a:t>
            </a:r>
            <a:r>
              <a:rPr lang="it-IT" err="1"/>
              <a:t>biases</a:t>
            </a:r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8907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introduced</a:t>
            </a:r>
            <a:r>
              <a:rPr lang="it-IT"/>
              <a:t> </a:t>
            </a:r>
            <a:r>
              <a:rPr lang="it-IT" err="1"/>
              <a:t>before</a:t>
            </a:r>
            <a:r>
              <a:rPr lang="it-IT"/>
              <a:t> and in line with </a:t>
            </a:r>
            <a:r>
              <a:rPr lang="it-IT" err="1"/>
              <a:t>what</a:t>
            </a:r>
            <a:r>
              <a:rPr lang="it-IT"/>
              <a:t> </a:t>
            </a:r>
            <a:r>
              <a:rPr lang="it-IT" err="1"/>
              <a:t>seen</a:t>
            </a:r>
            <a:r>
              <a:rPr lang="it-IT"/>
              <a:t> in the theory, the first step to estimate the FRF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estimation</a:t>
            </a:r>
            <a:r>
              <a:rPr lang="it-IT"/>
              <a:t> of the PSD </a:t>
            </a:r>
            <a:r>
              <a:rPr lang="it-IT" err="1"/>
              <a:t>associated</a:t>
            </a:r>
            <a:r>
              <a:rPr lang="it-IT"/>
              <a:t> to input and output data. </a:t>
            </a:r>
            <a:r>
              <a:rPr lang="it-IT" err="1"/>
              <a:t>We</a:t>
            </a:r>
            <a:r>
              <a:rPr lang="it-IT"/>
              <a:t> can do </a:t>
            </a:r>
            <a:r>
              <a:rPr lang="it-IT" err="1"/>
              <a:t>this</a:t>
            </a:r>
            <a:r>
              <a:rPr lang="it-IT"/>
              <a:t> </a:t>
            </a:r>
            <a:r>
              <a:rPr lang="it-IT" err="1"/>
              <a:t>through</a:t>
            </a:r>
            <a:r>
              <a:rPr lang="it-IT"/>
              <a:t> the so </a:t>
            </a:r>
            <a:r>
              <a:rPr lang="it-IT" err="1"/>
              <a:t>called</a:t>
            </a:r>
            <a:r>
              <a:rPr lang="it-IT"/>
              <a:t> </a:t>
            </a:r>
            <a:r>
              <a:rPr lang="it-IT" err="1"/>
              <a:t>periodogram</a:t>
            </a:r>
            <a:r>
              <a:rPr lang="it-IT"/>
              <a:t>, </a:t>
            </a:r>
            <a:r>
              <a:rPr lang="it-IT" err="1"/>
              <a:t>that</a:t>
            </a:r>
            <a:r>
              <a:rPr lang="it-IT"/>
              <a:t> are </a:t>
            </a:r>
            <a:r>
              <a:rPr lang="it-IT" err="1"/>
              <a:t>characterised</a:t>
            </a:r>
            <a:r>
              <a:rPr lang="it-IT"/>
              <a:t> by high </a:t>
            </a:r>
            <a:r>
              <a:rPr lang="it-IT" err="1"/>
              <a:t>variance</a:t>
            </a:r>
            <a:r>
              <a:rPr lang="it-IT"/>
              <a:t>. Hence, a </a:t>
            </a:r>
            <a:r>
              <a:rPr lang="it-IT" err="1"/>
              <a:t>possible</a:t>
            </a:r>
            <a:r>
              <a:rPr lang="it-IT"/>
              <a:t> </a:t>
            </a:r>
            <a:r>
              <a:rPr lang="it-IT" err="1"/>
              <a:t>solution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the </a:t>
            </a:r>
            <a:r>
              <a:rPr lang="it-IT" err="1"/>
              <a:t>usage</a:t>
            </a:r>
            <a:r>
              <a:rPr lang="it-IT"/>
              <a:t> of </a:t>
            </a:r>
            <a:r>
              <a:rPr lang="it-IT" err="1"/>
              <a:t>such</a:t>
            </a:r>
            <a:r>
              <a:rPr lang="it-IT"/>
              <a:t> </a:t>
            </a:r>
            <a:r>
              <a:rPr lang="it-IT" err="1"/>
              <a:t>estimators</a:t>
            </a:r>
            <a:r>
              <a:rPr lang="it-IT"/>
              <a:t> on </a:t>
            </a:r>
            <a:r>
              <a:rPr lang="it-IT" err="1"/>
              <a:t>overlapped</a:t>
            </a:r>
            <a:r>
              <a:rPr lang="it-IT"/>
              <a:t> datasets </a:t>
            </a:r>
            <a:r>
              <a:rPr lang="it-IT" err="1"/>
              <a:t>exctracted</a:t>
            </a:r>
            <a:r>
              <a:rPr lang="it-IT"/>
              <a:t> from the </a:t>
            </a:r>
            <a:r>
              <a:rPr lang="it-IT" err="1"/>
              <a:t>entire</a:t>
            </a:r>
            <a:r>
              <a:rPr lang="it-IT"/>
              <a:t> one, and </a:t>
            </a:r>
            <a:r>
              <a:rPr lang="it-IT" err="1"/>
              <a:t>averaging</a:t>
            </a:r>
            <a:r>
              <a:rPr lang="it-IT"/>
              <a:t> the </a:t>
            </a:r>
            <a:r>
              <a:rPr lang="it-IT" err="1"/>
              <a:t>estimates</a:t>
            </a:r>
            <a:r>
              <a:rPr lang="it-IT"/>
              <a:t> </a:t>
            </a:r>
            <a:r>
              <a:rPr lang="it-IT" err="1"/>
              <a:t>obtained</a:t>
            </a:r>
            <a:r>
              <a:rPr lang="it-IT"/>
              <a:t> on </a:t>
            </a:r>
            <a:r>
              <a:rPr lang="it-IT" err="1"/>
              <a:t>these</a:t>
            </a:r>
            <a:r>
              <a:rPr lang="it-IT"/>
              <a:t> </a:t>
            </a:r>
            <a:r>
              <a:rPr lang="it-IT" err="1"/>
              <a:t>different</a:t>
            </a:r>
            <a:r>
              <a:rPr lang="it-IT"/>
              <a:t> </a:t>
            </a:r>
            <a:r>
              <a:rPr lang="it-IT" err="1"/>
              <a:t>sequences</a:t>
            </a:r>
            <a:r>
              <a:rPr lang="it-IT"/>
              <a:t>. For </a:t>
            </a:r>
            <a:r>
              <a:rPr lang="it-IT" err="1"/>
              <a:t>this</a:t>
            </a:r>
            <a:r>
              <a:rPr lang="it-IT"/>
              <a:t> first </a:t>
            </a:r>
            <a:r>
              <a:rPr lang="it-IT" err="1"/>
              <a:t>iteration</a:t>
            </a:r>
            <a:r>
              <a:rPr lang="it-IT"/>
              <a:t>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considered</a:t>
            </a:r>
            <a:r>
              <a:rPr lang="it-IT"/>
              <a:t> a </a:t>
            </a:r>
            <a:r>
              <a:rPr lang="it-IT" err="1"/>
              <a:t>classic</a:t>
            </a:r>
            <a:r>
              <a:rPr lang="it-IT"/>
              <a:t> </a:t>
            </a:r>
            <a:r>
              <a:rPr lang="it-IT" err="1"/>
              <a:t>overlap</a:t>
            </a:r>
            <a:r>
              <a:rPr lang="it-IT"/>
              <a:t> of 50% and K = 70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098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From </a:t>
            </a:r>
            <a:r>
              <a:rPr lang="it-IT" err="1"/>
              <a:t>this</a:t>
            </a:r>
            <a:r>
              <a:rPr lang="it-IT"/>
              <a:t> setting, the input, output and cross PSD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evaluated</a:t>
            </a:r>
            <a:r>
              <a:rPr lang="it-IT"/>
              <a:t>. </a:t>
            </a:r>
            <a:r>
              <a:rPr lang="it-IT" err="1"/>
              <a:t>As</a:t>
            </a:r>
            <a:r>
              <a:rPr lang="it-IT"/>
              <a:t> </a:t>
            </a:r>
            <a:r>
              <a:rPr lang="it-IT" err="1"/>
              <a:t>we</a:t>
            </a:r>
            <a:r>
              <a:rPr lang="it-IT"/>
              <a:t> can </a:t>
            </a:r>
            <a:r>
              <a:rPr lang="it-IT" err="1"/>
              <a:t>see</a:t>
            </a:r>
            <a:r>
              <a:rPr lang="it-IT"/>
              <a:t>, the </a:t>
            </a:r>
            <a:r>
              <a:rPr lang="it-IT" err="1"/>
              <a:t>main</a:t>
            </a:r>
            <a:r>
              <a:rPr lang="it-IT"/>
              <a:t> </a:t>
            </a:r>
            <a:r>
              <a:rPr lang="it-IT" err="1"/>
              <a:t>frequences</a:t>
            </a:r>
            <a:r>
              <a:rPr lang="it-IT"/>
              <a:t> </a:t>
            </a:r>
            <a:r>
              <a:rPr lang="it-IT" err="1"/>
              <a:t>excited</a:t>
            </a:r>
            <a:r>
              <a:rPr lang="it-IT"/>
              <a:t> from the </a:t>
            </a:r>
            <a:r>
              <a:rPr lang="it-IT" err="1"/>
              <a:t>sweep</a:t>
            </a:r>
            <a:r>
              <a:rPr lang="it-IT"/>
              <a:t> are in the low range, </a:t>
            </a:r>
            <a:r>
              <a:rPr lang="it-IT" err="1"/>
              <a:t>resulting</a:t>
            </a:r>
            <a:r>
              <a:rPr lang="it-IT"/>
              <a:t> in a </a:t>
            </a:r>
            <a:r>
              <a:rPr lang="it-IT" err="1"/>
              <a:t>similar</a:t>
            </a:r>
            <a:r>
              <a:rPr lang="it-IT"/>
              <a:t> </a:t>
            </a:r>
            <a:r>
              <a:rPr lang="it-IT" err="1"/>
              <a:t>behavior</a:t>
            </a:r>
            <a:r>
              <a:rPr lang="it-IT"/>
              <a:t> </a:t>
            </a:r>
            <a:r>
              <a:rPr lang="it-IT" err="1"/>
              <a:t>also</a:t>
            </a:r>
            <a:r>
              <a:rPr lang="it-IT"/>
              <a:t> for the output. Hence, the </a:t>
            </a:r>
            <a:r>
              <a:rPr lang="it-IT" err="1"/>
              <a:t>higher</a:t>
            </a:r>
            <a:r>
              <a:rPr lang="it-IT"/>
              <a:t> </a:t>
            </a:r>
            <a:r>
              <a:rPr lang="it-IT" err="1"/>
              <a:t>correlation</a:t>
            </a:r>
            <a:r>
              <a:rPr lang="it-IT"/>
              <a:t>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related</a:t>
            </a:r>
            <a:r>
              <a:rPr lang="it-IT"/>
              <a:t> to </a:t>
            </a:r>
            <a:r>
              <a:rPr lang="it-IT" err="1"/>
              <a:t>such</a:t>
            </a:r>
            <a:r>
              <a:rPr lang="it-IT"/>
              <a:t> </a:t>
            </a:r>
            <a:r>
              <a:rPr lang="it-IT" err="1"/>
              <a:t>lower</a:t>
            </a:r>
            <a:r>
              <a:rPr lang="it-IT"/>
              <a:t> </a:t>
            </a:r>
            <a:r>
              <a:rPr lang="it-IT" err="1"/>
              <a:t>frequences</a:t>
            </a:r>
            <a:r>
              <a:rPr lang="it-IT"/>
              <a:t>. To </a:t>
            </a:r>
            <a:r>
              <a:rPr lang="it-IT" err="1"/>
              <a:t>have</a:t>
            </a:r>
            <a:r>
              <a:rPr lang="it-IT"/>
              <a:t> a </a:t>
            </a:r>
            <a:r>
              <a:rPr lang="it-IT" err="1"/>
              <a:t>better</a:t>
            </a:r>
            <a:r>
              <a:rPr lang="it-IT"/>
              <a:t> insight on the </a:t>
            </a:r>
            <a:r>
              <a:rPr lang="it-IT" err="1"/>
              <a:t>actual</a:t>
            </a:r>
            <a:r>
              <a:rPr lang="it-IT"/>
              <a:t> </a:t>
            </a:r>
            <a:r>
              <a:rPr lang="it-IT" err="1"/>
              <a:t>frequences</a:t>
            </a:r>
            <a:r>
              <a:rPr lang="it-IT"/>
              <a:t> </a:t>
            </a:r>
            <a:r>
              <a:rPr lang="it-IT" err="1"/>
              <a:t>mainly</a:t>
            </a:r>
            <a:r>
              <a:rPr lang="it-IT"/>
              <a:t> </a:t>
            </a:r>
            <a:r>
              <a:rPr lang="it-IT" err="1"/>
              <a:t>excited</a:t>
            </a:r>
            <a:r>
              <a:rPr lang="it-IT"/>
              <a:t> by the chirp, </a:t>
            </a:r>
            <a:r>
              <a:rPr lang="it-IT" err="1"/>
              <a:t>we</a:t>
            </a:r>
            <a:r>
              <a:rPr lang="it-IT"/>
              <a:t> propose a zoom. 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5296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4496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0936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stima della </a:t>
            </a:r>
            <a:r>
              <a:rPr lang="it-IT" err="1"/>
              <a:t>frf</a:t>
            </a:r>
            <a:r>
              <a:rPr lang="it-IT"/>
              <a:t> per il </a:t>
            </a:r>
            <a:r>
              <a:rPr lang="it-IT" err="1"/>
              <a:t>coupling</a:t>
            </a:r>
            <a:r>
              <a:rPr lang="it-IT"/>
              <a:t> tra momento di beccheggio e accelerazione non </a:t>
            </a:r>
            <a:r>
              <a:rPr lang="it-IT" err="1"/>
              <a:t>risulata</a:t>
            </a:r>
            <a:r>
              <a:rPr lang="it-IT"/>
              <a:t> essere molto buona a causa dell’elevato </a:t>
            </a:r>
            <a:r>
              <a:rPr lang="it-IT" err="1"/>
              <a:t>noise</a:t>
            </a:r>
            <a:r>
              <a:rPr lang="it-IT"/>
              <a:t> ma soprattutto del </a:t>
            </a:r>
            <a:r>
              <a:rPr lang="it-IT" err="1"/>
              <a:t>signal</a:t>
            </a:r>
            <a:r>
              <a:rPr lang="it-IT"/>
              <a:t> to </a:t>
            </a:r>
            <a:r>
              <a:rPr lang="it-IT" err="1"/>
              <a:t>noise</a:t>
            </a:r>
            <a:r>
              <a:rPr lang="it-IT"/>
              <a:t> ratio. Per questo motivo la stima della risposta in tempo in termini di accelerazioni dovrebbe </a:t>
            </a:r>
            <a:r>
              <a:rPr lang="it-IT" err="1"/>
              <a:t>riultare</a:t>
            </a:r>
            <a:r>
              <a:rPr lang="it-IT"/>
              <a:t> alterata, invece la stima è comunque soddisfacente. Il modello sta perciò ricostruendo con buona precisione la dinamica forse attraverso la misura più precisa del pitch rate o la scarsa variabilità dell’accelerazione che risulta soltanto influenzata dalla dinamica accoppiata.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736101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5ADE2-2C5B-7450-84F5-15D4F3B3A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FDDD8D8B-6C08-D1F1-511D-A75B4DB000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68971C2-A0E1-28B9-CA6C-9FBCD927E0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stima della </a:t>
            </a:r>
            <a:r>
              <a:rPr lang="it-IT" err="1"/>
              <a:t>frf</a:t>
            </a:r>
            <a:r>
              <a:rPr lang="it-IT"/>
              <a:t> per il </a:t>
            </a:r>
            <a:r>
              <a:rPr lang="it-IT" err="1"/>
              <a:t>coupling</a:t>
            </a:r>
            <a:r>
              <a:rPr lang="it-IT"/>
              <a:t> tra momento di beccheggio e accelerazione non </a:t>
            </a:r>
            <a:r>
              <a:rPr lang="it-IT" err="1"/>
              <a:t>risulata</a:t>
            </a:r>
            <a:r>
              <a:rPr lang="it-IT"/>
              <a:t> essere molto buona a causa dell’elevato </a:t>
            </a:r>
            <a:r>
              <a:rPr lang="it-IT" err="1"/>
              <a:t>noise</a:t>
            </a:r>
            <a:r>
              <a:rPr lang="it-IT"/>
              <a:t> ma soprattutto del </a:t>
            </a:r>
            <a:r>
              <a:rPr lang="it-IT" err="1"/>
              <a:t>signal</a:t>
            </a:r>
            <a:r>
              <a:rPr lang="it-IT"/>
              <a:t> to </a:t>
            </a:r>
            <a:r>
              <a:rPr lang="it-IT" err="1"/>
              <a:t>noise</a:t>
            </a:r>
            <a:r>
              <a:rPr lang="it-IT"/>
              <a:t> ratio. Per questo motivo la stima della risposta in tempo in termini di accelerazioni dovrebbe </a:t>
            </a:r>
            <a:r>
              <a:rPr lang="it-IT" err="1"/>
              <a:t>riultare</a:t>
            </a:r>
            <a:r>
              <a:rPr lang="it-IT"/>
              <a:t> alterata, invece la stima è comunque soddisfacente. Il modello sta perciò ricostruendo con buona precisione la dinamica forse attraverso la misura pi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1845B3F-37CC-4551-6EEB-6AB30906C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93254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89450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err="1"/>
              <a:t>X</a:t>
            </a:r>
            <a:r>
              <a:rPr lang="it-IT" sz="1200" b="1" baseline="-25000" err="1"/>
              <a:t>u</a:t>
            </a:r>
            <a:r>
              <a:rPr lang="it-IT" sz="1200" baseline="-25000">
                <a:latin typeface="Google Sans Text"/>
              </a:rPr>
              <a:t> </a:t>
            </a:r>
            <a:r>
              <a:rPr lang="it-IT" sz="1200" b="1"/>
              <a:t>Bias Trend:</a:t>
            </a:r>
            <a:r>
              <a:rPr lang="it-IT" sz="1400"/>
              <a:t> </a:t>
            </a:r>
            <a:r>
              <a:rPr lang="it-IT" sz="1200"/>
              <a:t>The estimate of the </a:t>
            </a:r>
            <a:r>
              <a:rPr lang="it-IT" sz="1200" err="1"/>
              <a:t>axial</a:t>
            </a:r>
            <a:r>
              <a:rPr lang="it-IT" sz="1200"/>
              <a:t> damping (</a:t>
            </a:r>
            <a:r>
              <a:rPr lang="it-IT" sz="1200" b="1" err="1"/>
              <a:t>X</a:t>
            </a:r>
            <a:r>
              <a:rPr lang="it-IT" sz="1200" b="1" baseline="-25000" err="1"/>
              <a:t>u</a:t>
            </a:r>
            <a:r>
              <a:rPr lang="it-IT" sz="1200"/>
              <a:t>) </a:t>
            </a:r>
            <a:r>
              <a:rPr lang="it-IT" sz="1200" err="1"/>
              <a:t>is</a:t>
            </a:r>
            <a:r>
              <a:rPr lang="it-IT" sz="1200"/>
              <a:t> </a:t>
            </a:r>
            <a:r>
              <a:rPr lang="it-IT" sz="1200" err="1"/>
              <a:t>systematically</a:t>
            </a:r>
            <a:r>
              <a:rPr lang="it-IT" sz="1200"/>
              <a:t> </a:t>
            </a:r>
            <a:r>
              <a:rPr lang="it-IT" sz="1200" err="1"/>
              <a:t>biased</a:t>
            </a:r>
            <a:r>
              <a:rPr lang="it-IT" sz="1200"/>
              <a:t> </a:t>
            </a:r>
            <a:r>
              <a:rPr lang="it-IT" sz="1200" err="1"/>
              <a:t>towards</a:t>
            </a:r>
            <a:r>
              <a:rPr lang="it-IT" sz="1200"/>
              <a:t> positive </a:t>
            </a:r>
            <a:r>
              <a:rPr lang="it-IT" sz="1200" err="1"/>
              <a:t>values</a:t>
            </a:r>
            <a:r>
              <a:rPr lang="it-IT" sz="1200"/>
              <a:t>. </a:t>
            </a:r>
            <a:r>
              <a:rPr lang="it-IT" sz="1200" err="1"/>
              <a:t>However</a:t>
            </a:r>
            <a:r>
              <a:rPr lang="it-IT" sz="1200"/>
              <a:t>, </a:t>
            </a:r>
            <a:r>
              <a:rPr lang="it-IT" sz="1200" err="1"/>
              <a:t>as</a:t>
            </a:r>
            <a:r>
              <a:rPr lang="it-IT" sz="1200"/>
              <a:t> the </a:t>
            </a:r>
            <a:r>
              <a:rPr lang="it-IT" sz="1200" err="1"/>
              <a:t>acceleration</a:t>
            </a:r>
            <a:r>
              <a:rPr lang="it-IT" sz="1200"/>
              <a:t> </a:t>
            </a:r>
            <a:r>
              <a:rPr lang="it-IT" sz="1200" err="1"/>
              <a:t>noise</a:t>
            </a:r>
            <a:r>
              <a:rPr lang="it-IT" sz="1200"/>
              <a:t> </a:t>
            </a:r>
            <a:r>
              <a:rPr lang="it-IT" sz="1200" err="1"/>
              <a:t>decreases</a:t>
            </a:r>
            <a:r>
              <a:rPr lang="it-IT" sz="1200"/>
              <a:t>, the </a:t>
            </a:r>
            <a:r>
              <a:rPr lang="it-IT" sz="1200" err="1"/>
              <a:t>estimated</a:t>
            </a:r>
            <a:r>
              <a:rPr lang="it-IT" sz="1200"/>
              <a:t> </a:t>
            </a:r>
            <a:r>
              <a:rPr lang="it-IT" sz="1200" err="1"/>
              <a:t>value</a:t>
            </a:r>
            <a:r>
              <a:rPr lang="it-IT" sz="1200"/>
              <a:t> shifts </a:t>
            </a:r>
            <a:r>
              <a:rPr lang="it-IT" sz="1200" err="1"/>
              <a:t>closer</a:t>
            </a:r>
            <a:r>
              <a:rPr lang="it-IT" sz="1200"/>
              <a:t> to zero, </a:t>
            </a:r>
            <a:r>
              <a:rPr lang="it-IT" sz="1200" err="1"/>
              <a:t>suggesting</a:t>
            </a:r>
            <a:r>
              <a:rPr lang="it-IT" sz="1200"/>
              <a:t> </a:t>
            </a:r>
            <a:r>
              <a:rPr lang="it-IT" sz="1200" err="1"/>
              <a:t>that</a:t>
            </a:r>
            <a:r>
              <a:rPr lang="it-IT" sz="1200"/>
              <a:t> </a:t>
            </a:r>
            <a:r>
              <a:rPr lang="it-IT" sz="1200" err="1"/>
              <a:t>excessive</a:t>
            </a:r>
            <a:r>
              <a:rPr lang="it-IT" sz="1200"/>
              <a:t> </a:t>
            </a:r>
            <a:r>
              <a:rPr lang="it-IT" sz="1200" err="1"/>
              <a:t>noise</a:t>
            </a:r>
            <a:r>
              <a:rPr lang="it-IT" sz="1200"/>
              <a:t> on the </a:t>
            </a:r>
            <a:r>
              <a:rPr lang="it-IT" err="1"/>
              <a:t>a</a:t>
            </a:r>
            <a:r>
              <a:rPr lang="it-IT" baseline="-25000" err="1"/>
              <a:t>x</a:t>
            </a:r>
            <a:r>
              <a:rPr lang="it-IT" sz="1200"/>
              <a:t> </a:t>
            </a:r>
            <a:r>
              <a:rPr lang="it-IT" sz="1200" err="1"/>
              <a:t>channel</a:t>
            </a:r>
            <a:r>
              <a:rPr lang="it-IT" sz="1200"/>
              <a:t> </a:t>
            </a:r>
            <a:r>
              <a:rPr lang="it-IT" sz="1200" err="1"/>
              <a:t>artificially</a:t>
            </a:r>
            <a:r>
              <a:rPr lang="it-IT" sz="1200"/>
              <a:t> </a:t>
            </a:r>
            <a:r>
              <a:rPr lang="it-IT" sz="1200" err="1"/>
              <a:t>inflates</a:t>
            </a:r>
            <a:r>
              <a:rPr lang="it-IT" sz="1200"/>
              <a:t> </a:t>
            </a:r>
            <a:r>
              <a:rPr lang="it-IT" sz="1200" err="1"/>
              <a:t>this</a:t>
            </a:r>
            <a:r>
              <a:rPr lang="it-IT" sz="1200"/>
              <a:t> non-</a:t>
            </a:r>
            <a:r>
              <a:rPr lang="it-IT" sz="1200" err="1"/>
              <a:t>physical</a:t>
            </a:r>
            <a:r>
              <a:rPr lang="it-IT" sz="1200"/>
              <a:t> positive </a:t>
            </a:r>
            <a:r>
              <a:rPr lang="it-IT" sz="1200" err="1"/>
              <a:t>bias</a:t>
            </a:r>
            <a:r>
              <a:rPr lang="it-IT" sz="1200"/>
              <a:t>.</a:t>
            </a:r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23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15405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/>
              <a:t>-</a:t>
            </a:r>
            <a:r>
              <a:rPr lang="it-IT" sz="1200" err="1"/>
              <a:t>evaluated</a:t>
            </a:r>
            <a:r>
              <a:rPr lang="it-IT" sz="1200"/>
              <a:t> </a:t>
            </a:r>
            <a:r>
              <a:rPr lang="it-IT" sz="1200" err="1"/>
              <a:t>all</a:t>
            </a:r>
            <a:r>
              <a:rPr lang="it-IT" sz="1200"/>
              <a:t> MC </a:t>
            </a:r>
            <a:r>
              <a:rPr lang="it-IT" sz="1200" err="1"/>
              <a:t>realizations</a:t>
            </a:r>
            <a:r>
              <a:rPr lang="it-IT" sz="1200"/>
              <a:t> </a:t>
            </a:r>
            <a:r>
              <a:rPr lang="it-IT" sz="1200" err="1"/>
              <a:t>against</a:t>
            </a:r>
            <a:r>
              <a:rPr lang="it-IT" sz="1200"/>
              <a:t> the </a:t>
            </a:r>
            <a:r>
              <a:rPr lang="it-IT" sz="1200" err="1"/>
              <a:t>same</a:t>
            </a:r>
            <a:r>
              <a:rPr lang="it-IT" sz="1200"/>
              <a:t> 3211 </a:t>
            </a:r>
            <a:r>
              <a:rPr lang="it-IT" sz="1200" err="1"/>
              <a:t>command</a:t>
            </a:r>
            <a:r>
              <a:rPr lang="it-IT" sz="1200"/>
              <a:t> and </a:t>
            </a:r>
            <a:r>
              <a:rPr lang="it-IT" sz="1200" err="1"/>
              <a:t>locking</a:t>
            </a:r>
            <a:r>
              <a:rPr lang="it-IT" sz="1200"/>
              <a:t> the </a:t>
            </a:r>
            <a:r>
              <a:rPr lang="it-IT" sz="1200" err="1"/>
              <a:t>stochastic</a:t>
            </a:r>
            <a:r>
              <a:rPr lang="it-IT" sz="1200"/>
              <a:t> </a:t>
            </a:r>
            <a:r>
              <a:rPr lang="it-IT" sz="1200" err="1"/>
              <a:t>noise</a:t>
            </a:r>
            <a:r>
              <a:rPr lang="it-IT" sz="1200"/>
              <a:t> </a:t>
            </a:r>
            <a:r>
              <a:rPr lang="it-IT" sz="1200" err="1"/>
              <a:t>seed</a:t>
            </a:r>
            <a:r>
              <a:rPr lang="it-IT" sz="1200"/>
              <a:t> </a:t>
            </a:r>
            <a:r>
              <a:rPr lang="it-IT" sz="1200">
                <a:sym typeface="Wingdings" panose="05000000000000000000" pitchFamily="2" charset="2"/>
              </a:rPr>
              <a:t> </a:t>
            </a:r>
            <a:r>
              <a:rPr lang="it-IT" sz="1200" err="1"/>
              <a:t>This</a:t>
            </a:r>
            <a:r>
              <a:rPr lang="it-IT" sz="1200"/>
              <a:t> test </a:t>
            </a:r>
            <a:r>
              <a:rPr lang="it-IT" sz="1200" err="1"/>
              <a:t>purely</a:t>
            </a:r>
            <a:r>
              <a:rPr lang="it-IT" sz="1200"/>
              <a:t> </a:t>
            </a:r>
            <a:r>
              <a:rPr lang="it-IT" sz="1200" err="1"/>
              <a:t>isolates</a:t>
            </a:r>
            <a:r>
              <a:rPr lang="it-IT" sz="1200"/>
              <a:t> the impact of </a:t>
            </a:r>
            <a:r>
              <a:rPr lang="it-IT" sz="1200" err="1"/>
              <a:t>parameter</a:t>
            </a:r>
            <a:r>
              <a:rPr lang="it-IT" sz="1200"/>
              <a:t> </a:t>
            </a:r>
            <a:r>
              <a:rPr lang="it-IT" sz="1200" err="1"/>
              <a:t>dispersion</a:t>
            </a:r>
            <a:r>
              <a:rPr lang="it-IT" sz="1200"/>
              <a:t> from random </a:t>
            </a:r>
            <a:r>
              <a:rPr lang="it-IT" sz="1200" err="1"/>
              <a:t>sensor</a:t>
            </a:r>
            <a:r>
              <a:rPr lang="it-IT" sz="1200"/>
              <a:t> </a:t>
            </a:r>
            <a:r>
              <a:rPr lang="it-IT" sz="1200" err="1"/>
              <a:t>fluctuations</a:t>
            </a:r>
            <a:r>
              <a:rPr lang="it-IT" sz="1200"/>
              <a:t>.</a:t>
            </a:r>
          </a:p>
          <a:p>
            <a:endParaRPr lang="it-I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/>
              <a:t>-Physical Consistency: </a:t>
            </a:r>
            <a:r>
              <a:rPr lang="en-US" sz="1200"/>
              <a:t>Despite the systematic bias of certain parameters and the poor a</a:t>
            </a:r>
            <a:r>
              <a:rPr lang="en-US" sz="1200" baseline="-25000"/>
              <a:t>x</a:t>
            </a:r>
            <a:r>
              <a:rPr lang="en-US" sz="1200"/>
              <a:t> FRF, no realization diverges. The models prove physical consistency, successfully capturing the macroscopic dynamic behavior of the system. </a:t>
            </a:r>
            <a:r>
              <a:rPr lang="en-US" sz="1200">
                <a:sym typeface="Wingdings" panose="05000000000000000000" pitchFamily="2" charset="2"/>
              </a:rPr>
              <a:t> Qui </a:t>
            </a:r>
            <a:r>
              <a:rPr lang="en-US" sz="1200" err="1">
                <a:sym typeface="Wingdings" panose="05000000000000000000" pitchFamily="2" charset="2"/>
              </a:rPr>
              <a:t>possiamo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aggiungere</a:t>
            </a:r>
            <a:r>
              <a:rPr lang="en-US" sz="1200">
                <a:sym typeface="Wingdings" panose="05000000000000000000" pitchFamily="2" charset="2"/>
              </a:rPr>
              <a:t> il </a:t>
            </a:r>
            <a:r>
              <a:rPr lang="en-US" sz="1200" err="1">
                <a:sym typeface="Wingdings" panose="05000000000000000000" pitchFamily="2" charset="2"/>
              </a:rPr>
              <a:t>perchè</a:t>
            </a:r>
            <a:r>
              <a:rPr lang="en-US" sz="1200">
                <a:sym typeface="Wingdings" panose="05000000000000000000" pitchFamily="2" charset="2"/>
              </a:rPr>
              <a:t> a voce, </a:t>
            </a:r>
            <a:r>
              <a:rPr lang="en-US" sz="1200" err="1">
                <a:sym typeface="Wingdings" panose="05000000000000000000" pitchFamily="2" charset="2"/>
              </a:rPr>
              <a:t>ovvero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che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l’ax</a:t>
            </a:r>
            <a:r>
              <a:rPr lang="en-US" sz="1200">
                <a:sym typeface="Wingdings" panose="05000000000000000000" pitchFamily="2" charset="2"/>
              </a:rPr>
              <a:t> è solo </a:t>
            </a:r>
            <a:r>
              <a:rPr lang="en-US" sz="1200" err="1">
                <a:sym typeface="Wingdings" panose="05000000000000000000" pitchFamily="2" charset="2"/>
              </a:rPr>
              <a:t>una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conseguenza</a:t>
            </a:r>
            <a:r>
              <a:rPr lang="en-US" sz="1200">
                <a:sym typeface="Wingdings" panose="05000000000000000000" pitchFamily="2" charset="2"/>
              </a:rPr>
              <a:t> del pitch e low coupling</a:t>
            </a:r>
            <a:endParaRPr lang="it-IT" sz="1200"/>
          </a:p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0653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0EFB6-2505-3745-0E03-661F122C4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4249315A-9F25-2617-EA8B-7071F8018B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C3D1D4A5-2039-908F-B631-9062FAA06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/>
              <a:t>-</a:t>
            </a:r>
            <a:r>
              <a:rPr lang="it-IT" sz="1200" err="1"/>
              <a:t>evaluated</a:t>
            </a:r>
            <a:r>
              <a:rPr lang="it-IT" sz="1200"/>
              <a:t> </a:t>
            </a:r>
            <a:r>
              <a:rPr lang="it-IT" sz="1200" err="1"/>
              <a:t>all</a:t>
            </a:r>
            <a:r>
              <a:rPr lang="it-IT" sz="1200"/>
              <a:t> MC </a:t>
            </a:r>
            <a:r>
              <a:rPr lang="it-IT" sz="1200" err="1"/>
              <a:t>realizations</a:t>
            </a:r>
            <a:r>
              <a:rPr lang="it-IT" sz="1200"/>
              <a:t> </a:t>
            </a:r>
            <a:r>
              <a:rPr lang="it-IT" sz="1200" err="1"/>
              <a:t>against</a:t>
            </a:r>
            <a:r>
              <a:rPr lang="it-IT" sz="1200"/>
              <a:t> the </a:t>
            </a:r>
            <a:r>
              <a:rPr lang="it-IT" sz="1200" err="1"/>
              <a:t>same</a:t>
            </a:r>
            <a:r>
              <a:rPr lang="it-IT" sz="1200"/>
              <a:t> 3211 </a:t>
            </a:r>
            <a:r>
              <a:rPr lang="it-IT" sz="1200" err="1"/>
              <a:t>command</a:t>
            </a:r>
            <a:r>
              <a:rPr lang="it-IT" sz="1200"/>
              <a:t> and </a:t>
            </a:r>
            <a:r>
              <a:rPr lang="it-IT" sz="1200" err="1"/>
              <a:t>locking</a:t>
            </a:r>
            <a:r>
              <a:rPr lang="it-IT" sz="1200"/>
              <a:t> the </a:t>
            </a:r>
            <a:r>
              <a:rPr lang="it-IT" sz="1200" err="1"/>
              <a:t>stochastic</a:t>
            </a:r>
            <a:r>
              <a:rPr lang="it-IT" sz="1200"/>
              <a:t> </a:t>
            </a:r>
            <a:r>
              <a:rPr lang="it-IT" sz="1200" err="1"/>
              <a:t>noise</a:t>
            </a:r>
            <a:r>
              <a:rPr lang="it-IT" sz="1200"/>
              <a:t> </a:t>
            </a:r>
            <a:r>
              <a:rPr lang="it-IT" sz="1200" err="1"/>
              <a:t>seed</a:t>
            </a:r>
            <a:r>
              <a:rPr lang="it-IT" sz="1200"/>
              <a:t> </a:t>
            </a:r>
            <a:r>
              <a:rPr lang="it-IT" sz="1200">
                <a:sym typeface="Wingdings" panose="05000000000000000000" pitchFamily="2" charset="2"/>
              </a:rPr>
              <a:t> </a:t>
            </a:r>
            <a:r>
              <a:rPr lang="it-IT" sz="1200" err="1"/>
              <a:t>This</a:t>
            </a:r>
            <a:r>
              <a:rPr lang="it-IT" sz="1200"/>
              <a:t> test </a:t>
            </a:r>
            <a:r>
              <a:rPr lang="it-IT" sz="1200" err="1"/>
              <a:t>purely</a:t>
            </a:r>
            <a:r>
              <a:rPr lang="it-IT" sz="1200"/>
              <a:t> </a:t>
            </a:r>
            <a:r>
              <a:rPr lang="it-IT" sz="1200" err="1"/>
              <a:t>isolates</a:t>
            </a:r>
            <a:r>
              <a:rPr lang="it-IT" sz="1200"/>
              <a:t> the impact of </a:t>
            </a:r>
            <a:r>
              <a:rPr lang="it-IT" sz="1200" err="1"/>
              <a:t>parameter</a:t>
            </a:r>
            <a:r>
              <a:rPr lang="it-IT" sz="1200"/>
              <a:t> </a:t>
            </a:r>
            <a:r>
              <a:rPr lang="it-IT" sz="1200" err="1"/>
              <a:t>dispersion</a:t>
            </a:r>
            <a:r>
              <a:rPr lang="it-IT" sz="1200"/>
              <a:t> from random </a:t>
            </a:r>
            <a:r>
              <a:rPr lang="it-IT" sz="1200" err="1"/>
              <a:t>sensor</a:t>
            </a:r>
            <a:r>
              <a:rPr lang="it-IT" sz="1200"/>
              <a:t> </a:t>
            </a:r>
            <a:r>
              <a:rPr lang="it-IT" sz="1200" err="1"/>
              <a:t>fluctuations</a:t>
            </a:r>
            <a:r>
              <a:rPr lang="it-IT" sz="1200"/>
              <a:t>.</a:t>
            </a:r>
          </a:p>
          <a:p>
            <a:endParaRPr lang="it-IT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/>
              <a:t>-Physical Consistency: </a:t>
            </a:r>
            <a:r>
              <a:rPr lang="en-US" sz="1200"/>
              <a:t>Despite the systematic bias of certain parameters and the poor a</a:t>
            </a:r>
            <a:r>
              <a:rPr lang="en-US" sz="1200" baseline="-25000"/>
              <a:t>x</a:t>
            </a:r>
            <a:r>
              <a:rPr lang="en-US" sz="1200"/>
              <a:t> FRF, no realization diverges. The models prove physical consistency, successfully capturing the macroscopic dynamic behavior of the system. </a:t>
            </a:r>
            <a:r>
              <a:rPr lang="en-US" sz="1200">
                <a:sym typeface="Wingdings" panose="05000000000000000000" pitchFamily="2" charset="2"/>
              </a:rPr>
              <a:t> Qui </a:t>
            </a:r>
            <a:r>
              <a:rPr lang="en-US" sz="1200" err="1">
                <a:sym typeface="Wingdings" panose="05000000000000000000" pitchFamily="2" charset="2"/>
              </a:rPr>
              <a:t>possiamo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aggiungere</a:t>
            </a:r>
            <a:r>
              <a:rPr lang="en-US" sz="1200">
                <a:sym typeface="Wingdings" panose="05000000000000000000" pitchFamily="2" charset="2"/>
              </a:rPr>
              <a:t> il </a:t>
            </a:r>
            <a:r>
              <a:rPr lang="en-US" sz="1200" err="1">
                <a:sym typeface="Wingdings" panose="05000000000000000000" pitchFamily="2" charset="2"/>
              </a:rPr>
              <a:t>perchè</a:t>
            </a:r>
            <a:r>
              <a:rPr lang="en-US" sz="1200">
                <a:sym typeface="Wingdings" panose="05000000000000000000" pitchFamily="2" charset="2"/>
              </a:rPr>
              <a:t> a voce, </a:t>
            </a:r>
            <a:r>
              <a:rPr lang="en-US" sz="1200" err="1">
                <a:sym typeface="Wingdings" panose="05000000000000000000" pitchFamily="2" charset="2"/>
              </a:rPr>
              <a:t>ovvero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che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l’ax</a:t>
            </a:r>
            <a:r>
              <a:rPr lang="en-US" sz="1200">
                <a:sym typeface="Wingdings" panose="05000000000000000000" pitchFamily="2" charset="2"/>
              </a:rPr>
              <a:t> è solo </a:t>
            </a:r>
            <a:r>
              <a:rPr lang="en-US" sz="1200" err="1">
                <a:sym typeface="Wingdings" panose="05000000000000000000" pitchFamily="2" charset="2"/>
              </a:rPr>
              <a:t>una</a:t>
            </a:r>
            <a:r>
              <a:rPr lang="en-US" sz="1200">
                <a:sym typeface="Wingdings" panose="05000000000000000000" pitchFamily="2" charset="2"/>
              </a:rPr>
              <a:t> </a:t>
            </a:r>
            <a:r>
              <a:rPr lang="en-US" sz="1200" err="1">
                <a:sym typeface="Wingdings" panose="05000000000000000000" pitchFamily="2" charset="2"/>
              </a:rPr>
              <a:t>conseguenza</a:t>
            </a:r>
            <a:r>
              <a:rPr lang="en-US" sz="1200">
                <a:sym typeface="Wingdings" panose="05000000000000000000" pitchFamily="2" charset="2"/>
              </a:rPr>
              <a:t> del pitch e low coupling</a:t>
            </a:r>
            <a:endParaRPr lang="it-IT" sz="1200"/>
          </a:p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81DEA1C-7911-D7D4-D386-387D67A6C6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33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957075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Reducing</a:t>
            </a:r>
            <a:r>
              <a:rPr lang="it-IT"/>
              <a:t> K,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higher</a:t>
            </a:r>
            <a:r>
              <a:rPr lang="it-IT"/>
              <a:t> </a:t>
            </a:r>
            <a:r>
              <a:rPr lang="it-IT" err="1"/>
              <a:t>variance</a:t>
            </a:r>
            <a:r>
              <a:rPr lang="it-IT"/>
              <a:t> in the frequency range </a:t>
            </a:r>
            <a:r>
              <a:rPr lang="it-IT" err="1"/>
              <a:t>considered</a:t>
            </a:r>
            <a:r>
              <a:rPr lang="it-IT"/>
              <a:t>, </a:t>
            </a:r>
            <a:r>
              <a:rPr lang="it-IT" err="1"/>
              <a:t>bringing</a:t>
            </a:r>
            <a:r>
              <a:rPr lang="it-IT"/>
              <a:t> to a </a:t>
            </a:r>
            <a:r>
              <a:rPr lang="it-IT" err="1"/>
              <a:t>worst</a:t>
            </a:r>
            <a:r>
              <a:rPr lang="it-IT"/>
              <a:t> </a:t>
            </a:r>
            <a:r>
              <a:rPr lang="it-IT" err="1"/>
              <a:t>estimation</a:t>
            </a:r>
            <a:r>
              <a:rPr lang="it-IT"/>
              <a:t> of PSD </a:t>
            </a:r>
            <a:r>
              <a:rPr lang="it-IT" err="1"/>
              <a:t>through</a:t>
            </a:r>
            <a:r>
              <a:rPr lang="it-IT"/>
              <a:t> </a:t>
            </a:r>
            <a:r>
              <a:rPr lang="it-IT" err="1"/>
              <a:t>periodogram</a:t>
            </a:r>
            <a:r>
              <a:rPr lang="it-IT"/>
              <a:t> and </a:t>
            </a:r>
            <a:r>
              <a:rPr lang="it-IT" err="1"/>
              <a:t>hence</a:t>
            </a:r>
            <a:r>
              <a:rPr lang="it-IT"/>
              <a:t> of the FRF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7485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998816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92B05-B440-9DEB-7B2F-4F377455B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6EE86DAB-BB0F-D2CE-03EA-130CC7E14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04C25096-1339-5F55-2DA5-EA7786E68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Reducing</a:t>
            </a:r>
            <a:r>
              <a:rPr lang="it-IT"/>
              <a:t> K,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higher</a:t>
            </a:r>
            <a:r>
              <a:rPr lang="it-IT"/>
              <a:t> </a:t>
            </a:r>
            <a:r>
              <a:rPr lang="it-IT" err="1"/>
              <a:t>variance</a:t>
            </a:r>
            <a:r>
              <a:rPr lang="it-IT"/>
              <a:t> in the frequency range </a:t>
            </a:r>
            <a:r>
              <a:rPr lang="it-IT" err="1"/>
              <a:t>considered</a:t>
            </a:r>
            <a:r>
              <a:rPr lang="it-IT"/>
              <a:t>, </a:t>
            </a:r>
            <a:r>
              <a:rPr lang="it-IT" err="1"/>
              <a:t>bringing</a:t>
            </a:r>
            <a:r>
              <a:rPr lang="it-IT"/>
              <a:t> to a </a:t>
            </a:r>
            <a:r>
              <a:rPr lang="it-IT" err="1"/>
              <a:t>worst</a:t>
            </a:r>
            <a:r>
              <a:rPr lang="it-IT"/>
              <a:t> </a:t>
            </a:r>
            <a:r>
              <a:rPr lang="it-IT" err="1"/>
              <a:t>estimation</a:t>
            </a:r>
            <a:r>
              <a:rPr lang="it-IT"/>
              <a:t> of PSD </a:t>
            </a:r>
            <a:r>
              <a:rPr lang="it-IT" err="1"/>
              <a:t>through</a:t>
            </a:r>
            <a:r>
              <a:rPr lang="it-IT"/>
              <a:t> </a:t>
            </a:r>
            <a:r>
              <a:rPr lang="it-IT" err="1"/>
              <a:t>periodogram</a:t>
            </a:r>
            <a:r>
              <a:rPr lang="it-IT"/>
              <a:t> and </a:t>
            </a:r>
            <a:r>
              <a:rPr lang="it-IT" err="1"/>
              <a:t>hence</a:t>
            </a:r>
            <a:r>
              <a:rPr lang="it-IT"/>
              <a:t> of the FRF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83665616-D3CA-5F89-719C-CB7A4D1C9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50373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8C29A-81B0-6AB2-A292-0576F9BCE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55FC89A-CBFA-0DFB-B54D-9F5C689297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E50B7A-B4D6-48F5-8987-C4A5B7B74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err="1"/>
              <a:t>Reducing</a:t>
            </a:r>
            <a:r>
              <a:rPr lang="it-IT"/>
              <a:t> K, </a:t>
            </a:r>
            <a:r>
              <a:rPr lang="it-IT" err="1"/>
              <a:t>we</a:t>
            </a:r>
            <a:r>
              <a:rPr lang="it-IT"/>
              <a:t> </a:t>
            </a:r>
            <a:r>
              <a:rPr lang="it-IT" err="1"/>
              <a:t>have</a:t>
            </a:r>
            <a:r>
              <a:rPr lang="it-IT"/>
              <a:t> </a:t>
            </a:r>
            <a:r>
              <a:rPr lang="it-IT" err="1"/>
              <a:t>higher</a:t>
            </a:r>
            <a:r>
              <a:rPr lang="it-IT"/>
              <a:t> </a:t>
            </a:r>
            <a:r>
              <a:rPr lang="it-IT" err="1"/>
              <a:t>variance</a:t>
            </a:r>
            <a:r>
              <a:rPr lang="it-IT"/>
              <a:t> in the frequency range </a:t>
            </a:r>
            <a:r>
              <a:rPr lang="it-IT" err="1"/>
              <a:t>considered</a:t>
            </a:r>
            <a:r>
              <a:rPr lang="it-IT"/>
              <a:t>, </a:t>
            </a:r>
            <a:r>
              <a:rPr lang="it-IT" err="1"/>
              <a:t>bringing</a:t>
            </a:r>
            <a:r>
              <a:rPr lang="it-IT"/>
              <a:t> to a </a:t>
            </a:r>
            <a:r>
              <a:rPr lang="it-IT" err="1"/>
              <a:t>worst</a:t>
            </a:r>
            <a:r>
              <a:rPr lang="it-IT"/>
              <a:t> </a:t>
            </a:r>
            <a:r>
              <a:rPr lang="it-IT" err="1"/>
              <a:t>estimation</a:t>
            </a:r>
            <a:r>
              <a:rPr lang="it-IT"/>
              <a:t> of PSD </a:t>
            </a:r>
            <a:r>
              <a:rPr lang="it-IT" err="1"/>
              <a:t>through</a:t>
            </a:r>
            <a:r>
              <a:rPr lang="it-IT"/>
              <a:t> </a:t>
            </a:r>
            <a:r>
              <a:rPr lang="it-IT" err="1"/>
              <a:t>periodogram</a:t>
            </a:r>
            <a:r>
              <a:rPr lang="it-IT"/>
              <a:t> and </a:t>
            </a:r>
            <a:r>
              <a:rPr lang="it-IT" err="1"/>
              <a:t>hence</a:t>
            </a:r>
            <a:r>
              <a:rPr lang="it-IT"/>
              <a:t> of the FRF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C115A2D-2495-42BC-4454-4895656C3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48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656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Thesis Title</a:t>
            </a:r>
            <a:endParaRPr lang="it-IT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Supervisor</a:t>
            </a:r>
            <a:endParaRPr lang="it-IT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Co-Supervisor</a:t>
            </a:r>
            <a:endParaRPr lang="it-IT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05798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Candidate</a:t>
            </a:r>
            <a:endParaRPr lang="it-IT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05798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Academic Year</a:t>
            </a:r>
            <a:endParaRPr lang="it-IT"/>
          </a:p>
        </p:txBody>
      </p:sp>
      <p:sp>
        <p:nvSpPr>
          <p:cNvPr id="22" name="TextBox 21"/>
          <p:cNvSpPr txBox="1"/>
          <p:nvPr userDrawn="1"/>
        </p:nvSpPr>
        <p:spPr>
          <a:xfrm>
            <a:off x="4251979" y="6285667"/>
            <a:ext cx="368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aseline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1600" baseline="0">
                <a:solidFill>
                  <a:schemeClr val="bg1"/>
                </a:solidFill>
                <a:latin typeface="+mj-lt"/>
              </a:rPr>
              <a:t>Master of Science – Energy Engineering</a:t>
            </a:r>
          </a:p>
        </p:txBody>
      </p:sp>
    </p:spTree>
    <p:extLst>
      <p:ext uri="{BB962C8B-B14F-4D97-AF65-F5344CB8AC3E}">
        <p14:creationId xmlns:p14="http://schemas.microsoft.com/office/powerpoint/2010/main" val="595274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>
            <a:lvl1pPr>
              <a:defRPr sz="1600" b="1" i="0" baseline="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fld id="{DCE09022-C08B-4F34-B9F0-43AC160DA04C}" type="slidenum">
              <a:rPr lang="it-IT" smtClean="0"/>
              <a:pPr/>
              <a:t>‹N›</a:t>
            </a:fld>
            <a:r>
              <a:rPr lang="it-IT"/>
              <a:t>/49</a:t>
            </a:r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28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47988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50178-FFDF-4188-8352-D71733CC4DC1}" type="slidenum">
              <a:rPr lang="it-IT" smtClean="0"/>
              <a:pPr/>
              <a:t>‹N›</a:t>
            </a:fld>
            <a:r>
              <a:rPr lang="it-IT"/>
              <a:t>/49</a:t>
            </a:r>
          </a:p>
        </p:txBody>
      </p:sp>
    </p:spTree>
    <p:extLst>
      <p:ext uri="{BB962C8B-B14F-4D97-AF65-F5344CB8AC3E}">
        <p14:creationId xmlns:p14="http://schemas.microsoft.com/office/powerpoint/2010/main" val="389258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microsoft.com/office/2018/10/relationships/comments" Target="../comments/modernComment_130_E20DB2D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microsoft.com/office/2018/10/relationships/comments" Target="../comments/modernComment_136_2167FB0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Estimation</a:t>
            </a:r>
            <a:r>
              <a:rPr lang="it-IT"/>
              <a:t> and Learning in </a:t>
            </a:r>
            <a:r>
              <a:rPr lang="it-IT" err="1"/>
              <a:t>Aerospace</a:t>
            </a:r>
            <a:endParaRPr lang="it-IT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93352" y="5337202"/>
            <a:ext cx="3527854" cy="319859"/>
          </a:xfrm>
        </p:spPr>
        <p:txBody>
          <a:bodyPr/>
          <a:lstStyle/>
          <a:p>
            <a:r>
              <a:rPr lang="it-IT"/>
              <a:t>Prof. Marco Lovera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8270795" y="5237111"/>
            <a:ext cx="3527854" cy="520042"/>
          </a:xfrm>
        </p:spPr>
        <p:txBody>
          <a:bodyPr/>
          <a:lstStyle/>
          <a:p>
            <a:r>
              <a:rPr lang="it-IT"/>
              <a:t>Marco Cocomazzi</a:t>
            </a:r>
            <a:br>
              <a:rPr lang="it-IT"/>
            </a:br>
            <a:r>
              <a:rPr lang="it-IT"/>
              <a:t>Francesco Pezzi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it-IT"/>
              <a:t>2025/2026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396EE94-4C8D-9565-D644-A7D236D8B1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4750" y="6339214"/>
            <a:ext cx="4582499" cy="499559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2B4A3A1-1296-1564-DA25-3F7C2657384C}"/>
              </a:ext>
            </a:extLst>
          </p:cNvPr>
          <p:cNvSpPr txBox="1"/>
          <p:nvPr/>
        </p:nvSpPr>
        <p:spPr>
          <a:xfrm>
            <a:off x="3804750" y="6208113"/>
            <a:ext cx="4394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>
                <a:solidFill>
                  <a:schemeClr val="bg1"/>
                </a:solidFill>
              </a:rPr>
              <a:t>School of Industrial and Information Engineering</a:t>
            </a:r>
          </a:p>
          <a:p>
            <a:pPr algn="ctr"/>
            <a:r>
              <a:rPr lang="it-IT">
                <a:solidFill>
                  <a:schemeClr val="bg1"/>
                </a:solidFill>
              </a:rPr>
              <a:t>Master of Science  – Space Engineering</a:t>
            </a:r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21962-D214-7258-CFC4-2B578BFA4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56CFB9-F8B0-570F-970D-C389DFB3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</a:t>
            </a:fld>
            <a:r>
              <a:rPr lang="it-IT" dirty="0"/>
              <a:t>/49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B11B91-7B21-D7AA-0381-48858B99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Project Tasks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5511802-C449-40B4-0D82-EE3E51B2C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07" y="1239948"/>
            <a:ext cx="4497174" cy="4103783"/>
          </a:xfrm>
          <a:prstGeom prst="rect">
            <a:avLst/>
          </a:prstGeom>
          <a:ln w="19050">
            <a:solidFill>
              <a:srgbClr val="213652"/>
            </a:solidFill>
          </a:ln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ECD97BC3-E352-25DD-09DB-58793947FF47}"/>
              </a:ext>
            </a:extLst>
          </p:cNvPr>
          <p:cNvSpPr txBox="1"/>
          <p:nvPr/>
        </p:nvSpPr>
        <p:spPr>
          <a:xfrm>
            <a:off x="5355732" y="1239948"/>
            <a:ext cx="646362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Task 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System identification of longitudinal dynamics from simulated data, using the frequency-domain grey-box method</a:t>
            </a:r>
            <a:br>
              <a:rPr lang="en-US" sz="2000"/>
            </a:br>
            <a:endParaRPr lang="it-IT" sz="200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C843D10-DC5D-AA8B-686D-41A052B62878}"/>
              </a:ext>
            </a:extLst>
          </p:cNvPr>
          <p:cNvSpPr txBox="1"/>
          <p:nvPr/>
        </p:nvSpPr>
        <p:spPr>
          <a:xfrm>
            <a:off x="5355732" y="2408904"/>
            <a:ext cx="619036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/>
          </a:p>
          <a:p>
            <a:r>
              <a:rPr lang="en-US" sz="2400" b="1" u="sng">
                <a:solidFill>
                  <a:srgbClr val="213652"/>
                </a:solidFill>
              </a:rPr>
              <a:t>Task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Sensitivity analysis to perturbations in measurement noise properties </a:t>
            </a:r>
            <a:br>
              <a:rPr lang="en-US"/>
            </a:br>
            <a:endParaRPr lang="en-US"/>
          </a:p>
          <a:p>
            <a:r>
              <a:rPr lang="en-US" sz="2400" b="1" u="sng">
                <a:solidFill>
                  <a:srgbClr val="213652"/>
                </a:solidFill>
              </a:rPr>
              <a:t>Task 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Analysis of the best model in a Monte Carlo study</a:t>
            </a:r>
            <a:endParaRPr lang="it-IT" sz="2000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704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16DB-6C82-4130-D09A-B5FCF8A58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8C415B-E22B-A8E5-A9D0-7C0592E23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5602461"/>
            <a:ext cx="965887" cy="365125"/>
          </a:xfrm>
        </p:spPr>
        <p:txBody>
          <a:bodyPr/>
          <a:lstStyle/>
          <a:p>
            <a:fld id="{DCE09022-C08B-4F34-B9F0-43AC160DA04C}" type="slidenum">
              <a:rPr lang="it-IT" smtClean="0"/>
              <a:pPr/>
              <a:t>3</a:t>
            </a:fld>
            <a:r>
              <a:rPr lang="it-IT"/>
              <a:t>/</a:t>
            </a:r>
            <a:r>
              <a:rPr lang="it-IT" u="sng"/>
              <a:t>XX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D9B5C8EB-EA8F-F431-A87E-C2DD0645A88E}"/>
              </a:ext>
            </a:extLst>
          </p:cNvPr>
          <p:cNvSpPr/>
          <p:nvPr/>
        </p:nvSpPr>
        <p:spPr>
          <a:xfrm>
            <a:off x="259863" y="3325989"/>
            <a:ext cx="3433528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err="1">
                <a:solidFill>
                  <a:schemeClr val="tx1"/>
                </a:solidFill>
              </a:rPr>
              <a:t>Estimation</a:t>
            </a:r>
            <a:r>
              <a:rPr lang="it-IT" sz="2000">
                <a:solidFill>
                  <a:schemeClr val="tx1"/>
                </a:solidFill>
              </a:rPr>
              <a:t> </a:t>
            </a:r>
            <a:r>
              <a:rPr lang="it-IT" sz="2000" err="1">
                <a:solidFill>
                  <a:schemeClr val="tx1"/>
                </a:solidFill>
              </a:rPr>
              <a:t>through</a:t>
            </a:r>
            <a:r>
              <a:rPr lang="it-IT" sz="2000">
                <a:solidFill>
                  <a:schemeClr val="tx1"/>
                </a:solidFill>
              </a:rPr>
              <a:t> </a:t>
            </a:r>
            <a:r>
              <a:rPr lang="it-IT" sz="2000" err="1">
                <a:solidFill>
                  <a:schemeClr val="tx1"/>
                </a:solidFill>
              </a:rPr>
              <a:t>periodograms</a:t>
            </a:r>
            <a:endParaRPr lang="it-IT" sz="2000">
              <a:solidFill>
                <a:schemeClr val="tx1"/>
              </a:solidFill>
            </a:endParaRPr>
          </a:p>
        </p:txBody>
      </p:sp>
      <p:sp>
        <p:nvSpPr>
          <p:cNvPr id="45" name="Freccia a destra 44">
            <a:extLst>
              <a:ext uri="{FF2B5EF4-FFF2-40B4-BE49-F238E27FC236}">
                <a16:creationId xmlns:a16="http://schemas.microsoft.com/office/drawing/2014/main" id="{04589270-90DE-C9BB-BCAE-F4D8AFC00512}"/>
              </a:ext>
            </a:extLst>
          </p:cNvPr>
          <p:cNvSpPr/>
          <p:nvPr/>
        </p:nvSpPr>
        <p:spPr>
          <a:xfrm>
            <a:off x="259863" y="2692062"/>
            <a:ext cx="3682951" cy="96065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>
                <a:solidFill>
                  <a:schemeClr val="bg1"/>
                </a:solidFill>
              </a:rPr>
              <a:t>PSD </a:t>
            </a:r>
            <a:r>
              <a:rPr lang="it-IT" sz="2000" b="1" err="1">
                <a:solidFill>
                  <a:schemeClr val="bg1"/>
                </a:solidFill>
              </a:rPr>
              <a:t>Estimation</a:t>
            </a:r>
            <a:endParaRPr lang="it-IT" sz="2000" b="1">
              <a:solidFill>
                <a:schemeClr val="bg1"/>
              </a:solidFill>
            </a:endParaRP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7192F718-31D0-DDDC-FAFA-8889DE4B8AE3}"/>
              </a:ext>
            </a:extLst>
          </p:cNvPr>
          <p:cNvSpPr/>
          <p:nvPr/>
        </p:nvSpPr>
        <p:spPr>
          <a:xfrm>
            <a:off x="4217937" y="3325990"/>
            <a:ext cx="3433528" cy="16312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err="1">
                <a:solidFill>
                  <a:schemeClr val="tx1"/>
                </a:solidFill>
              </a:rPr>
              <a:t>Comparison</a:t>
            </a:r>
            <a:r>
              <a:rPr lang="it-IT">
                <a:solidFill>
                  <a:schemeClr val="tx1"/>
                </a:solidFill>
              </a:rPr>
              <a:t> </a:t>
            </a:r>
            <a:r>
              <a:rPr lang="it-IT" err="1">
                <a:solidFill>
                  <a:schemeClr val="tx1"/>
                </a:solidFill>
              </a:rPr>
              <a:t>between</a:t>
            </a:r>
            <a:r>
              <a:rPr lang="it-IT">
                <a:solidFill>
                  <a:schemeClr val="tx1"/>
                </a:solidFill>
              </a:rPr>
              <a:t> </a:t>
            </a:r>
            <a:r>
              <a:rPr lang="it-IT" err="1">
                <a:solidFill>
                  <a:schemeClr val="tx1"/>
                </a:solidFill>
              </a:rPr>
              <a:t>different</a:t>
            </a:r>
            <a:r>
              <a:rPr lang="it-IT">
                <a:solidFill>
                  <a:schemeClr val="tx1"/>
                </a:solidFill>
              </a:rPr>
              <a:t> </a:t>
            </a:r>
            <a:r>
              <a:rPr lang="it-IT" err="1">
                <a:solidFill>
                  <a:schemeClr val="tx1"/>
                </a:solidFill>
              </a:rPr>
              <a:t>estimation</a:t>
            </a:r>
            <a:r>
              <a:rPr lang="it-IT">
                <a:solidFill>
                  <a:schemeClr val="tx1"/>
                </a:solidFill>
              </a:rPr>
              <a:t> </a:t>
            </a:r>
            <a:r>
              <a:rPr lang="it-IT" err="1">
                <a:solidFill>
                  <a:schemeClr val="tx1"/>
                </a:solidFill>
              </a:rPr>
              <a:t>methods</a:t>
            </a:r>
            <a:r>
              <a:rPr lang="it-IT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9" name="Freccia a destra 48">
            <a:extLst>
              <a:ext uri="{FF2B5EF4-FFF2-40B4-BE49-F238E27FC236}">
                <a16:creationId xmlns:a16="http://schemas.microsoft.com/office/drawing/2014/main" id="{35F7D279-972D-0387-ECE6-D05C766965A3}"/>
              </a:ext>
            </a:extLst>
          </p:cNvPr>
          <p:cNvSpPr/>
          <p:nvPr/>
        </p:nvSpPr>
        <p:spPr>
          <a:xfrm>
            <a:off x="4227007" y="2692062"/>
            <a:ext cx="3682951" cy="960657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/>
              <a:t>FRF </a:t>
            </a:r>
            <a:r>
              <a:rPr lang="it-IT" sz="2000" b="1" err="1"/>
              <a:t>Estimation</a:t>
            </a:r>
            <a:endParaRPr lang="it-IT" sz="2000" b="1"/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1A70851E-455A-ED0D-C576-D84F6FB38333}"/>
              </a:ext>
            </a:extLst>
          </p:cNvPr>
          <p:cNvSpPr/>
          <p:nvPr/>
        </p:nvSpPr>
        <p:spPr>
          <a:xfrm>
            <a:off x="8213556" y="3332894"/>
            <a:ext cx="3433528" cy="162431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Freccia a destra 54">
            <a:extLst>
              <a:ext uri="{FF2B5EF4-FFF2-40B4-BE49-F238E27FC236}">
                <a16:creationId xmlns:a16="http://schemas.microsoft.com/office/drawing/2014/main" id="{50089103-8DCB-DAF4-6C4E-F843030C6FFC}"/>
              </a:ext>
            </a:extLst>
          </p:cNvPr>
          <p:cNvSpPr/>
          <p:nvPr/>
        </p:nvSpPr>
        <p:spPr>
          <a:xfrm>
            <a:off x="8213556" y="2716062"/>
            <a:ext cx="3663546" cy="9606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/>
              <a:t>Frequency-domain </a:t>
            </a:r>
            <a:r>
              <a:rPr lang="it-IT" sz="2000" b="1" err="1"/>
              <a:t>grey</a:t>
            </a:r>
            <a:r>
              <a:rPr lang="it-IT" sz="2000" b="1"/>
              <a:t>-box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587837A9-61D0-54F9-B8CA-99C0B9F9C1E0}"/>
              </a:ext>
            </a:extLst>
          </p:cNvPr>
          <p:cNvSpPr txBox="1"/>
          <p:nvPr/>
        </p:nvSpPr>
        <p:spPr>
          <a:xfrm>
            <a:off x="8417309" y="3787655"/>
            <a:ext cx="3026022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/>
              <a:t>Dynamic </a:t>
            </a:r>
            <a:r>
              <a:rPr lang="it-IT" sz="2000" err="1"/>
              <a:t>parameters</a:t>
            </a:r>
            <a:r>
              <a:rPr lang="it-IT" sz="2000"/>
              <a:t> </a:t>
            </a:r>
            <a:r>
              <a:rPr lang="it-IT" sz="2000" err="1"/>
              <a:t>identification</a:t>
            </a:r>
            <a:endParaRPr lang="it-IT" sz="200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24722EF-0F66-06CC-C6EC-D0D3F8BD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Project Tasks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1045AD0-2461-29AC-5392-803ADCA9947A}"/>
              </a:ext>
            </a:extLst>
          </p:cNvPr>
          <p:cNvSpPr txBox="1"/>
          <p:nvPr/>
        </p:nvSpPr>
        <p:spPr>
          <a:xfrm>
            <a:off x="353960" y="1239948"/>
            <a:ext cx="1146539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Task 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System identification of longitudinal dynamics from simulated data, using the frequency-domain grey-box method</a:t>
            </a:r>
            <a:br>
              <a:rPr lang="en-US" sz="2000"/>
            </a:br>
            <a:endParaRPr lang="it-IT" sz="2000"/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D7B470C1-1914-4F02-8B87-412FF217EE2E}"/>
              </a:ext>
            </a:extLst>
          </p:cNvPr>
          <p:cNvSpPr txBox="1">
            <a:spLocks/>
          </p:cNvSpPr>
          <p:nvPr/>
        </p:nvSpPr>
        <p:spPr>
          <a:xfrm>
            <a:off x="11013988" y="6359546"/>
            <a:ext cx="965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it-IT"/>
            </a:defPPr>
            <a:lvl1pPr marL="0" algn="r" defTabSz="914400" rtl="0" eaLnBrk="1" latinLnBrk="0" hangingPunct="1">
              <a:defRPr sz="1600" b="1" i="0" kern="1200" baseline="0">
                <a:solidFill>
                  <a:schemeClr val="bg1"/>
                </a:solidFill>
                <a:latin typeface="+mj-lt"/>
                <a:ea typeface="+mn-ea"/>
                <a:cs typeface="Calibri" panose="020F050202020403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CE09022-C08B-4F34-B9F0-43AC160DA04C}" type="slidenum">
              <a:rPr lang="it-IT" smtClean="0"/>
              <a:pPr/>
              <a:t>3</a:t>
            </a:fld>
            <a:r>
              <a:rPr lang="it-IT" dirty="0"/>
              <a:t>/49</a:t>
            </a:r>
          </a:p>
        </p:txBody>
      </p:sp>
    </p:spTree>
    <p:extLst>
      <p:ext uri="{BB962C8B-B14F-4D97-AF65-F5344CB8AC3E}">
        <p14:creationId xmlns:p14="http://schemas.microsoft.com/office/powerpoint/2010/main" val="28727620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8B6B2-C134-EAE0-CB50-3EEEE6A1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568601-DF92-45EA-6347-00E9B4B37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</a:t>
            </a:fld>
            <a:r>
              <a:rPr lang="it-IT" dirty="0"/>
              <a:t>/49</a:t>
            </a:r>
            <a:endParaRPr lang="it-IT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FCE2AC-5AB7-8CB3-DAEC-2C6653FF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Linearised</a:t>
            </a:r>
            <a:r>
              <a:rPr lang="en-US"/>
              <a:t> model for longitudinal dynamics</a:t>
            </a:r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869FB47-750B-8EAE-F046-C632CAA69A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39" y="3643436"/>
            <a:ext cx="4849427" cy="104328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2849322-4DD7-B74F-F4A8-771156511D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39" y="1649642"/>
            <a:ext cx="5279320" cy="1043282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2FFD595-A015-6F06-CD78-5C99FF232D77}"/>
              </a:ext>
            </a:extLst>
          </p:cNvPr>
          <p:cNvSpPr txBox="1"/>
          <p:nvPr/>
        </p:nvSpPr>
        <p:spPr>
          <a:xfrm>
            <a:off x="171430" y="1187977"/>
            <a:ext cx="20711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State Equation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2358407E-1C97-E5CE-C854-ED008AC03F77}"/>
              </a:ext>
            </a:extLst>
          </p:cNvPr>
          <p:cNvSpPr txBox="1"/>
          <p:nvPr/>
        </p:nvSpPr>
        <p:spPr>
          <a:xfrm>
            <a:off x="171430" y="3302234"/>
            <a:ext cx="2538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Output Equation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7163CA5-2E87-74B0-F558-8D46BBF610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919" y="3783448"/>
            <a:ext cx="1461905" cy="189523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8275A86D-9DE1-4B47-EE91-2B9DB3C08D21}"/>
              </a:ext>
            </a:extLst>
          </p:cNvPr>
          <p:cNvSpPr txBox="1"/>
          <p:nvPr/>
        </p:nvSpPr>
        <p:spPr>
          <a:xfrm>
            <a:off x="6467829" y="3198167"/>
            <a:ext cx="271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Model Parameters: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15F05B2-2E26-DD30-FF38-9AB753C876A8}"/>
              </a:ext>
            </a:extLst>
          </p:cNvPr>
          <p:cNvSpPr txBox="1"/>
          <p:nvPr/>
        </p:nvSpPr>
        <p:spPr>
          <a:xfrm>
            <a:off x="7099489" y="1260387"/>
            <a:ext cx="52793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i="1"/>
              <a:t>u: </a:t>
            </a:r>
            <a:r>
              <a:rPr lang="en-US" sz="2000"/>
              <a:t>Longitudinal (body) velocity [m/s]</a:t>
            </a:r>
            <a:endParaRPr lang="it-IT" sz="2000"/>
          </a:p>
          <a:p>
            <a:r>
              <a:rPr lang="it-IT" sz="2000" b="1" i="1"/>
              <a:t>q: </a:t>
            </a:r>
            <a:r>
              <a:rPr lang="it-IT" sz="2000"/>
              <a:t>Pitch rate [rad/s]</a:t>
            </a:r>
          </a:p>
          <a:p>
            <a:r>
              <a:rPr lang="it-IT" sz="2000" b="1" i="1"/>
              <a:t>ϴ: </a:t>
            </a:r>
            <a:r>
              <a:rPr lang="it-IT" sz="2000"/>
              <a:t>Pitch angle [rad]</a:t>
            </a:r>
          </a:p>
          <a:p>
            <a:r>
              <a:rPr lang="it-IT" sz="2000" b="1" i="1" err="1"/>
              <a:t>a</a:t>
            </a:r>
            <a:r>
              <a:rPr lang="it-IT" sz="2000" b="1" i="1" baseline="-25000" err="1"/>
              <a:t>x</a:t>
            </a:r>
            <a:r>
              <a:rPr lang="it-IT" sz="2000" b="1" i="1"/>
              <a:t>: </a:t>
            </a:r>
            <a:r>
              <a:rPr lang="en-US" sz="2000"/>
              <a:t>Longitudinal (body) acceleration [m/s2]</a:t>
            </a:r>
            <a:endParaRPr lang="it-IT" sz="2000"/>
          </a:p>
          <a:p>
            <a:r>
              <a:rPr lang="el-GR" sz="2000" b="1" i="1"/>
              <a:t>δ</a:t>
            </a:r>
            <a:r>
              <a:rPr lang="it-IT" sz="2000" b="1" i="1" baseline="-25000" err="1"/>
              <a:t>lon</a:t>
            </a:r>
            <a:r>
              <a:rPr lang="it-IT" sz="2000" b="1" i="1"/>
              <a:t>: </a:t>
            </a:r>
            <a:r>
              <a:rPr lang="en-US" sz="2000"/>
              <a:t>Pitch moment [</a:t>
            </a:r>
            <a:r>
              <a:rPr lang="en-US" sz="2000" err="1"/>
              <a:t>normalised</a:t>
            </a:r>
            <a:r>
              <a:rPr lang="en-US" sz="2000"/>
              <a:t> to -1, +1 range]</a:t>
            </a:r>
          </a:p>
        </p:txBody>
      </p:sp>
      <p:cxnSp>
        <p:nvCxnSpPr>
          <p:cNvPr id="38" name="Connettore diritto 37">
            <a:extLst>
              <a:ext uri="{FF2B5EF4-FFF2-40B4-BE49-F238E27FC236}">
                <a16:creationId xmlns:a16="http://schemas.microsoft.com/office/drawing/2014/main" id="{A8F31ED2-04C0-4F25-3A4C-B66372D719D4}"/>
              </a:ext>
            </a:extLst>
          </p:cNvPr>
          <p:cNvCxnSpPr>
            <a:cxnSpLocks/>
          </p:cNvCxnSpPr>
          <p:nvPr/>
        </p:nvCxnSpPr>
        <p:spPr>
          <a:xfrm>
            <a:off x="7056782" y="1418809"/>
            <a:ext cx="0" cy="1464922"/>
          </a:xfrm>
          <a:prstGeom prst="line">
            <a:avLst/>
          </a:prstGeom>
          <a:ln w="38100">
            <a:solidFill>
              <a:srgbClr val="2136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FAB6F54F-8EA4-1E9C-2B87-791EC657E44F}"/>
              </a:ext>
            </a:extLst>
          </p:cNvPr>
          <p:cNvSpPr txBox="1"/>
          <p:nvPr/>
        </p:nvSpPr>
        <p:spPr>
          <a:xfrm>
            <a:off x="7099489" y="3763899"/>
            <a:ext cx="396581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err="1"/>
              <a:t>X</a:t>
            </a:r>
            <a:r>
              <a:rPr lang="it-IT" altLang="it-IT" sz="2000" b="1" baseline="-25000" err="1"/>
              <a:t>u</a:t>
            </a:r>
            <a:r>
              <a:rPr lang="it-IT" altLang="it-IT" sz="2000"/>
              <a:t>: </a:t>
            </a:r>
            <a:r>
              <a:rPr lang="it-IT" altLang="it-IT" sz="2000" err="1"/>
              <a:t>Axial</a:t>
            </a:r>
            <a:r>
              <a:rPr lang="it-IT" altLang="it-IT" sz="2000"/>
              <a:t> damping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err="1"/>
              <a:t>X</a:t>
            </a:r>
            <a:r>
              <a:rPr lang="it-IT" altLang="it-IT" sz="2000" b="1" baseline="-25000" err="1"/>
              <a:t>q</a:t>
            </a:r>
            <a:r>
              <a:rPr lang="it-IT" altLang="it-IT" sz="2000"/>
              <a:t>: Pitch-to-force </a:t>
            </a:r>
            <a:r>
              <a:rPr lang="it-IT" altLang="it-IT" sz="2000" err="1"/>
              <a:t>parasitic</a:t>
            </a:r>
            <a:r>
              <a:rPr lang="it-IT" altLang="it-IT" sz="2000"/>
              <a:t> </a:t>
            </a:r>
            <a:r>
              <a:rPr lang="it-IT" altLang="it-IT" sz="2000" err="1"/>
              <a:t>coupling</a:t>
            </a:r>
            <a:endParaRPr lang="it-IT" altLang="it-IT" sz="20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/>
              <a:t>M</a:t>
            </a:r>
            <a:r>
              <a:rPr lang="it-IT" altLang="it-IT" sz="2000" b="1" baseline="-25000"/>
              <a:t>u</a:t>
            </a:r>
            <a:r>
              <a:rPr lang="it-IT" altLang="it-IT" sz="2000"/>
              <a:t>: Speed </a:t>
            </a:r>
            <a:r>
              <a:rPr lang="it-IT" altLang="it-IT" sz="2000" err="1"/>
              <a:t>stability</a:t>
            </a:r>
            <a:endParaRPr lang="it-IT" altLang="it-IT" sz="20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/>
              <a:t>M</a:t>
            </a:r>
            <a:r>
              <a:rPr lang="it-IT" altLang="it-IT" sz="2000" b="1" baseline="-25000"/>
              <a:t>q</a:t>
            </a:r>
            <a:r>
              <a:rPr lang="it-IT" altLang="it-IT" sz="2000"/>
              <a:t>: Pitch damping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err="1"/>
              <a:t>X</a:t>
            </a:r>
            <a:r>
              <a:rPr lang="it-IT" altLang="it-IT" sz="2000" b="1" baseline="-25000" err="1"/>
              <a:t>δ</a:t>
            </a:r>
            <a:r>
              <a:rPr lang="it-IT" altLang="it-IT" sz="2000"/>
              <a:t>: Control force derivative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it-IT" altLang="it-IT" sz="2000" b="1" err="1"/>
              <a:t>M</a:t>
            </a:r>
            <a:r>
              <a:rPr lang="it-IT" altLang="it-IT" sz="2000" b="1" baseline="-25000" err="1"/>
              <a:t>δ</a:t>
            </a:r>
            <a:r>
              <a:rPr lang="it-IT" altLang="it-IT" sz="2000"/>
              <a:t>: Control authority</a:t>
            </a:r>
          </a:p>
          <a:p>
            <a:endParaRPr lang="it-IT"/>
          </a:p>
        </p:txBody>
      </p:sp>
      <p:cxnSp>
        <p:nvCxnSpPr>
          <p:cNvPr id="51" name="Connettore diritto 50">
            <a:extLst>
              <a:ext uri="{FF2B5EF4-FFF2-40B4-BE49-F238E27FC236}">
                <a16:creationId xmlns:a16="http://schemas.microsoft.com/office/drawing/2014/main" id="{9190FA9B-A6CE-49C9-53B8-F7B657BD2277}"/>
              </a:ext>
            </a:extLst>
          </p:cNvPr>
          <p:cNvCxnSpPr>
            <a:cxnSpLocks/>
          </p:cNvCxnSpPr>
          <p:nvPr/>
        </p:nvCxnSpPr>
        <p:spPr>
          <a:xfrm>
            <a:off x="7115740" y="3844100"/>
            <a:ext cx="0" cy="1773935"/>
          </a:xfrm>
          <a:prstGeom prst="line">
            <a:avLst/>
          </a:prstGeom>
          <a:ln w="38100">
            <a:solidFill>
              <a:srgbClr val="21365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214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DB27F-AB6A-B2D7-7128-065D59D8C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8FF3E6-5E8C-9CA5-1138-98BCA187F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5</a:t>
            </a:fld>
            <a:r>
              <a:rPr lang="it-IT" dirty="0"/>
              <a:t>/49</a:t>
            </a:r>
            <a:endParaRPr lang="it-IT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5D4C15-BF02-AF1E-9BDD-DEC974CF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Data </a:t>
            </a:r>
            <a:r>
              <a:rPr lang="it-IT" err="1"/>
              <a:t>Exctraction</a:t>
            </a:r>
            <a:r>
              <a:rPr lang="it-IT"/>
              <a:t> 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8323A79-769D-1655-8CE0-1A6DB0AEF85E}"/>
              </a:ext>
            </a:extLst>
          </p:cNvPr>
          <p:cNvSpPr txBox="1"/>
          <p:nvPr/>
        </p:nvSpPr>
        <p:spPr>
          <a:xfrm>
            <a:off x="8170607" y="1597729"/>
            <a:ext cx="412954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Baseline Excitation Input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Long duration sweep exciting longitudinal dynamics.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Signal cut between 25 and 100s.</a:t>
            </a:r>
            <a:br>
              <a:rPr lang="en-US" sz="2000"/>
            </a:br>
            <a:endParaRPr lang="en-US" sz="2000"/>
          </a:p>
          <a:p>
            <a:r>
              <a:rPr lang="en-US" sz="2400" b="1" u="sng">
                <a:solidFill>
                  <a:srgbClr val="213652"/>
                </a:solidFill>
              </a:rPr>
              <a:t>Actual System Input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Total Pitching Moment. </a:t>
            </a:r>
            <a:br>
              <a:rPr lang="en-US" sz="2000"/>
            </a:br>
            <a:endParaRPr lang="en-US" sz="2000"/>
          </a:p>
          <a:p>
            <a:r>
              <a:rPr lang="en-US" sz="2400" b="1" u="sng">
                <a:solidFill>
                  <a:srgbClr val="213652"/>
                </a:solidFill>
              </a:rPr>
              <a:t>Outputs: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Pitch rate (q) and Longitudinal Acceleration (a</a:t>
            </a:r>
            <a:r>
              <a:rPr lang="en-US" sz="2000" baseline="-25000"/>
              <a:t>x</a:t>
            </a:r>
            <a:r>
              <a:rPr lang="en-US" sz="2000"/>
              <a:t>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Mean removal</a:t>
            </a:r>
            <a:endParaRPr lang="it-IT" sz="200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40698DC-F653-87B4-B374-99DE3D7F6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2" t="4633" r="7856" b="2480"/>
          <a:stretch>
            <a:fillRect/>
          </a:stretch>
        </p:blipFill>
        <p:spPr>
          <a:xfrm>
            <a:off x="235975" y="1187540"/>
            <a:ext cx="7826478" cy="496617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996176BC-EAA6-3AE0-ABD1-B15C67C7F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11" t="6022" r="7766" b="1945"/>
          <a:stretch>
            <a:fillRect/>
          </a:stretch>
        </p:blipFill>
        <p:spPr>
          <a:xfrm>
            <a:off x="181898" y="1085496"/>
            <a:ext cx="7934632" cy="506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475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9D5F2-A4A1-D77B-144B-5DEDE5F5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A4987A4-4886-B347-E1C9-76D12DA59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6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23483A4-004E-8C85-94DA-9397BBB4E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PSD </a:t>
            </a:r>
            <a:r>
              <a:rPr lang="it-IT" err="1"/>
              <a:t>Estimation</a:t>
            </a:r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2EEC9CED-08A2-FE65-2810-862434158A49}"/>
              </a:ext>
            </a:extLst>
          </p:cNvPr>
          <p:cNvSpPr/>
          <p:nvPr/>
        </p:nvSpPr>
        <p:spPr>
          <a:xfrm>
            <a:off x="240206" y="1903176"/>
            <a:ext cx="3433528" cy="1631216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000" b="1">
                <a:solidFill>
                  <a:schemeClr val="tx1"/>
                </a:solidFill>
              </a:rPr>
              <a:t>High </a:t>
            </a:r>
            <a:r>
              <a:rPr lang="it-IT" sz="2000" b="1" err="1">
                <a:solidFill>
                  <a:schemeClr val="tx1"/>
                </a:solidFill>
              </a:rPr>
              <a:t>Variance</a:t>
            </a:r>
            <a:r>
              <a:rPr lang="it-IT" sz="2000" b="1">
                <a:solidFill>
                  <a:schemeClr val="tx1"/>
                </a:solidFill>
              </a:rPr>
              <a:t> </a:t>
            </a:r>
            <a:r>
              <a:rPr lang="it-IT" sz="2000">
                <a:solidFill>
                  <a:schemeClr val="tx1"/>
                </a:solidFill>
              </a:rPr>
              <a:t>of the PSD </a:t>
            </a:r>
            <a:r>
              <a:rPr lang="it-IT" sz="2000" err="1">
                <a:solidFill>
                  <a:schemeClr val="tx1"/>
                </a:solidFill>
              </a:rPr>
              <a:t>estimators</a:t>
            </a:r>
            <a:endParaRPr lang="it-IT" sz="2000">
              <a:solidFill>
                <a:schemeClr val="tx1"/>
              </a:solidFill>
            </a:endParaRPr>
          </a:p>
        </p:txBody>
      </p:sp>
      <p:sp>
        <p:nvSpPr>
          <p:cNvPr id="24" name="Freccia a destra 23">
            <a:extLst>
              <a:ext uri="{FF2B5EF4-FFF2-40B4-BE49-F238E27FC236}">
                <a16:creationId xmlns:a16="http://schemas.microsoft.com/office/drawing/2014/main" id="{8972DFDE-A649-78EE-E8C1-B539929D6344}"/>
              </a:ext>
            </a:extLst>
          </p:cNvPr>
          <p:cNvSpPr/>
          <p:nvPr/>
        </p:nvSpPr>
        <p:spPr>
          <a:xfrm>
            <a:off x="240206" y="1269248"/>
            <a:ext cx="3663546" cy="960657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err="1"/>
              <a:t>Problem</a:t>
            </a:r>
            <a:endParaRPr lang="it-IT" sz="2400" b="1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4820CA02-2549-A745-EBA5-A1A8A340AAE6}"/>
              </a:ext>
            </a:extLst>
          </p:cNvPr>
          <p:cNvSpPr/>
          <p:nvPr/>
        </p:nvSpPr>
        <p:spPr>
          <a:xfrm>
            <a:off x="4225164" y="1910080"/>
            <a:ext cx="3433528" cy="163121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Freccia a destra 31">
            <a:extLst>
              <a:ext uri="{FF2B5EF4-FFF2-40B4-BE49-F238E27FC236}">
                <a16:creationId xmlns:a16="http://schemas.microsoft.com/office/drawing/2014/main" id="{B801B577-9C01-BBAA-F08E-9981C401F926}"/>
              </a:ext>
            </a:extLst>
          </p:cNvPr>
          <p:cNvSpPr/>
          <p:nvPr/>
        </p:nvSpPr>
        <p:spPr>
          <a:xfrm>
            <a:off x="4207350" y="1269248"/>
            <a:ext cx="3663546" cy="960657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/>
              <a:t>Solution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6B6259B-3DAE-913A-2316-042F79E74C90}"/>
              </a:ext>
            </a:extLst>
          </p:cNvPr>
          <p:cNvSpPr txBox="1"/>
          <p:nvPr/>
        </p:nvSpPr>
        <p:spPr>
          <a:xfrm>
            <a:off x="4225164" y="2159645"/>
            <a:ext cx="343352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000" b="1" err="1"/>
              <a:t>Avaraging</a:t>
            </a:r>
            <a:r>
              <a:rPr lang="en-US" sz="2000"/>
              <a:t> to reduce variance</a:t>
            </a:r>
          </a:p>
          <a:p>
            <a:pPr algn="ctr"/>
            <a:endParaRPr lang="en-US" sz="2000"/>
          </a:p>
          <a:p>
            <a:pPr algn="ctr"/>
            <a:r>
              <a:rPr lang="en-US" sz="2000" b="1"/>
              <a:t>Overlapped </a:t>
            </a:r>
            <a:r>
              <a:rPr lang="en-US" sz="2000" b="1" err="1"/>
              <a:t>Avaraging</a:t>
            </a:r>
            <a:r>
              <a:rPr lang="en-US" sz="2000" b="1"/>
              <a:t> </a:t>
            </a:r>
            <a:r>
              <a:rPr lang="en-US" sz="2000"/>
              <a:t>to reduce bias</a:t>
            </a:r>
            <a:endParaRPr lang="it-IT" sz="2000">
              <a:latin typeface="Abadi"/>
            </a:endParaRP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C3AFE003-9A5B-A27F-588E-DF3282DC0FAC}"/>
              </a:ext>
            </a:extLst>
          </p:cNvPr>
          <p:cNvSpPr/>
          <p:nvPr/>
        </p:nvSpPr>
        <p:spPr>
          <a:xfrm>
            <a:off x="8174494" y="1910080"/>
            <a:ext cx="3433528" cy="1624311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Freccia a destra 39">
            <a:extLst>
              <a:ext uri="{FF2B5EF4-FFF2-40B4-BE49-F238E27FC236}">
                <a16:creationId xmlns:a16="http://schemas.microsoft.com/office/drawing/2014/main" id="{8ABDC535-1001-C1D2-F3EC-60F76239D05D}"/>
              </a:ext>
            </a:extLst>
          </p:cNvPr>
          <p:cNvSpPr/>
          <p:nvPr/>
        </p:nvSpPr>
        <p:spPr>
          <a:xfrm>
            <a:off x="8174494" y="1272766"/>
            <a:ext cx="3663546" cy="960657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err="1"/>
              <a:t>Implementation</a:t>
            </a:r>
            <a:endParaRPr lang="it-IT" sz="2400" b="1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27CDC4C-6A28-C33B-ED0A-1FDAE6F108B0}"/>
              </a:ext>
            </a:extLst>
          </p:cNvPr>
          <p:cNvSpPr txBox="1"/>
          <p:nvPr/>
        </p:nvSpPr>
        <p:spPr>
          <a:xfrm>
            <a:off x="8378247" y="2280025"/>
            <a:ext cx="3026022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it-IT" sz="2000" b="1"/>
              <a:t>FIRST ITERATION:</a:t>
            </a:r>
          </a:p>
          <a:p>
            <a:pPr algn="ctr"/>
            <a:r>
              <a:rPr lang="it-IT" sz="2000" b="1"/>
              <a:t>K = 50</a:t>
            </a:r>
          </a:p>
          <a:p>
            <a:pPr algn="ctr"/>
            <a:r>
              <a:rPr lang="it-IT" sz="2000" b="1"/>
              <a:t>50 % </a:t>
            </a:r>
            <a:r>
              <a:rPr lang="it-IT" sz="2000" b="1" err="1"/>
              <a:t>overlap</a:t>
            </a:r>
            <a:endParaRPr lang="it-IT" sz="2000" b="1"/>
          </a:p>
        </p:txBody>
      </p: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D4318304-32E7-191E-2E0B-FDE7ED2E586A}"/>
              </a:ext>
            </a:extLst>
          </p:cNvPr>
          <p:cNvGrpSpPr/>
          <p:nvPr/>
        </p:nvGrpSpPr>
        <p:grpSpPr>
          <a:xfrm>
            <a:off x="254166" y="4095729"/>
            <a:ext cx="5708413" cy="1631214"/>
            <a:chOff x="328592" y="4095729"/>
            <a:chExt cx="5708413" cy="1454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ttangolo 10">
                  <a:extLst>
                    <a:ext uri="{FF2B5EF4-FFF2-40B4-BE49-F238E27FC236}">
                      <a16:creationId xmlns:a16="http://schemas.microsoft.com/office/drawing/2014/main" id="{22016CE5-F17C-4112-BBE8-AA2FB11E11F0}"/>
                    </a:ext>
                  </a:extLst>
                </p:cNvPr>
                <p:cNvSpPr/>
                <p:nvPr/>
              </p:nvSpPr>
              <p:spPr>
                <a:xfrm>
                  <a:off x="334297" y="4466429"/>
                  <a:ext cx="5702708" cy="1084078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it-IT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Sup>
                              <m:sSubSup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  <m:sup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d>
                                  <m:dPr>
                                    <m:ctrlP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</m:sup>
                            </m:sSubSup>
                          </m:e>
                        </m:acc>
                        <m:d>
                          <m:d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nary>
                          <m:naryPr>
                            <m:chr m:val="∑"/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=−∞</m:t>
                            </m:r>
                          </m:sub>
                          <m:sup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+∞</m:t>
                            </m:r>
                          </m:sup>
                          <m:e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acc>
                              <m:accPr>
                                <m:chr m:val="̂"/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it-IT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acc>
                            <m:d>
                              <m:d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e>
                        </m:nary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, </m:t>
                        </m:r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=1,…,</m:t>
                        </m:r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it-IT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Rettangolo 10">
                  <a:extLst>
                    <a:ext uri="{FF2B5EF4-FFF2-40B4-BE49-F238E27FC236}">
                      <a16:creationId xmlns:a16="http://schemas.microsoft.com/office/drawing/2014/main" id="{22016CE5-F17C-4112-BBE8-AA2FB11E11F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97" y="4466429"/>
                  <a:ext cx="5702708" cy="108407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56DBE836-7CF9-D164-E4E8-180DBDDA5275}"/>
                </a:ext>
              </a:extLst>
            </p:cNvPr>
            <p:cNvSpPr/>
            <p:nvPr/>
          </p:nvSpPr>
          <p:spPr>
            <a:xfrm>
              <a:off x="328592" y="4095729"/>
              <a:ext cx="5702708" cy="5188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2000" b="1" err="1">
                  <a:solidFill>
                    <a:schemeClr val="tx1"/>
                  </a:solidFill>
                  <a:sym typeface="Wingdings" panose="05000000000000000000" pitchFamily="2" charset="2"/>
                </a:rPr>
                <a:t>Windowed</a:t>
              </a:r>
              <a:r>
                <a:rPr lang="it-IT" sz="2000" b="1">
                  <a:solidFill>
                    <a:schemeClr val="tx1"/>
                  </a:solidFill>
                  <a:sym typeface="Wingdings" panose="05000000000000000000" pitchFamily="2" charset="2"/>
                </a:rPr>
                <a:t> Estimator (Hamming Window)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2DB00A8E-2E12-BE26-6216-6413D767056E}"/>
              </a:ext>
            </a:extLst>
          </p:cNvPr>
          <p:cNvGrpSpPr/>
          <p:nvPr/>
        </p:nvGrpSpPr>
        <p:grpSpPr>
          <a:xfrm>
            <a:off x="6223716" y="4095729"/>
            <a:ext cx="5708413" cy="1631214"/>
            <a:chOff x="6522295" y="3974032"/>
            <a:chExt cx="5907317" cy="14547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ttangolo 13">
                  <a:extLst>
                    <a:ext uri="{FF2B5EF4-FFF2-40B4-BE49-F238E27FC236}">
                      <a16:creationId xmlns:a16="http://schemas.microsoft.com/office/drawing/2014/main" id="{792B48C4-EBFF-3479-DB7F-D62225325674}"/>
                    </a:ext>
                  </a:extLst>
                </p:cNvPr>
                <p:cNvSpPr/>
                <p:nvPr/>
              </p:nvSpPr>
              <p:spPr>
                <a:xfrm>
                  <a:off x="6522295" y="4344732"/>
                  <a:ext cx="5899354" cy="1084078"/>
                </a:xfrm>
                <a:prstGeom prst="rect">
                  <a:avLst/>
                </a:prstGeom>
                <a:noFill/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it-IT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d>
                        <m:r>
                          <a:rPr lang="it-IT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den>
                        </m:f>
                        <m:nary>
                          <m:naryPr>
                            <m:chr m:val="∑"/>
                            <m:ctrlP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it-IT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Sup>
                                  <m:sSubSupPr>
                                    <m:ctrlP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  <m:sup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𝑊</m:t>
                                    </m:r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d>
                                      <m:dPr>
                                        <m:ctrlPr>
                                          <a:rPr lang="it-IT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</m:d>
                                  </m:sup>
                                </m:sSubSup>
                              </m:e>
                            </m:acc>
                            <m:d>
                              <m:dPr>
                                <m:ctrlPr>
                                  <a:rPr lang="it-IT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̃"/>
                                    <m:ctrlP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it-IT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</m:e>
                            </m:d>
                          </m:e>
                        </m:nary>
                      </m:oMath>
                    </m:oMathPara>
                  </a14:m>
                  <a:endParaRPr lang="it-IT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ttangolo 13">
                  <a:extLst>
                    <a:ext uri="{FF2B5EF4-FFF2-40B4-BE49-F238E27FC236}">
                      <a16:creationId xmlns:a16="http://schemas.microsoft.com/office/drawing/2014/main" id="{792B48C4-EBFF-3479-DB7F-D622253256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2295" y="4344732"/>
                  <a:ext cx="5899354" cy="108407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chemeClr val="accent1">
                      <a:lumMod val="40000"/>
                      <a:lumOff val="60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D6417D8-43AF-04F3-ADC7-8AB0E5F0405D}"/>
                </a:ext>
              </a:extLst>
            </p:cNvPr>
            <p:cNvSpPr/>
            <p:nvPr/>
          </p:nvSpPr>
          <p:spPr>
            <a:xfrm>
              <a:off x="6528804" y="3974032"/>
              <a:ext cx="5900808" cy="51880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2000" b="1" err="1">
                  <a:solidFill>
                    <a:schemeClr val="tx1"/>
                  </a:solidFill>
                  <a:sym typeface="Wingdings" panose="05000000000000000000" pitchFamily="2" charset="2"/>
                </a:rPr>
                <a:t>Average</a:t>
              </a:r>
              <a:r>
                <a:rPr lang="it-IT" sz="2000" b="1">
                  <a:solidFill>
                    <a:schemeClr val="tx1"/>
                  </a:solidFill>
                  <a:sym typeface="Wingdings" panose="05000000000000000000" pitchFamily="2" charset="2"/>
                </a:rPr>
                <a:t> Estimate on the Total Number of </a:t>
              </a:r>
              <a:r>
                <a:rPr lang="it-IT" sz="2000" b="1" err="1">
                  <a:solidFill>
                    <a:schemeClr val="tx1"/>
                  </a:solidFill>
                  <a:sym typeface="Wingdings" panose="05000000000000000000" pitchFamily="2" charset="2"/>
                </a:rPr>
                <a:t>Sequence</a:t>
              </a:r>
              <a:endParaRPr lang="it-IT" sz="2000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4204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0E70C-10A2-3363-2CAE-5EE14C87B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5B8298-9603-4408-B7F2-7FA39D4C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7</a:t>
            </a:fld>
            <a:r>
              <a:rPr lang="it-IT" dirty="0"/>
              <a:t>/49</a:t>
            </a:r>
            <a:endParaRPr lang="it-IT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C73E6C-7CAF-65C7-7866-E741217F9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Power </a:t>
            </a:r>
            <a:r>
              <a:rPr lang="it-IT" err="1"/>
              <a:t>Spectral</a:t>
            </a:r>
            <a:r>
              <a:rPr lang="it-IT"/>
              <a:t> </a:t>
            </a:r>
            <a:r>
              <a:rPr lang="it-IT" err="1"/>
              <a:t>Density</a:t>
            </a:r>
            <a:r>
              <a:rPr lang="it-IT"/>
              <a:t> Analysis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9EE7B36-E152-9047-9CA6-5CF76DAD4F88}"/>
              </a:ext>
            </a:extLst>
          </p:cNvPr>
          <p:cNvSpPr txBox="1"/>
          <p:nvPr/>
        </p:nvSpPr>
        <p:spPr>
          <a:xfrm>
            <a:off x="8376353" y="1465899"/>
            <a:ext cx="3815647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Input PSD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Sweep signal is exciting low frequencies.</a:t>
            </a:r>
            <a:br>
              <a:rPr lang="en-US" sz="2000"/>
            </a:br>
            <a:endParaRPr lang="en-US" sz="2000"/>
          </a:p>
          <a:p>
            <a:r>
              <a:rPr lang="en-US" sz="2400" b="1" u="sng">
                <a:solidFill>
                  <a:srgbClr val="213652"/>
                </a:solidFill>
              </a:rPr>
              <a:t>Output Auto-PSD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/>
              <a:t>Peak corresponding to the excited frequencies.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/>
          </a:p>
          <a:p>
            <a:r>
              <a:rPr lang="en-US" sz="2400" b="1" u="sng">
                <a:solidFill>
                  <a:srgbClr val="213652"/>
                </a:solidFill>
              </a:rPr>
              <a:t>Output Cross-PSD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/>
              <a:t>As a consequence, the cross-correlation presents higher similarities in lower frequencies.</a:t>
            </a:r>
          </a:p>
          <a:p>
            <a:endParaRPr lang="en-US" sz="200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9881701-6164-EB0D-37D1-DD3640F18F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2" t="5267" r="7875" b="3540"/>
          <a:stretch>
            <a:fillRect/>
          </a:stretch>
        </p:blipFill>
        <p:spPr>
          <a:xfrm>
            <a:off x="564443" y="1019275"/>
            <a:ext cx="7247467" cy="520090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142CCD7-C060-9B8D-F9DA-DA507C9B40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1" t="699" r="8139"/>
          <a:stretch>
            <a:fillRect/>
          </a:stretch>
        </p:blipFill>
        <p:spPr>
          <a:xfrm>
            <a:off x="0" y="1019275"/>
            <a:ext cx="8398934" cy="492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71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388FA-2BF7-2B0A-D23D-127A37FCF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59007E-04A3-D4DA-188B-4DC20A057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8</a:t>
            </a:fld>
            <a:r>
              <a:rPr lang="it-IT" dirty="0"/>
              <a:t>/49</a:t>
            </a:r>
            <a:endParaRPr lang="it-IT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CD70786-504B-4A0F-5332-C55DC1D2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Frequency </a:t>
            </a:r>
            <a:r>
              <a:rPr lang="it-IT" err="1"/>
              <a:t>Response</a:t>
            </a:r>
            <a:r>
              <a:rPr lang="it-IT"/>
              <a:t> </a:t>
            </a:r>
            <a:r>
              <a:rPr lang="it-IT" err="1"/>
              <a:t>Function</a:t>
            </a:r>
            <a:r>
              <a:rPr lang="it-IT"/>
              <a:t> </a:t>
            </a:r>
            <a:r>
              <a:rPr lang="it-IT" err="1"/>
              <a:t>Estimation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9EBFDB5-38B6-41C7-88C7-0F987F656AEF}"/>
                  </a:ext>
                </a:extLst>
              </p:cNvPr>
              <p:cNvSpPr txBox="1"/>
              <p:nvPr/>
            </p:nvSpPr>
            <p:spPr>
              <a:xfrm>
                <a:off x="8457312" y="1070419"/>
                <a:ext cx="3657907" cy="43580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>
                    <a:solidFill>
                      <a:srgbClr val="213652"/>
                    </a:solidFill>
                  </a:rPr>
                  <a:t>Formulation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𝑢𝑞</m:t>
                            </m:r>
                          </m:sub>
                        </m:sSub>
                      </m:e>
                    </m:acc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𝑢𝑞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num>
                      <m:den>
                        <m:acc>
                          <m:accPr>
                            <m:chr m:val="̂"/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𝑢𝑢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den>
                    </m:f>
                    <m:r>
                      <a:rPr lang="it-IT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it-IT" sz="2000"/>
                </a:br>
                <a:endParaRPr lang="it-IT" sz="200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sSub>
                              <m:sSubPr>
                                <m:ctrlPr>
                                  <a:rPr lang="it-I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</m:sub>
                        </m:sSub>
                      </m:e>
                    </m:acc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̂"/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sSub>
                                  <m:sSubPr>
                                    <m:ctrlPr>
                                      <a:rPr lang="it-IT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it-IT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num>
                      <m:den>
                        <m:acc>
                          <m:accPr>
                            <m:chr m:val="̂"/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𝑢𝑢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den>
                    </m:f>
                  </m:oMath>
                </a14:m>
                <a:endParaRPr lang="en-US" sz="2400" b="1" u="sng">
                  <a:solidFill>
                    <a:srgbClr val="213652"/>
                  </a:solidFill>
                </a:endParaRPr>
              </a:p>
              <a:p>
                <a:endParaRPr lang="en-US" sz="2000"/>
              </a:p>
              <a:p>
                <a:r>
                  <a:rPr lang="en-US" sz="2400" b="1" u="sng">
                    <a:solidFill>
                      <a:srgbClr val="213652"/>
                    </a:solidFill>
                  </a:rPr>
                  <a:t>Three methods comparison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b="1"/>
                  <a:t>Pointwise Ratio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b="1" err="1"/>
                  <a:t>Spafdr</a:t>
                </a:r>
                <a:r>
                  <a:rPr lang="en-US" sz="2400"/>
                  <a:t>: Estimate directly from raw data.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US" sz="2400" b="1" err="1"/>
                  <a:t>Tfestimate</a:t>
                </a:r>
                <a:r>
                  <a:rPr lang="en-US" sz="2400"/>
                  <a:t>: Uses the window computed.</a:t>
                </a: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49EBFDB5-38B6-41C7-88C7-0F987F656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7312" y="1070419"/>
                <a:ext cx="3657907" cy="4358053"/>
              </a:xfrm>
              <a:prstGeom prst="rect">
                <a:avLst/>
              </a:prstGeom>
              <a:blipFill>
                <a:blip r:embed="rId3"/>
                <a:stretch>
                  <a:fillRect l="-2500" t="-1120" r="-2667" b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EED265D7-D568-5415-4850-BA96F51B12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7" t="2690" r="8475" b="2643"/>
          <a:stretch>
            <a:fillRect/>
          </a:stretch>
        </p:blipFill>
        <p:spPr>
          <a:xfrm>
            <a:off x="582611" y="1070419"/>
            <a:ext cx="6630116" cy="5070185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FE22FAF-1801-CBAE-296C-779A75A4E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4" t="2770" r="7984" b="2187"/>
          <a:stretch>
            <a:fillRect/>
          </a:stretch>
        </p:blipFill>
        <p:spPr>
          <a:xfrm>
            <a:off x="539268" y="1026100"/>
            <a:ext cx="6716801" cy="515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5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4B08685-A984-E45E-5933-3FD121E63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9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5B9BB2C-159F-39F9-D4D1-D10BDF6CA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Frequency </a:t>
            </a:r>
            <a:r>
              <a:rPr lang="it-IT" err="1"/>
              <a:t>Response</a:t>
            </a:r>
            <a:r>
              <a:rPr lang="it-IT"/>
              <a:t> </a:t>
            </a:r>
            <a:r>
              <a:rPr lang="it-IT" err="1"/>
              <a:t>Function</a:t>
            </a:r>
            <a:r>
              <a:rPr lang="it-IT"/>
              <a:t> </a:t>
            </a:r>
            <a:r>
              <a:rPr lang="it-IT" err="1"/>
              <a:t>Comparison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90A9291-59DA-2B63-99E5-7C39D8FCF8B3}"/>
                  </a:ext>
                </a:extLst>
              </p:cNvPr>
              <p:cNvSpPr txBox="1"/>
              <p:nvPr/>
            </p:nvSpPr>
            <p:spPr>
              <a:xfrm>
                <a:off x="353960" y="943017"/>
                <a:ext cx="11465393" cy="1155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>
                    <a:solidFill>
                      <a:srgbClr val="213652"/>
                    </a:solidFill>
                  </a:rPr>
                  <a:t>Comparison</a:t>
                </a:r>
              </a:p>
              <a:p>
                <a:pPr marL="285750" indent="-285750">
                  <a:lnSpc>
                    <a:spcPts val="2800"/>
                  </a:lnSpc>
                  <a:buFont typeface="Wingdings" panose="05000000000000000000" pitchFamily="2" charset="2"/>
                  <a:buChar char="Ø"/>
                </a:pPr>
                <a:r>
                  <a:rPr lang="en-US" sz="2000"/>
                  <a:t>A visual comparison has been carried out between the selected method (</a:t>
                </a:r>
                <a:r>
                  <a:rPr lang="en-US" sz="2000" b="1" err="1"/>
                  <a:t>tfestimate</a:t>
                </a:r>
                <a:r>
                  <a:rPr lang="en-US" sz="2000"/>
                  <a:t>) and the true FRF</a:t>
                </a:r>
              </a:p>
              <a:p>
                <a:pPr marL="285750" indent="-285750">
                  <a:lnSpc>
                    <a:spcPts val="2800"/>
                  </a:lnSpc>
                  <a:buFont typeface="Wingdings" panose="05000000000000000000" pitchFamily="2" charset="2"/>
                  <a:buChar char="Ø"/>
                </a:pPr>
                <a:r>
                  <a:rPr lang="en-US" sz="2000"/>
                  <a:t>The true FRF is evaluated using the classical notation: 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𝑮</m:t>
                    </m:r>
                    <m:d>
                      <m:d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1" i="1">
                        <a:latin typeface="Cambria Math" panose="02040503050406030204" pitchFamily="18" charset="0"/>
                      </a:rPr>
                      <m:t>𝑪</m:t>
                    </m:r>
                    <m:sSup>
                      <m:sSup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it-IT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sz="2000" b="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it-IT" sz="2000" b="0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  <m:r>
                              <a:rPr lang="it-IT" sz="2000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it-IT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sz="2000" b="1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d>
                      </m:e>
                      <m:sup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it-IT" sz="2000" b="1" i="1">
                        <a:latin typeface="Cambria Math" panose="02040503050406030204" pitchFamily="18" charset="0"/>
                      </a:rPr>
                      <m:t>𝑩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it-IT" sz="2000" b="1" i="1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endParaRPr lang="it-IT" sz="200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790A9291-59DA-2B63-99E5-7C39D8FCF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60" y="943017"/>
                <a:ext cx="11465393" cy="1155509"/>
              </a:xfrm>
              <a:prstGeom prst="rect">
                <a:avLst/>
              </a:prstGeom>
              <a:blipFill>
                <a:blip r:embed="rId2"/>
                <a:stretch>
                  <a:fillRect l="-797" t="-4233" b="-8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77F84990-EB4F-519A-175B-EA6DF86EC9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97" t="1326" r="8480" b="930"/>
          <a:stretch>
            <a:fillRect/>
          </a:stretch>
        </p:blipFill>
        <p:spPr>
          <a:xfrm>
            <a:off x="431180" y="2054500"/>
            <a:ext cx="5664820" cy="413931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BE9FBE34-D699-DB43-B52A-C1E637D5AA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30" t="2493" r="8853" b="1322"/>
          <a:stretch>
            <a:fillRect/>
          </a:stretch>
        </p:blipFill>
        <p:spPr>
          <a:xfrm>
            <a:off x="6310650" y="2159381"/>
            <a:ext cx="5560742" cy="403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47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F3A8B97-99BD-96BE-B663-0F04C3F04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10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8140F48E-7ACB-4235-D94D-BB33EFC96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Coherence</a:t>
            </a:r>
            <a:r>
              <a:rPr lang="it-IT"/>
              <a:t>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3FEF3E0-6FE5-7955-ACD5-1ABD5ADB1EB2}"/>
                  </a:ext>
                </a:extLst>
              </p:cNvPr>
              <p:cNvSpPr txBox="1"/>
              <p:nvPr/>
            </p:nvSpPr>
            <p:spPr>
              <a:xfrm>
                <a:off x="7487351" y="965577"/>
                <a:ext cx="4400819" cy="53247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>
                    <a:solidFill>
                      <a:srgbClr val="213652"/>
                    </a:solidFill>
                  </a:rPr>
                  <a:t>Formulation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Sup>
                          <m:sSubSup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𝜸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𝒖𝒚</m:t>
                            </m:r>
                          </m:sub>
                          <m:sup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</m:e>
                    </m:acc>
                    <m:d>
                      <m:d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</m:d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sz="2400" b="1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𝒖𝒚</m:t>
                                        </m:r>
                                      </m:sub>
                                    </m:sSub>
                                  </m:e>
                                </m:acc>
                                <m:d>
                                  <m:dPr>
                                    <m:ctrlP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1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𝒇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acc>
                          <m:accPr>
                            <m:chr m:val="̂"/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𝒚𝒚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  <m:acc>
                          <m:accPr>
                            <m:chr m:val="̂"/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4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𝒖𝒖</m:t>
                                </m:r>
                              </m:sub>
                            </m:sSub>
                          </m:e>
                        </m:acc>
                        <m:d>
                          <m:dPr>
                            <m:ctrlP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</m:d>
                      </m:den>
                    </m:f>
                  </m:oMath>
                </a14:m>
                <a:endParaRPr lang="en-US" sz="200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US" sz="2000"/>
              </a:p>
              <a:p>
                <a:r>
                  <a:rPr lang="en-US" sz="2400" b="1" u="sng">
                    <a:solidFill>
                      <a:srgbClr val="213652"/>
                    </a:solidFill>
                  </a:rPr>
                  <a:t>Considerations</a:t>
                </a:r>
              </a:p>
              <a:p>
                <a:pPr marL="342900" indent="-342900">
                  <a:lnSpc>
                    <a:spcPts val="2700"/>
                  </a:lnSpc>
                  <a:buFont typeface="Wingdings" panose="05000000000000000000" pitchFamily="2" charset="2"/>
                  <a:buChar char="Ø"/>
                </a:pPr>
                <a:r>
                  <a:rPr lang="it-IT" sz="2000" b="1"/>
                  <a:t>Peak </a:t>
                </a:r>
                <a:r>
                  <a:rPr lang="it-IT" sz="2000" b="1" err="1"/>
                  <a:t>Coherence</a:t>
                </a:r>
                <a:r>
                  <a:rPr lang="it-IT" sz="2000" b="1"/>
                  <a:t>:</a:t>
                </a:r>
                <a:r>
                  <a:rPr lang="it-IT" sz="2000"/>
                  <a:t> </a:t>
                </a:r>
                <a:r>
                  <a:rPr lang="it-IT" sz="2000" err="1"/>
                  <a:t>Aligns</a:t>
                </a:r>
                <a:r>
                  <a:rPr lang="it-IT" sz="2000"/>
                  <a:t> </a:t>
                </a:r>
                <a:r>
                  <a:rPr lang="it-IT" sz="2000" err="1"/>
                  <a:t>directly</a:t>
                </a:r>
                <a:r>
                  <a:rPr lang="it-IT" sz="2000"/>
                  <a:t> with </a:t>
                </a:r>
                <a:r>
                  <a:rPr lang="it-IT" sz="2000" err="1"/>
                  <a:t>excitation</a:t>
                </a:r>
                <a:r>
                  <a:rPr lang="it-IT" sz="2000"/>
                  <a:t> frequencies.</a:t>
                </a:r>
              </a:p>
              <a:p>
                <a:pPr marL="342900" indent="-342900">
                  <a:lnSpc>
                    <a:spcPts val="2700"/>
                  </a:lnSpc>
                  <a:buFont typeface="Wingdings" panose="05000000000000000000" pitchFamily="2" charset="2"/>
                  <a:buChar char="Ø"/>
                </a:pPr>
                <a:r>
                  <a:rPr lang="it-IT" sz="2000" b="1" err="1"/>
                  <a:t>Parameter</a:t>
                </a:r>
                <a:r>
                  <a:rPr lang="it-IT" sz="2000" b="1"/>
                  <a:t> Sensitivity:</a:t>
                </a:r>
                <a:r>
                  <a:rPr lang="it-IT" sz="2000"/>
                  <a:t> Shows high </a:t>
                </a:r>
                <a:r>
                  <a:rPr lang="it-IT" sz="2000" err="1"/>
                  <a:t>variation</a:t>
                </a:r>
                <a:r>
                  <a:rPr lang="it-IT" sz="2000"/>
                  <a:t> with </a:t>
                </a:r>
                <a:r>
                  <a:rPr lang="it-IT" sz="2000" err="1"/>
                  <a:t>respect</a:t>
                </a:r>
                <a:r>
                  <a:rPr lang="it-IT" sz="2000"/>
                  <a:t> to ‘K’.</a:t>
                </a:r>
              </a:p>
              <a:p>
                <a:pPr marL="342900" indent="-342900">
                  <a:lnSpc>
                    <a:spcPts val="2700"/>
                  </a:lnSpc>
                  <a:buFont typeface="Wingdings" panose="05000000000000000000" pitchFamily="2" charset="2"/>
                  <a:buChar char="Ø"/>
                </a:pPr>
                <a:r>
                  <a:rPr lang="en-US" sz="2000" b="1"/>
                  <a:t>SNR Asymmetry</a:t>
                </a:r>
                <a:r>
                  <a:rPr lang="en-US" sz="2000"/>
                  <a:t>: Direct moment excitation ensures high coherence for pitch rate (q), while weak translational coupling leaves acceleration (a</a:t>
                </a:r>
                <a:r>
                  <a:rPr lang="en-US" sz="2000" baseline="-25000"/>
                  <a:t>x</a:t>
                </a:r>
                <a:r>
                  <a:rPr lang="en-US" sz="2000"/>
                  <a:t>) noise-dominated.</a:t>
                </a:r>
                <a:endParaRPr lang="it-IT" sz="2000"/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endParaRPr lang="en-US" sz="200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73FEF3E0-6FE5-7955-ACD5-1ABD5ADB1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7351" y="965577"/>
                <a:ext cx="4400819" cy="5324791"/>
              </a:xfrm>
              <a:prstGeom prst="rect">
                <a:avLst/>
              </a:prstGeom>
              <a:blipFill>
                <a:blip r:embed="rId2"/>
                <a:stretch>
                  <a:fillRect l="-2078" t="-915" r="-2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A5F7DA1C-64DE-1C83-2776-CB210DC65F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8" t="2710" r="8400"/>
          <a:stretch>
            <a:fillRect/>
          </a:stretch>
        </p:blipFill>
        <p:spPr>
          <a:xfrm>
            <a:off x="105356" y="1076359"/>
            <a:ext cx="7276752" cy="505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12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35F6CEA-0E74-992C-99EC-F7044E6C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11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6ED44B3C-EC70-E8B6-7313-0170D5494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Grey Box Model: Initialization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BDD51C-7746-0D3E-8B6F-EF3D899C84BA}"/>
              </a:ext>
            </a:extLst>
          </p:cNvPr>
          <p:cNvSpPr txBox="1"/>
          <p:nvPr/>
        </p:nvSpPr>
        <p:spPr>
          <a:xfrm>
            <a:off x="8160774" y="1239948"/>
            <a:ext cx="365857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Grey Box Model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/>
              <a:t>Grey-box model </a:t>
            </a:r>
            <a:r>
              <a:rPr lang="it-IT" sz="2000" err="1"/>
              <a:t>formulation</a:t>
            </a:r>
            <a:r>
              <a:rPr lang="it-IT" sz="2000"/>
              <a:t> and </a:t>
            </a:r>
            <a:r>
              <a:rPr lang="it-IT" sz="2000" err="1"/>
              <a:t>parameter</a:t>
            </a:r>
            <a:r>
              <a:rPr lang="it-IT" sz="2000"/>
              <a:t> </a:t>
            </a:r>
            <a:r>
              <a:rPr lang="it-IT" sz="2000" err="1"/>
              <a:t>estimation</a:t>
            </a:r>
            <a:r>
              <a:rPr lang="it-IT" sz="2000"/>
              <a:t> </a:t>
            </a:r>
            <a:r>
              <a:rPr lang="it-IT" sz="2000" err="1"/>
              <a:t>performed</a:t>
            </a:r>
            <a:r>
              <a:rPr lang="it-IT" sz="2000"/>
              <a:t> via </a:t>
            </a:r>
            <a:r>
              <a:rPr lang="it-IT" sz="2000" err="1"/>
              <a:t>MATLAB's</a:t>
            </a:r>
            <a:r>
              <a:rPr lang="it-IT" sz="2000"/>
              <a:t> </a:t>
            </a:r>
            <a:r>
              <a:rPr lang="en-US" sz="2000"/>
              <a:t>‘</a:t>
            </a:r>
            <a:r>
              <a:rPr lang="en-US" sz="2000" b="1"/>
              <a:t>greyest</a:t>
            </a:r>
            <a:r>
              <a:rPr lang="en-US" sz="2000"/>
              <a:t>’.</a:t>
            </a:r>
          </a:p>
          <a:p>
            <a:endParaRPr lang="en-US" sz="2000"/>
          </a:p>
          <a:p>
            <a:endParaRPr lang="en-US" sz="200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  <a:p>
            <a:endParaRPr lang="en-US" sz="2000"/>
          </a:p>
          <a:p>
            <a:endParaRPr lang="en-US" sz="2000"/>
          </a:p>
          <a:p>
            <a:r>
              <a:rPr lang="en-US" sz="2400" b="1" u="sng">
                <a:solidFill>
                  <a:srgbClr val="213652"/>
                </a:solidFill>
              </a:rPr>
              <a:t>Initial Parameters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it-IT" sz="2000"/>
              <a:t>The </a:t>
            </a:r>
            <a:r>
              <a:rPr lang="it-IT" sz="2000" err="1"/>
              <a:t>initial</a:t>
            </a:r>
            <a:r>
              <a:rPr lang="it-IT" sz="2000"/>
              <a:t> </a:t>
            </a:r>
            <a:r>
              <a:rPr lang="it-IT" sz="2000" err="1"/>
              <a:t>conditions</a:t>
            </a:r>
            <a:r>
              <a:rPr lang="it-IT" sz="2000"/>
              <a:t> for the </a:t>
            </a:r>
            <a:r>
              <a:rPr lang="it-IT" sz="2000" err="1"/>
              <a:t>parameters</a:t>
            </a:r>
            <a:r>
              <a:rPr lang="it-IT" sz="2000"/>
              <a:t> to be </a:t>
            </a:r>
            <a:r>
              <a:rPr lang="it-IT" sz="2000" err="1"/>
              <a:t>estimated</a:t>
            </a:r>
            <a:r>
              <a:rPr lang="it-IT" sz="2000"/>
              <a:t> are set </a:t>
            </a:r>
            <a:r>
              <a:rPr lang="it-IT" sz="2000" err="1"/>
              <a:t>according</a:t>
            </a:r>
            <a:r>
              <a:rPr lang="it-IT" sz="2000"/>
              <a:t> to </a:t>
            </a:r>
            <a:r>
              <a:rPr lang="it-IT" sz="2000" err="1"/>
              <a:t>their</a:t>
            </a:r>
            <a:r>
              <a:rPr lang="it-IT" sz="2000"/>
              <a:t> </a:t>
            </a:r>
            <a:r>
              <a:rPr lang="it-IT" sz="2000" err="1"/>
              <a:t>physical</a:t>
            </a:r>
            <a:r>
              <a:rPr lang="it-IT" sz="2000"/>
              <a:t> </a:t>
            </a:r>
            <a:r>
              <a:rPr lang="it-IT" sz="2000" err="1"/>
              <a:t>meaning</a:t>
            </a:r>
            <a:r>
              <a:rPr lang="en-US" sz="2000"/>
              <a:t>.</a:t>
            </a:r>
            <a:endParaRPr lang="it-IT" sz="2000"/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06C69A8-6385-E6CA-C3D8-AFD219E3B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1609999"/>
              </p:ext>
            </p:extLst>
          </p:nvPr>
        </p:nvGraphicFramePr>
        <p:xfrm>
          <a:off x="372647" y="1161976"/>
          <a:ext cx="7296514" cy="4820406"/>
        </p:xfrm>
        <a:graphic>
          <a:graphicData uri="http://schemas.openxmlformats.org/drawingml/2006/table">
            <a:tbl>
              <a:tblPr firstRow="1">
                <a:tableStyleId>{7DF18680-E054-41AD-8BC1-D1AEF772440D}</a:tableStyleId>
              </a:tblPr>
              <a:tblGrid>
                <a:gridCol w="1216657">
                  <a:extLst>
                    <a:ext uri="{9D8B030D-6E8A-4147-A177-3AD203B41FA5}">
                      <a16:colId xmlns:a16="http://schemas.microsoft.com/office/drawing/2014/main" val="2145243458"/>
                    </a:ext>
                  </a:extLst>
                </a:gridCol>
                <a:gridCol w="2807808">
                  <a:extLst>
                    <a:ext uri="{9D8B030D-6E8A-4147-A177-3AD203B41FA5}">
                      <a16:colId xmlns:a16="http://schemas.microsoft.com/office/drawing/2014/main" val="1606309117"/>
                    </a:ext>
                  </a:extLst>
                </a:gridCol>
                <a:gridCol w="1767714">
                  <a:extLst>
                    <a:ext uri="{9D8B030D-6E8A-4147-A177-3AD203B41FA5}">
                      <a16:colId xmlns:a16="http://schemas.microsoft.com/office/drawing/2014/main" val="670275296"/>
                    </a:ext>
                  </a:extLst>
                </a:gridCol>
                <a:gridCol w="1504335">
                  <a:extLst>
                    <a:ext uri="{9D8B030D-6E8A-4147-A177-3AD203B41FA5}">
                      <a16:colId xmlns:a16="http://schemas.microsoft.com/office/drawing/2014/main" val="244215491"/>
                    </a:ext>
                  </a:extLst>
                </a:gridCol>
              </a:tblGrid>
              <a:tr h="496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>
                          <a:effectLst/>
                        </a:rPr>
                        <a:t>Parameter</a:t>
                      </a:r>
                      <a:endParaRPr lang="it-IT" sz="20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>
                          <a:effectLst/>
                        </a:rPr>
                        <a:t>Physical Meaning</a:t>
                      </a:r>
                      <a:endParaRPr lang="it-IT" sz="20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>
                          <a:effectLst/>
                        </a:rPr>
                        <a:t>Expected Range</a:t>
                      </a:r>
                      <a:endParaRPr lang="it-IT" sz="20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2000" b="1">
                          <a:effectLst/>
                        </a:rPr>
                        <a:t>Initialization</a:t>
                      </a:r>
                      <a:endParaRPr lang="it-IT" sz="20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>
                    <a:solidFill>
                      <a:srgbClr val="658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603875"/>
                  </a:ext>
                </a:extLst>
              </a:tr>
              <a:tr h="74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b="1">
                          <a:effectLst/>
                        </a:rPr>
                        <a:t>X</a:t>
                      </a:r>
                      <a:r>
                        <a:rPr lang="it-IT" sz="1800" b="1" baseline="-25000">
                          <a:effectLst/>
                        </a:rPr>
                        <a:t>u</a:t>
                      </a:r>
                      <a:endParaRPr lang="it-IT" sz="18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effectLst/>
                        </a:rPr>
                        <a:t>Axial damping:</a:t>
                      </a:r>
                      <a:r>
                        <a:rPr lang="it-IT" sz="1600">
                          <a:effectLst/>
                        </a:rPr>
                        <a:t> Aerodynamic drag resistance to forward motion.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effectLst/>
                        </a:rPr>
                        <a:t>Strictly Negative (&lt;0)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effectLst/>
                          <a:latin typeface="Google Sans Text"/>
                        </a:rPr>
                        <a:t>- 0.2</a:t>
                      </a:r>
                    </a:p>
                  </a:txBody>
                  <a:tcPr marL="47229" marR="47229" marT="31486" marB="31486" anchor="ctr"/>
                </a:tc>
                <a:extLst>
                  <a:ext uri="{0D108BD9-81ED-4DB2-BD59-A6C34878D82A}">
                    <a16:rowId xmlns:a16="http://schemas.microsoft.com/office/drawing/2014/main" val="428473674"/>
                  </a:ext>
                </a:extLst>
              </a:tr>
              <a:tr h="573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b="1">
                          <a:effectLst/>
                        </a:rPr>
                        <a:t>X</a:t>
                      </a:r>
                      <a:r>
                        <a:rPr lang="it-IT" sz="1800" b="1" baseline="-25000">
                          <a:effectLst/>
                        </a:rPr>
                        <a:t>q</a:t>
                      </a:r>
                      <a:endParaRPr lang="it-IT" sz="18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 err="1">
                          <a:effectLst/>
                        </a:rPr>
                        <a:t>Parasitic</a:t>
                      </a:r>
                      <a:r>
                        <a:rPr lang="it-IT" sz="1600" b="1">
                          <a:effectLst/>
                        </a:rPr>
                        <a:t> </a:t>
                      </a:r>
                      <a:r>
                        <a:rPr lang="it-IT" sz="1600" b="1" err="1">
                          <a:effectLst/>
                        </a:rPr>
                        <a:t>coupling</a:t>
                      </a:r>
                      <a:r>
                        <a:rPr lang="it-IT" sz="1600" b="1">
                          <a:effectLst/>
                        </a:rPr>
                        <a:t>:</a:t>
                      </a:r>
                      <a:r>
                        <a:rPr lang="it-IT" sz="1600">
                          <a:effectLst/>
                        </a:rPr>
                        <a:t> </a:t>
                      </a:r>
                      <a:r>
                        <a:rPr lang="it-IT" sz="1600" err="1">
                          <a:effectLst/>
                        </a:rPr>
                        <a:t>Longitudinal</a:t>
                      </a:r>
                      <a:r>
                        <a:rPr lang="it-IT" sz="1600">
                          <a:effectLst/>
                        </a:rPr>
                        <a:t> force </a:t>
                      </a:r>
                      <a:r>
                        <a:rPr lang="it-IT" sz="1600" err="1">
                          <a:effectLst/>
                        </a:rPr>
                        <a:t>induced</a:t>
                      </a:r>
                      <a:r>
                        <a:rPr lang="it-IT" sz="1600">
                          <a:effectLst/>
                        </a:rPr>
                        <a:t> by pitch </a:t>
                      </a:r>
                      <a:r>
                        <a:rPr lang="it-IT" sz="1600" err="1">
                          <a:effectLst/>
                        </a:rPr>
                        <a:t>rotation</a:t>
                      </a:r>
                      <a:r>
                        <a:rPr lang="it-IT" sz="1600">
                          <a:effectLst/>
                        </a:rPr>
                        <a:t>.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effectLst/>
                        </a:rPr>
                        <a:t>Close to Zero (</a:t>
                      </a:r>
                      <a:r>
                        <a:rPr lang="it-IT" sz="1600">
                          <a:effectLst/>
                          <a:latin typeface="Google Sans Text"/>
                        </a:rPr>
                        <a:t>≈0)</a:t>
                      </a: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effectLst/>
                          <a:latin typeface="Google Sans Text"/>
                        </a:rPr>
                        <a:t>0.2</a:t>
                      </a:r>
                    </a:p>
                  </a:txBody>
                  <a:tcPr marL="47229" marR="47229" marT="31486" marB="31486" anchor="ctr"/>
                </a:tc>
                <a:extLst>
                  <a:ext uri="{0D108BD9-81ED-4DB2-BD59-A6C34878D82A}">
                    <a16:rowId xmlns:a16="http://schemas.microsoft.com/office/drawing/2014/main" val="2815923106"/>
                  </a:ext>
                </a:extLst>
              </a:tr>
              <a:tr h="74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b="1">
                          <a:effectLst/>
                        </a:rPr>
                        <a:t>M</a:t>
                      </a:r>
                      <a:r>
                        <a:rPr lang="it-IT" sz="1800" b="1" baseline="-25000">
                          <a:effectLst/>
                        </a:rPr>
                        <a:t>u</a:t>
                      </a:r>
                      <a:endParaRPr lang="it-IT" sz="18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effectLst/>
                        </a:rPr>
                        <a:t>Speed </a:t>
                      </a:r>
                      <a:r>
                        <a:rPr lang="it-IT" sz="1600" b="1" err="1">
                          <a:effectLst/>
                        </a:rPr>
                        <a:t>stability</a:t>
                      </a:r>
                      <a:r>
                        <a:rPr lang="it-IT" sz="1600" b="1">
                          <a:effectLst/>
                        </a:rPr>
                        <a:t>:</a:t>
                      </a:r>
                      <a:r>
                        <a:rPr lang="it-IT" sz="1600">
                          <a:effectLst/>
                        </a:rPr>
                        <a:t> Pitching moment </a:t>
                      </a:r>
                      <a:r>
                        <a:rPr lang="it-IT" sz="1600" err="1">
                          <a:effectLst/>
                        </a:rPr>
                        <a:t>induced</a:t>
                      </a:r>
                      <a:r>
                        <a:rPr lang="it-IT" sz="1600">
                          <a:effectLst/>
                        </a:rPr>
                        <a:t> by </a:t>
                      </a:r>
                      <a:r>
                        <a:rPr lang="it-IT" sz="1600" err="1">
                          <a:effectLst/>
                        </a:rPr>
                        <a:t>asymmetric</a:t>
                      </a:r>
                      <a:r>
                        <a:rPr lang="it-IT" sz="1600">
                          <a:effectLst/>
                        </a:rPr>
                        <a:t> </a:t>
                      </a:r>
                      <a:r>
                        <a:rPr lang="it-IT" sz="1600" err="1">
                          <a:effectLst/>
                        </a:rPr>
                        <a:t>airflow</a:t>
                      </a:r>
                      <a:r>
                        <a:rPr lang="it-IT" sz="1600">
                          <a:effectLst/>
                        </a:rPr>
                        <a:t> </a:t>
                      </a:r>
                      <a:r>
                        <a:rPr lang="it-IT" sz="1600" err="1">
                          <a:effectLst/>
                        </a:rPr>
                        <a:t>during</a:t>
                      </a:r>
                      <a:r>
                        <a:rPr lang="it-IT" sz="1600">
                          <a:effectLst/>
                        </a:rPr>
                        <a:t> </a:t>
                      </a:r>
                      <a:r>
                        <a:rPr lang="it-IT" sz="1600" err="1">
                          <a:effectLst/>
                        </a:rPr>
                        <a:t>forward</a:t>
                      </a:r>
                      <a:r>
                        <a:rPr lang="it-IT" sz="1600">
                          <a:effectLst/>
                        </a:rPr>
                        <a:t> </a:t>
                      </a:r>
                      <a:r>
                        <a:rPr lang="it-IT" sz="1600" err="1">
                          <a:effectLst/>
                        </a:rPr>
                        <a:t>motion</a:t>
                      </a:r>
                      <a:r>
                        <a:rPr lang="it-IT" sz="1600">
                          <a:effectLst/>
                        </a:rPr>
                        <a:t>.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effectLst/>
                        </a:rPr>
                        <a:t>Negative (&lt;0)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effectLst/>
                          <a:latin typeface="Google Sans Text"/>
                        </a:rPr>
                        <a:t>- 0.5</a:t>
                      </a:r>
                    </a:p>
                  </a:txBody>
                  <a:tcPr marL="47229" marR="47229" marT="31486" marB="31486" anchor="ctr"/>
                </a:tc>
                <a:extLst>
                  <a:ext uri="{0D108BD9-81ED-4DB2-BD59-A6C34878D82A}">
                    <a16:rowId xmlns:a16="http://schemas.microsoft.com/office/drawing/2014/main" val="794567562"/>
                  </a:ext>
                </a:extLst>
              </a:tr>
              <a:tr h="74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b="1">
                          <a:effectLst/>
                        </a:rPr>
                        <a:t>M</a:t>
                      </a:r>
                      <a:r>
                        <a:rPr lang="it-IT" sz="1800" b="1" baseline="-25000">
                          <a:effectLst/>
                        </a:rPr>
                        <a:t>q</a:t>
                      </a:r>
                      <a:endParaRPr lang="it-IT" sz="18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effectLst/>
                        </a:rPr>
                        <a:t>Pitch damping:</a:t>
                      </a:r>
                      <a:r>
                        <a:rPr lang="it-IT" sz="1600">
                          <a:effectLst/>
                        </a:rPr>
                        <a:t> Rotational aerodynamic braking (crucial for natural stability).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effectLst/>
                        </a:rPr>
                        <a:t>Strictly Negative (&lt;0)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it-IT" sz="1600">
                          <a:effectLst/>
                          <a:latin typeface="Google Sans Text"/>
                        </a:rPr>
                        <a:t>- 3</a:t>
                      </a:r>
                    </a:p>
                  </a:txBody>
                  <a:tcPr marL="47229" marR="47229" marT="31486" marB="31486" anchor="ctr"/>
                </a:tc>
                <a:extLst>
                  <a:ext uri="{0D108BD9-81ED-4DB2-BD59-A6C34878D82A}">
                    <a16:rowId xmlns:a16="http://schemas.microsoft.com/office/drawing/2014/main" val="1794204271"/>
                  </a:ext>
                </a:extLst>
              </a:tr>
              <a:tr h="5730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b="1">
                          <a:effectLst/>
                        </a:rPr>
                        <a:t>X</a:t>
                      </a:r>
                      <a:r>
                        <a:rPr lang="el-GR" sz="1800" b="1" baseline="-25000">
                          <a:effectLst/>
                        </a:rPr>
                        <a:t>δ</a:t>
                      </a:r>
                      <a:endParaRPr lang="it-IT" sz="18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effectLst/>
                        </a:rPr>
                        <a:t>Control force:</a:t>
                      </a:r>
                      <a:r>
                        <a:rPr lang="it-IT" sz="1600">
                          <a:effectLst/>
                        </a:rPr>
                        <a:t> Horizontal force induced by thrust vector tilting.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effectLst/>
                        </a:rPr>
                        <a:t>Negative (&lt;0)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it-IT" sz="1600">
                          <a:effectLst/>
                          <a:latin typeface="Google Sans Text"/>
                        </a:rPr>
                        <a:t>- 10</a:t>
                      </a:r>
                    </a:p>
                  </a:txBody>
                  <a:tcPr marL="47229" marR="47229" marT="31486" marB="31486" anchor="ctr"/>
                </a:tc>
                <a:extLst>
                  <a:ext uri="{0D108BD9-81ED-4DB2-BD59-A6C34878D82A}">
                    <a16:rowId xmlns:a16="http://schemas.microsoft.com/office/drawing/2014/main" val="3875196478"/>
                  </a:ext>
                </a:extLst>
              </a:tr>
              <a:tr h="7430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800" b="1">
                          <a:effectLst/>
                        </a:rPr>
                        <a:t>M</a:t>
                      </a:r>
                      <a:r>
                        <a:rPr lang="el-GR" sz="1800" b="1" baseline="-25000">
                          <a:effectLst/>
                        </a:rPr>
                        <a:t>δ</a:t>
                      </a:r>
                      <a:endParaRPr lang="it-IT" sz="18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 b="1">
                          <a:effectLst/>
                        </a:rPr>
                        <a:t>Control authority:</a:t>
                      </a:r>
                      <a:r>
                        <a:rPr lang="it-IT" sz="1600">
                          <a:effectLst/>
                        </a:rPr>
                        <a:t> Pitching moment generated by differential rotor thrust.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600">
                          <a:effectLst/>
                        </a:rPr>
                        <a:t>Highly Positive (&gt;&gt;0)</a:t>
                      </a:r>
                      <a:endParaRPr lang="it-IT" sz="1600">
                        <a:effectLst/>
                        <a:latin typeface="Google Sans Text"/>
                      </a:endParaRPr>
                    </a:p>
                  </a:txBody>
                  <a:tcPr marL="47229" marR="47229" marT="31486" marB="314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it-IT" sz="1600">
                          <a:effectLst/>
                          <a:latin typeface="Google Sans Text"/>
                        </a:rPr>
                        <a:t>400</a:t>
                      </a:r>
                    </a:p>
                  </a:txBody>
                  <a:tcPr marL="47229" marR="47229" marT="31486" marB="31486" anchor="ctr"/>
                </a:tc>
                <a:extLst>
                  <a:ext uri="{0D108BD9-81ED-4DB2-BD59-A6C34878D82A}">
                    <a16:rowId xmlns:a16="http://schemas.microsoft.com/office/drawing/2014/main" val="4090241096"/>
                  </a:ext>
                </a:extLst>
              </a:tr>
            </a:tbl>
          </a:graphicData>
        </a:graphic>
      </p:graphicFrame>
      <p:pic>
        <p:nvPicPr>
          <p:cNvPr id="11" name="Immagine 10">
            <a:extLst>
              <a:ext uri="{FF2B5EF4-FFF2-40B4-BE49-F238E27FC236}">
                <a16:creationId xmlns:a16="http://schemas.microsoft.com/office/drawing/2014/main" id="{67CA341C-96BA-254A-3361-F0FC960816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747" t="11246" r="3254" b="8536"/>
          <a:stretch>
            <a:fillRect/>
          </a:stretch>
        </p:blipFill>
        <p:spPr>
          <a:xfrm>
            <a:off x="8251276" y="3100471"/>
            <a:ext cx="3477574" cy="111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51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2859-D119-4EAD-02A9-D5C1671A3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F0BEE34-F0D8-0A44-D099-7DE35EB59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12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779B89E-4BC2-B400-5D2F-6BC258AF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Grey Box Model: Performance </a:t>
            </a:r>
            <a:r>
              <a:rPr lang="it-IT" err="1"/>
              <a:t>metrics</a:t>
            </a:r>
            <a:endParaRPr lang="it-IT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DAFFD001-9910-57B1-0C25-0C6FFC59E023}"/>
              </a:ext>
            </a:extLst>
          </p:cNvPr>
          <p:cNvGrpSpPr/>
          <p:nvPr/>
        </p:nvGrpSpPr>
        <p:grpSpPr>
          <a:xfrm>
            <a:off x="894081" y="1856580"/>
            <a:ext cx="4533325" cy="1454777"/>
            <a:chOff x="1420243" y="1246834"/>
            <a:chExt cx="2620815" cy="1454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asellaDiTesto 7">
                  <a:extLst>
                    <a:ext uri="{FF2B5EF4-FFF2-40B4-BE49-F238E27FC236}">
                      <a16:creationId xmlns:a16="http://schemas.microsoft.com/office/drawing/2014/main" id="{067A769B-E081-D7C1-E906-399F818FA0F3}"/>
                    </a:ext>
                  </a:extLst>
                </p:cNvPr>
                <p:cNvSpPr txBox="1"/>
                <p:nvPr/>
              </p:nvSpPr>
              <p:spPr>
                <a:xfrm>
                  <a:off x="1534087" y="1937439"/>
                  <a:ext cx="2325445" cy="56368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acc>
                              <m:accPr>
                                <m:chr m:val="̂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acc>
                          </m:sub>
                        </m:sSub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nor/>
                              </m:rPr>
                              <a:rPr lang="it-IT" i="0" smtClean="0">
                                <a:latin typeface="Cambria Math" panose="02040503050406030204" pitchFamily="18" charset="0"/>
                              </a:rPr>
                              <m:t>diag</m:t>
                            </m:r>
                            <m:sSub>
                              <m:sSub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it-IT" i="0" smtClean="0">
                                        <a:latin typeface="Cambria Math" panose="02040503050406030204" pitchFamily="18" charset="0"/>
                                      </a:rPr>
                                      <m:t>Cov</m:t>
                                    </m:r>
                                    <m:d>
                                      <m:d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it-IT" i="0" smtClean="0">
                                                <a:latin typeface="Cambria Math" panose="02040503050406030204" pitchFamily="18" charset="0"/>
                                              </a:rPr>
                                              <m:t>Θ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</m:d>
                              </m:e>
                              <m:sub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rad>
                      </m:oMath>
                    </m:oMathPara>
                  </a14:m>
                  <a:endParaRPr lang="it-IT"/>
                </a:p>
              </p:txBody>
            </p:sp>
          </mc:Choice>
          <mc:Fallback xmlns="">
            <p:sp>
              <p:nvSpPr>
                <p:cNvPr id="8" name="CasellaDiTesto 7">
                  <a:extLst>
                    <a:ext uri="{FF2B5EF4-FFF2-40B4-BE49-F238E27FC236}">
                      <a16:creationId xmlns:a16="http://schemas.microsoft.com/office/drawing/2014/main" id="{067A769B-E081-D7C1-E906-399F818FA0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4087" y="1937439"/>
                  <a:ext cx="2325445" cy="563680"/>
                </a:xfrm>
                <a:prstGeom prst="rect">
                  <a:avLst/>
                </a:prstGeom>
                <a:blipFill>
                  <a:blip r:embed="rId2"/>
                  <a:stretch>
                    <a:fillRect b="-10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" name="Gruppo 4">
              <a:extLst>
                <a:ext uri="{FF2B5EF4-FFF2-40B4-BE49-F238E27FC236}">
                  <a16:creationId xmlns:a16="http://schemas.microsoft.com/office/drawing/2014/main" id="{97BBFCA2-73DD-7A91-AABC-E30E2AD0444B}"/>
                </a:ext>
              </a:extLst>
            </p:cNvPr>
            <p:cNvGrpSpPr/>
            <p:nvPr/>
          </p:nvGrpSpPr>
          <p:grpSpPr>
            <a:xfrm>
              <a:off x="1420243" y="1246834"/>
              <a:ext cx="2620815" cy="1454777"/>
              <a:chOff x="334296" y="4095729"/>
              <a:chExt cx="5716670" cy="1454777"/>
            </a:xfrm>
          </p:grpSpPr>
          <p:sp>
            <p:nvSpPr>
              <p:cNvPr id="6" name="Rettangolo 5">
                <a:extLst>
                  <a:ext uri="{FF2B5EF4-FFF2-40B4-BE49-F238E27FC236}">
                    <a16:creationId xmlns:a16="http://schemas.microsoft.com/office/drawing/2014/main" id="{C6288567-3B82-3B72-4F54-D8F3B34AE07E}"/>
                  </a:ext>
                </a:extLst>
              </p:cNvPr>
              <p:cNvSpPr/>
              <p:nvPr/>
            </p:nvSpPr>
            <p:spPr>
              <a:xfrm>
                <a:off x="334296" y="4583695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EF37D656-7DD7-78B9-0879-4C2556EA5C3E}"/>
                  </a:ext>
                </a:extLst>
              </p:cNvPr>
              <p:cNvSpPr/>
              <p:nvPr/>
            </p:nvSpPr>
            <p:spPr>
              <a:xfrm>
                <a:off x="334296" y="4095729"/>
                <a:ext cx="5716670" cy="5188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Standard </a:t>
                </a:r>
                <a:r>
                  <a:rPr lang="it-IT" b="1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Deviation</a:t>
                </a:r>
                <a:endParaRPr lang="it-IT" b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7476B631-E544-C76D-2B60-1C11230A63DE}"/>
              </a:ext>
            </a:extLst>
          </p:cNvPr>
          <p:cNvGrpSpPr/>
          <p:nvPr/>
        </p:nvGrpSpPr>
        <p:grpSpPr>
          <a:xfrm>
            <a:off x="6764595" y="1856580"/>
            <a:ext cx="4533324" cy="1454777"/>
            <a:chOff x="4832912" y="1748279"/>
            <a:chExt cx="3102596" cy="1454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A88381BE-5273-728E-5788-064B85BE23C5}"/>
                    </a:ext>
                  </a:extLst>
                </p:cNvPr>
                <p:cNvSpPr txBox="1"/>
                <p:nvPr/>
              </p:nvSpPr>
              <p:spPr>
                <a:xfrm>
                  <a:off x="5316865" y="2435661"/>
                  <a:ext cx="1964577" cy="59881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it-IT" i="0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it-IT" i="1" smtClean="0">
                                <a:latin typeface="Cambria Math" panose="02040503050406030204" pitchFamily="18" charset="0"/>
                              </a:rPr>
                              <m:t>%</m:t>
                            </m:r>
                          </m:e>
                        </m:d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acc>
                                  <m:accPr>
                                    <m:chr m:val="̂"/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sub>
                            </m:sSub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den>
                        </m:f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⋅100</m:t>
                        </m:r>
                      </m:oMath>
                    </m:oMathPara>
                  </a14:m>
                  <a:endParaRPr lang="it-IT"/>
                </a:p>
              </p:txBody>
            </p:sp>
          </mc:Choice>
          <mc:Fallback xmlns="">
            <p:sp>
              <p:nvSpPr>
                <p:cNvPr id="7" name="CasellaDiTesto 6">
                  <a:extLst>
                    <a:ext uri="{FF2B5EF4-FFF2-40B4-BE49-F238E27FC236}">
                      <a16:creationId xmlns:a16="http://schemas.microsoft.com/office/drawing/2014/main" id="{A88381BE-5273-728E-5788-064B85BE2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6865" y="2435661"/>
                  <a:ext cx="1964577" cy="59881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E54C9890-3453-C5C9-FBB5-371183936F2B}"/>
                </a:ext>
              </a:extLst>
            </p:cNvPr>
            <p:cNvGrpSpPr/>
            <p:nvPr/>
          </p:nvGrpSpPr>
          <p:grpSpPr>
            <a:xfrm>
              <a:off x="4832912" y="1748279"/>
              <a:ext cx="3102596" cy="1454777"/>
              <a:chOff x="334296" y="4095729"/>
              <a:chExt cx="5716670" cy="1454777"/>
            </a:xfrm>
          </p:grpSpPr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6C5969B7-23ED-ED2E-377D-E09BF320A127}"/>
                  </a:ext>
                </a:extLst>
              </p:cNvPr>
              <p:cNvSpPr/>
              <p:nvPr/>
            </p:nvSpPr>
            <p:spPr>
              <a:xfrm>
                <a:off x="334296" y="4583695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676324C8-759F-D097-03A0-7E9823ABC15F}"/>
                  </a:ext>
                </a:extLst>
              </p:cNvPr>
              <p:cNvSpPr/>
              <p:nvPr/>
            </p:nvSpPr>
            <p:spPr>
              <a:xfrm>
                <a:off x="334296" y="4095729"/>
                <a:ext cx="5716670" cy="5188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Coefficient</a:t>
                </a:r>
                <a:r>
                  <a:rPr lang="it-IT" b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 of </a:t>
                </a:r>
                <a:r>
                  <a:rPr lang="it-IT" b="1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Variation</a:t>
                </a:r>
                <a:endParaRPr lang="it-IT" b="1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BC84D9CF-EDB9-A571-EA01-2FAEAA46899C}"/>
              </a:ext>
            </a:extLst>
          </p:cNvPr>
          <p:cNvGrpSpPr/>
          <p:nvPr/>
        </p:nvGrpSpPr>
        <p:grpSpPr>
          <a:xfrm>
            <a:off x="894082" y="3682773"/>
            <a:ext cx="4533325" cy="2189539"/>
            <a:chOff x="783539" y="3496145"/>
            <a:chExt cx="4533325" cy="21895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F441DE54-D847-75ED-278F-03E289963DAD}"/>
                    </a:ext>
                  </a:extLst>
                </p:cNvPr>
                <p:cNvSpPr txBox="1"/>
                <p:nvPr/>
              </p:nvSpPr>
              <p:spPr>
                <a:xfrm>
                  <a:off x="984744" y="4512268"/>
                  <a:ext cx="4247830" cy="89171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FIT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it-IT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it-IT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|"/>
                                            <m:endChr m:val="|"/>
                                            <m:ctrlP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d>
                                              <m:dPr>
                                                <m:begChr m:val="|"/>
                                                <m:endChr m:val="|"/>
                                                <m:ctrlPr>
                                                  <a:rPr lang="it-IT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dPr>
                                              <m:e>
                                                <m:sSub>
                                                  <m:sSubPr>
                                                    <m:ctrlP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sSubPr>
                                                  <m:e>
                                                    <m: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  <m:sub>
                                                    <m: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  <m:t>𝑚</m:t>
                                                    </m:r>
                                                  </m:sub>
                                                </m:sSub>
                                                <m:r>
                                                  <a:rPr lang="it-IT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−</m:t>
                                                </m:r>
                                                <m:r>
                                                  <a:rPr lang="it-IT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  <m:d>
                                                  <m:dPr>
                                                    <m:ctrlPr>
                                                      <a:rPr lang="it-IT" i="1" smtClean="0"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dPr>
                                                  <m:e>
                                                    <m:sSub>
                                                      <m:sSubPr>
                                                        <m:ctrlPr>
                                                          <a:rPr lang="it-IT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sSubPr>
                                                      <m:e>
                                                        <m:r>
                                                          <a:rPr lang="it-IT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𝑦</m:t>
                                                        </m:r>
                                                      </m:e>
                                                      <m:sub>
                                                        <m:r>
                                                          <a:rPr lang="it-IT" i="1" smtClean="0"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𝑚</m:t>
                                                        </m:r>
                                                      </m:sub>
                                                    </m:sSub>
                                                  </m:e>
                                                </m:d>
                                              </m:e>
                                            </m:d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⋅100</m:t>
                        </m:r>
                      </m:oMath>
                    </m:oMathPara>
                  </a14:m>
                  <a:endParaRPr lang="it-IT"/>
                </a:p>
              </p:txBody>
            </p:sp>
          </mc:Choice>
          <mc:Fallback xmlns="">
            <p:sp>
              <p:nvSpPr>
                <p:cNvPr id="4" name="CasellaDiTesto 3">
                  <a:extLst>
                    <a:ext uri="{FF2B5EF4-FFF2-40B4-BE49-F238E27FC236}">
                      <a16:creationId xmlns:a16="http://schemas.microsoft.com/office/drawing/2014/main" id="{F441DE54-D847-75ED-278F-03E289963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744" y="4512268"/>
                  <a:ext cx="4247830" cy="89171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9" name="Gruppo 18">
              <a:extLst>
                <a:ext uri="{FF2B5EF4-FFF2-40B4-BE49-F238E27FC236}">
                  <a16:creationId xmlns:a16="http://schemas.microsoft.com/office/drawing/2014/main" id="{973DF807-6B0C-9C31-02F5-D1D59D77A6A0}"/>
                </a:ext>
              </a:extLst>
            </p:cNvPr>
            <p:cNvGrpSpPr/>
            <p:nvPr/>
          </p:nvGrpSpPr>
          <p:grpSpPr>
            <a:xfrm>
              <a:off x="783539" y="3496145"/>
              <a:ext cx="4533325" cy="2189539"/>
              <a:chOff x="334296" y="4095729"/>
              <a:chExt cx="5716670" cy="1454777"/>
            </a:xfrm>
          </p:grpSpPr>
          <p:sp>
            <p:nvSpPr>
              <p:cNvPr id="20" name="Rettangolo 19">
                <a:extLst>
                  <a:ext uri="{FF2B5EF4-FFF2-40B4-BE49-F238E27FC236}">
                    <a16:creationId xmlns:a16="http://schemas.microsoft.com/office/drawing/2014/main" id="{1ECC0795-CD9F-0743-D289-4D5FBC1B3EEC}"/>
                  </a:ext>
                </a:extLst>
              </p:cNvPr>
              <p:cNvSpPr/>
              <p:nvPr/>
            </p:nvSpPr>
            <p:spPr>
              <a:xfrm>
                <a:off x="334296" y="4583695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Rettangolo 20">
                <a:extLst>
                  <a:ext uri="{FF2B5EF4-FFF2-40B4-BE49-F238E27FC236}">
                    <a16:creationId xmlns:a16="http://schemas.microsoft.com/office/drawing/2014/main" id="{DB916922-A406-FE3D-947A-80C875A548B3}"/>
                  </a:ext>
                </a:extLst>
              </p:cNvPr>
              <p:cNvSpPr/>
              <p:nvPr/>
            </p:nvSpPr>
            <p:spPr>
              <a:xfrm>
                <a:off x="334296" y="4095729"/>
                <a:ext cx="5716670" cy="5188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Fitting </a:t>
                </a:r>
                <a:r>
                  <a:rPr lang="it-IT" b="1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Percentage</a:t>
                </a:r>
                <a:endParaRPr lang="it-IT" b="1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CF3F8FE-B3D1-E7EA-5AE7-111ED6F60FA3}"/>
              </a:ext>
            </a:extLst>
          </p:cNvPr>
          <p:cNvSpPr txBox="1"/>
          <p:nvPr/>
        </p:nvSpPr>
        <p:spPr>
          <a:xfrm>
            <a:off x="218182" y="1085055"/>
            <a:ext cx="114653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The following parameters are evaluated to quantify the performances of the identified method.</a:t>
            </a:r>
            <a:endParaRPr lang="it-IT" sz="2000"/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973779B1-73F0-C5FC-4F9F-2A0F5F0C5C17}"/>
              </a:ext>
            </a:extLst>
          </p:cNvPr>
          <p:cNvGrpSpPr/>
          <p:nvPr/>
        </p:nvGrpSpPr>
        <p:grpSpPr>
          <a:xfrm>
            <a:off x="6764595" y="3682773"/>
            <a:ext cx="4533325" cy="2189537"/>
            <a:chOff x="783539" y="3496145"/>
            <a:chExt cx="4533325" cy="218953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asellaDiTesto 30">
                  <a:extLst>
                    <a:ext uri="{FF2B5EF4-FFF2-40B4-BE49-F238E27FC236}">
                      <a16:creationId xmlns:a16="http://schemas.microsoft.com/office/drawing/2014/main" id="{6E554082-2EEB-2CBD-A546-9A5AA0736E4D}"/>
                    </a:ext>
                  </a:extLst>
                </p:cNvPr>
                <p:cNvSpPr txBox="1"/>
                <p:nvPr/>
              </p:nvSpPr>
              <p:spPr>
                <a:xfrm>
                  <a:off x="1090273" y="4646950"/>
                  <a:ext cx="3919855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it-IT" i="0" smtClean="0">
                            <a:latin typeface="Cambria Math" panose="02040503050406030204" pitchFamily="18" charset="0"/>
                          </a:rPr>
                          <m:t>VAF</m:t>
                        </m:r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=</m:t>
                        </m:r>
                        <m:func>
                          <m:funcPr>
                            <m:ctrlPr>
                              <a:rPr lang="it-IT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it-IT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it-IT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nor/>
                                      </m:rPr>
                                      <a:rPr lang="it-IT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it-IT" i="1" smtClean="0">
                                                <a:latin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num>
                                  <m:den>
                                    <m:r>
                                      <m:rPr>
                                        <m:nor/>
                                      </m:rPr>
                                      <a:rPr lang="it-IT" i="0" smtClean="0">
                                        <a:latin typeface="Cambria Math" panose="02040503050406030204" pitchFamily="18" charset="0"/>
                                      </a:rPr>
                                      <m:t>Var</m:t>
                                    </m:r>
                                    <m:d>
                                      <m:dPr>
                                        <m:ctrlP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it-IT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it-IT" i="1" smtClean="0">
                                    <a:latin typeface="Cambria Math" panose="02040503050406030204" pitchFamily="18" charset="0"/>
                                  </a:rPr>
                                  <m:t>,0</m:t>
                                </m:r>
                              </m:e>
                            </m:d>
                          </m:e>
                        </m:func>
                        <m:r>
                          <a:rPr lang="it-IT" i="1" smtClean="0">
                            <a:latin typeface="Cambria Math" panose="02040503050406030204" pitchFamily="18" charset="0"/>
                          </a:rPr>
                          <m:t>⋅100</m:t>
                        </m:r>
                      </m:oMath>
                    </m:oMathPara>
                  </a14:m>
                  <a:endParaRPr lang="it-IT"/>
                </a:p>
              </p:txBody>
            </p:sp>
          </mc:Choice>
          <mc:Fallback xmlns="">
            <p:sp>
              <p:nvSpPr>
                <p:cNvPr id="31" name="CasellaDiTesto 30">
                  <a:extLst>
                    <a:ext uri="{FF2B5EF4-FFF2-40B4-BE49-F238E27FC236}">
                      <a16:creationId xmlns:a16="http://schemas.microsoft.com/office/drawing/2014/main" id="{6E554082-2EEB-2CBD-A546-9A5AA0736E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0273" y="4646950"/>
                  <a:ext cx="3919855" cy="62235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2" name="Gruppo 31">
              <a:extLst>
                <a:ext uri="{FF2B5EF4-FFF2-40B4-BE49-F238E27FC236}">
                  <a16:creationId xmlns:a16="http://schemas.microsoft.com/office/drawing/2014/main" id="{CA2D8C08-4086-A9DC-43CD-636FE91C60A6}"/>
                </a:ext>
              </a:extLst>
            </p:cNvPr>
            <p:cNvGrpSpPr/>
            <p:nvPr/>
          </p:nvGrpSpPr>
          <p:grpSpPr>
            <a:xfrm>
              <a:off x="783539" y="3496145"/>
              <a:ext cx="4533325" cy="2189537"/>
              <a:chOff x="334296" y="4095730"/>
              <a:chExt cx="5716670" cy="1454776"/>
            </a:xfrm>
          </p:grpSpPr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386BCB7B-5385-86F7-94D5-33E0198E96C1}"/>
                  </a:ext>
                </a:extLst>
              </p:cNvPr>
              <p:cNvSpPr/>
              <p:nvPr/>
            </p:nvSpPr>
            <p:spPr>
              <a:xfrm>
                <a:off x="334296" y="4583695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Rettangolo 33">
                <a:extLst>
                  <a:ext uri="{FF2B5EF4-FFF2-40B4-BE49-F238E27FC236}">
                    <a16:creationId xmlns:a16="http://schemas.microsoft.com/office/drawing/2014/main" id="{A32A200C-1DCE-4D1E-E540-E7C1A8D9DE78}"/>
                  </a:ext>
                </a:extLst>
              </p:cNvPr>
              <p:cNvSpPr/>
              <p:nvPr/>
            </p:nvSpPr>
            <p:spPr>
              <a:xfrm>
                <a:off x="334296" y="4095730"/>
                <a:ext cx="5716670" cy="51880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Variance</a:t>
                </a:r>
                <a:r>
                  <a:rPr lang="it-IT" b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b="1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Accounted</a:t>
                </a:r>
                <a:r>
                  <a:rPr lang="it-IT" b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 For (VAF)</a:t>
                </a:r>
                <a:endParaRPr lang="it-IT" b="1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4423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62612-604B-7B22-811E-10E35B56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9559ECBE-AE01-733F-4A4A-CAE4B1591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13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D7E841B-AB44-61D0-B34C-47E825C5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Grey Box Model: </a:t>
            </a:r>
            <a:r>
              <a:rPr lang="it-IT" err="1"/>
              <a:t>Results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ella 5">
                <a:extLst>
                  <a:ext uri="{FF2B5EF4-FFF2-40B4-BE49-F238E27FC236}">
                    <a16:creationId xmlns:a16="http://schemas.microsoft.com/office/drawing/2014/main" id="{7D0EEDF6-B8B4-A7C0-A768-0D208DD542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4211143"/>
                  </p:ext>
                </p:extLst>
              </p:nvPr>
            </p:nvGraphicFramePr>
            <p:xfrm>
              <a:off x="1128881" y="3488960"/>
              <a:ext cx="9885107" cy="2642934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1455174">
                      <a:extLst>
                        <a:ext uri="{9D8B030D-6E8A-4147-A177-3AD203B41FA5}">
                          <a16:colId xmlns:a16="http://schemas.microsoft.com/office/drawing/2014/main" val="1756280216"/>
                        </a:ext>
                      </a:extLst>
                    </a:gridCol>
                    <a:gridCol w="1831616">
                      <a:extLst>
                        <a:ext uri="{9D8B030D-6E8A-4147-A177-3AD203B41FA5}">
                          <a16:colId xmlns:a16="http://schemas.microsoft.com/office/drawing/2014/main" val="3757679133"/>
                        </a:ext>
                      </a:extLst>
                    </a:gridCol>
                    <a:gridCol w="2199439">
                      <a:extLst>
                        <a:ext uri="{9D8B030D-6E8A-4147-A177-3AD203B41FA5}">
                          <a16:colId xmlns:a16="http://schemas.microsoft.com/office/drawing/2014/main" val="3177595454"/>
                        </a:ext>
                      </a:extLst>
                    </a:gridCol>
                    <a:gridCol w="2199439">
                      <a:extLst>
                        <a:ext uri="{9D8B030D-6E8A-4147-A177-3AD203B41FA5}">
                          <a16:colId xmlns:a16="http://schemas.microsoft.com/office/drawing/2014/main" val="3293011682"/>
                        </a:ext>
                      </a:extLst>
                    </a:gridCol>
                    <a:gridCol w="2199439">
                      <a:extLst>
                        <a:ext uri="{9D8B030D-6E8A-4147-A177-3AD203B41FA5}">
                          <a16:colId xmlns:a16="http://schemas.microsoft.com/office/drawing/2014/main" val="2418468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Parameters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Real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Estimate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it-IT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it-IT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acc>
                            </m:oMath>
                          </a14:m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)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STD (σ)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CV (%)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499148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X</a:t>
                          </a:r>
                          <a:r>
                            <a:rPr lang="it-IT" sz="1800" b="1" baseline="-25000">
                              <a:effectLst/>
                            </a:rPr>
                            <a:t>u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- 0.1068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-0.0005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0.0160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3399.0%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8074581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X</a:t>
                          </a:r>
                          <a:r>
                            <a:rPr lang="it-IT" sz="1800" b="1" baseline="-25000">
                              <a:effectLst/>
                            </a:rPr>
                            <a:t>q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0.1192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0.0271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0.0426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157.6%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117593546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M</a:t>
                          </a:r>
                          <a:r>
                            <a:rPr lang="it-IT" sz="1800" b="1" baseline="-25000">
                              <a:effectLst/>
                            </a:rPr>
                            <a:t>u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-5.9755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-2.2932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0.8216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35.8%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2512028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M</a:t>
                          </a:r>
                          <a:r>
                            <a:rPr lang="it-IT" sz="1800" b="1" baseline="-25000">
                              <a:effectLst/>
                            </a:rPr>
                            <a:t>q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-2.6478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-2.9632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0.5247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17.7%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58146877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X</a:t>
                          </a:r>
                          <a:r>
                            <a:rPr lang="el-GR" sz="1800" b="1" baseline="-25000">
                              <a:effectLst/>
                            </a:rPr>
                            <a:t>δ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-10.1647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-7.1878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0.5132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7.1%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225004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M</a:t>
                          </a:r>
                          <a:r>
                            <a:rPr lang="el-GR" sz="1800" b="1" baseline="-25000">
                              <a:effectLst/>
                            </a:rPr>
                            <a:t>δ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450.71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421.7164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15.4739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3.7%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5963268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ella 5">
                <a:extLst>
                  <a:ext uri="{FF2B5EF4-FFF2-40B4-BE49-F238E27FC236}">
                    <a16:creationId xmlns:a16="http://schemas.microsoft.com/office/drawing/2014/main" id="{7D0EEDF6-B8B4-A7C0-A768-0D208DD5429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54211143"/>
                  </p:ext>
                </p:extLst>
              </p:nvPr>
            </p:nvGraphicFramePr>
            <p:xfrm>
              <a:off x="1128881" y="3488960"/>
              <a:ext cx="9885107" cy="2642934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1455174">
                      <a:extLst>
                        <a:ext uri="{9D8B030D-6E8A-4147-A177-3AD203B41FA5}">
                          <a16:colId xmlns:a16="http://schemas.microsoft.com/office/drawing/2014/main" val="1756280216"/>
                        </a:ext>
                      </a:extLst>
                    </a:gridCol>
                    <a:gridCol w="1831616">
                      <a:extLst>
                        <a:ext uri="{9D8B030D-6E8A-4147-A177-3AD203B41FA5}">
                          <a16:colId xmlns:a16="http://schemas.microsoft.com/office/drawing/2014/main" val="3757679133"/>
                        </a:ext>
                      </a:extLst>
                    </a:gridCol>
                    <a:gridCol w="2199439">
                      <a:extLst>
                        <a:ext uri="{9D8B030D-6E8A-4147-A177-3AD203B41FA5}">
                          <a16:colId xmlns:a16="http://schemas.microsoft.com/office/drawing/2014/main" val="3177595454"/>
                        </a:ext>
                      </a:extLst>
                    </a:gridCol>
                    <a:gridCol w="2199439">
                      <a:extLst>
                        <a:ext uri="{9D8B030D-6E8A-4147-A177-3AD203B41FA5}">
                          <a16:colId xmlns:a16="http://schemas.microsoft.com/office/drawing/2014/main" val="3293011682"/>
                        </a:ext>
                      </a:extLst>
                    </a:gridCol>
                    <a:gridCol w="2199439">
                      <a:extLst>
                        <a:ext uri="{9D8B030D-6E8A-4147-A177-3AD203B41FA5}">
                          <a16:colId xmlns:a16="http://schemas.microsoft.com/office/drawing/2014/main" val="241846821"/>
                        </a:ext>
                      </a:extLst>
                    </a:gridCol>
                  </a:tblGrid>
                  <a:tr h="387414"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Parameters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Real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50800" marB="50800" anchor="ctr">
                        <a:blipFill>
                          <a:blip r:embed="rId3"/>
                          <a:stretch>
                            <a:fillRect l="-149584" t="-4688" r="-201108" b="-6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STD (σ)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b="1">
                              <a:solidFill>
                                <a:schemeClr val="bg1"/>
                              </a:solidFill>
                              <a:effectLst/>
                            </a:rPr>
                            <a:t>CV (%)</a:t>
                          </a:r>
                          <a:endParaRPr lang="it-IT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4991485"/>
                      </a:ext>
                    </a:extLst>
                  </a:tr>
                  <a:tr h="3759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X</a:t>
                          </a:r>
                          <a:r>
                            <a:rPr lang="it-IT" sz="1800" b="1" baseline="-25000">
                              <a:effectLst/>
                            </a:rPr>
                            <a:t>u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- 0.1068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-0.0005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0.0160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3399.0%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807458129"/>
                      </a:ext>
                    </a:extLst>
                  </a:tr>
                  <a:tr h="3759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X</a:t>
                          </a:r>
                          <a:r>
                            <a:rPr lang="it-IT" sz="1800" b="1" baseline="-25000">
                              <a:effectLst/>
                            </a:rPr>
                            <a:t>q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0.1192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0.0271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0.0426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157.6%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117593546"/>
                      </a:ext>
                    </a:extLst>
                  </a:tr>
                  <a:tr h="3759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M</a:t>
                          </a:r>
                          <a:r>
                            <a:rPr lang="it-IT" sz="1800" b="1" baseline="-25000">
                              <a:effectLst/>
                            </a:rPr>
                            <a:t>u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-5.9755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-2.2932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0.8216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35.8%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251202832"/>
                      </a:ext>
                    </a:extLst>
                  </a:tr>
                  <a:tr h="3759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M</a:t>
                          </a:r>
                          <a:r>
                            <a:rPr lang="it-IT" sz="1800" b="1" baseline="-25000">
                              <a:effectLst/>
                            </a:rPr>
                            <a:t>q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-2.6478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-2.9632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0.5247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17.7%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581468770"/>
                      </a:ext>
                    </a:extLst>
                  </a:tr>
                  <a:tr h="3759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X</a:t>
                          </a:r>
                          <a:r>
                            <a:rPr lang="el-GR" sz="1800" b="1" baseline="-25000">
                              <a:effectLst/>
                            </a:rPr>
                            <a:t>δ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-10.1647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-7.1878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0.5132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7.1%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22500464"/>
                      </a:ext>
                    </a:extLst>
                  </a:tr>
                  <a:tr h="37592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 b="1">
                              <a:effectLst/>
                            </a:rPr>
                            <a:t>M</a:t>
                          </a:r>
                          <a:r>
                            <a:rPr lang="el-GR" sz="1800" b="1" baseline="-25000">
                              <a:effectLst/>
                            </a:rPr>
                            <a:t>δ</a:t>
                          </a:r>
                          <a:endParaRPr lang="it-IT" sz="18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800">
                              <a:effectLst/>
                              <a:latin typeface="Google Sans Text"/>
                            </a:rPr>
                            <a:t>450.71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421.7164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15.4739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>
                              <a:solidFill>
                                <a:srgbClr val="1F1F1F"/>
                              </a:solidFill>
                              <a:effectLst/>
                            </a:rPr>
                            <a:t>3.7%</a:t>
                          </a:r>
                          <a:endParaRPr lang="it-IT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59632684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2FC70773-7BC8-6FEF-0E39-2D8E9C2C244F}"/>
              </a:ext>
            </a:extLst>
          </p:cNvPr>
          <p:cNvSpPr txBox="1"/>
          <p:nvPr/>
        </p:nvSpPr>
        <p:spPr>
          <a:xfrm>
            <a:off x="363303" y="962080"/>
            <a:ext cx="11616572" cy="2590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Strict Physical Consistency: </a:t>
            </a:r>
            <a:r>
              <a:rPr lang="en-US" sz="2000"/>
              <a:t>All estimated parameters exhibit complete sign concordance with the truth model, confirming that the identification successfully preserves the underlying flight mechanics.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Negligible Parasitic Coupling </a:t>
            </a:r>
            <a:r>
              <a:rPr lang="en-US" sz="2000"/>
              <a:t>(</a:t>
            </a:r>
            <a:r>
              <a:rPr lang="it-IT" sz="2000" b="1" err="1"/>
              <a:t>X</a:t>
            </a:r>
            <a:r>
              <a:rPr lang="it-IT" sz="2000" b="1" baseline="-25000" err="1"/>
              <a:t>u</a:t>
            </a:r>
            <a:r>
              <a:rPr lang="en-US" sz="2000"/>
              <a:t>): </a:t>
            </a:r>
            <a:r>
              <a:rPr lang="en-US" sz="1900"/>
              <a:t>The high CV is inflated by its near-zero estimated magnitude (denominator effect), confirming that this specific coupling provides negligible information during the maneuver.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Open-Loop Instability Preservation</a:t>
            </a:r>
            <a:r>
              <a:rPr lang="en-US" sz="2000"/>
              <a:t>: </a:t>
            </a:r>
            <a:r>
              <a:rPr lang="en-US" sz="1900"/>
              <a:t>The identified state-space model correctly exhibits instability, matching the inherent unstable nature of the true nominal quadrotor system.</a:t>
            </a:r>
            <a:endParaRPr lang="it-IT" sz="1900"/>
          </a:p>
        </p:txBody>
      </p:sp>
    </p:spTree>
    <p:extLst>
      <p:ext uri="{BB962C8B-B14F-4D97-AF65-F5344CB8AC3E}">
        <p14:creationId xmlns:p14="http://schemas.microsoft.com/office/powerpoint/2010/main" val="6844607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DAF26-7D62-1890-5383-035970014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FA32E5CC-16B1-A358-770D-7741B2348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Grey Box Model: </a:t>
            </a:r>
            <a:r>
              <a:rPr lang="it-IT" err="1"/>
              <a:t>Results</a:t>
            </a:r>
            <a:endParaRPr lang="it-IT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AEA8CF21-FC03-21C8-3BA8-530B5E278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491078"/>
              </p:ext>
            </p:extLst>
          </p:nvPr>
        </p:nvGraphicFramePr>
        <p:xfrm>
          <a:off x="470940" y="4018801"/>
          <a:ext cx="10801662" cy="128269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00554">
                  <a:extLst>
                    <a:ext uri="{9D8B030D-6E8A-4147-A177-3AD203B41FA5}">
                      <a16:colId xmlns:a16="http://schemas.microsoft.com/office/drawing/2014/main" val="3860331367"/>
                    </a:ext>
                  </a:extLst>
                </a:gridCol>
                <a:gridCol w="3600554">
                  <a:extLst>
                    <a:ext uri="{9D8B030D-6E8A-4147-A177-3AD203B41FA5}">
                      <a16:colId xmlns:a16="http://schemas.microsoft.com/office/drawing/2014/main" val="4284097543"/>
                    </a:ext>
                  </a:extLst>
                </a:gridCol>
                <a:gridCol w="3600554">
                  <a:extLst>
                    <a:ext uri="{9D8B030D-6E8A-4147-A177-3AD203B41FA5}">
                      <a16:colId xmlns:a16="http://schemas.microsoft.com/office/drawing/2014/main" val="2686692562"/>
                    </a:ext>
                  </a:extLst>
                </a:gridCol>
              </a:tblGrid>
              <a:tr h="427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 b="1">
                          <a:solidFill>
                            <a:schemeClr val="bg1"/>
                          </a:solidFill>
                          <a:effectLst/>
                        </a:rPr>
                        <a:t>Output Channel</a:t>
                      </a:r>
                      <a:endParaRPr lang="it-IT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 b="1">
                          <a:solidFill>
                            <a:schemeClr val="bg1"/>
                          </a:solidFill>
                          <a:effectLst/>
                        </a:rPr>
                        <a:t>Variance Accounted For (VAF)</a:t>
                      </a:r>
                      <a:endParaRPr lang="it-IT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 b="1">
                          <a:solidFill>
                            <a:schemeClr val="bg1"/>
                          </a:solidFill>
                          <a:effectLst/>
                        </a:rPr>
                        <a:t>FIT Percentage</a:t>
                      </a:r>
                      <a:endParaRPr lang="it-IT" sz="2000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650248"/>
                  </a:ext>
                </a:extLst>
              </a:tr>
              <a:tr h="427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 b="1">
                          <a:solidFill>
                            <a:srgbClr val="1F1F1F"/>
                          </a:solidFill>
                          <a:effectLst/>
                        </a:rPr>
                        <a:t>Pitch Rate (q)</a:t>
                      </a:r>
                      <a:endParaRPr lang="it-IT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>
                          <a:solidFill>
                            <a:srgbClr val="1F1F1F"/>
                          </a:solidFill>
                          <a:effectLst/>
                        </a:rPr>
                        <a:t>94.2 %</a:t>
                      </a:r>
                      <a:endParaRPr lang="it-IT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>
                          <a:solidFill>
                            <a:srgbClr val="1F1F1F"/>
                          </a:solidFill>
                          <a:effectLst/>
                        </a:rPr>
                        <a:t>74.0 %</a:t>
                      </a:r>
                      <a:endParaRPr lang="it-IT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095636235"/>
                  </a:ext>
                </a:extLst>
              </a:tr>
              <a:tr h="42756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 b="1">
                          <a:solidFill>
                            <a:srgbClr val="1F1F1F"/>
                          </a:solidFill>
                          <a:effectLst/>
                        </a:rPr>
                        <a:t>Long. Acceleration (a</a:t>
                      </a:r>
                      <a:r>
                        <a:rPr lang="it-IT" sz="2000" b="1" baseline="-25000">
                          <a:solidFill>
                            <a:srgbClr val="1F1F1F"/>
                          </a:solidFill>
                          <a:effectLst/>
                        </a:rPr>
                        <a:t>x</a:t>
                      </a:r>
                      <a:r>
                        <a:rPr lang="it-IT" sz="2000" b="1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it-IT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>
                          <a:solidFill>
                            <a:srgbClr val="1F1F1F"/>
                          </a:solidFill>
                          <a:effectLst/>
                        </a:rPr>
                        <a:t>21.2 %</a:t>
                      </a:r>
                      <a:endParaRPr lang="it-IT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2000">
                          <a:solidFill>
                            <a:srgbClr val="1F1F1F"/>
                          </a:solidFill>
                          <a:effectLst/>
                        </a:rPr>
                        <a:t>-6.9 %</a:t>
                      </a:r>
                      <a:endParaRPr lang="it-IT" sz="20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4252679301"/>
                  </a:ext>
                </a:extLst>
              </a:tr>
            </a:tbl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AEE13F4-18AE-A7F7-D868-7198CDBA1B4A}"/>
              </a:ext>
            </a:extLst>
          </p:cNvPr>
          <p:cNvSpPr txBox="1"/>
          <p:nvPr/>
        </p:nvSpPr>
        <p:spPr>
          <a:xfrm>
            <a:off x="105355" y="992061"/>
            <a:ext cx="11879281" cy="2594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Channel Disparity</a:t>
            </a:r>
            <a:r>
              <a:rPr lang="en-US" sz="2000"/>
              <a:t>: The Pitch Rate (q) exhibits solid validation metrics due to a high Signal-to-Noise Ratio (SNR) and direct control coupling. Conversely, the a</a:t>
            </a:r>
            <a:r>
              <a:rPr lang="en-US" sz="2000" baseline="-25000"/>
              <a:t>x</a:t>
            </a:r>
            <a:r>
              <a:rPr lang="en-US" sz="2000"/>
              <a:t> channel metrics are severely degraded by sensor noise.</a:t>
            </a:r>
            <a:endParaRPr lang="it-IT" sz="2000"/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The "Negative FIT" Paradox (a</a:t>
            </a:r>
            <a:r>
              <a:rPr lang="en-US" sz="2000" b="1" baseline="-25000"/>
              <a:t>x</a:t>
            </a:r>
            <a:r>
              <a:rPr lang="en-US" sz="2000" b="1"/>
              <a:t>): </a:t>
            </a:r>
            <a:r>
              <a:rPr lang="en-US" sz="2000"/>
              <a:t>Mathematically, a FIT &lt; 0% implies that the model output represents the validation data worse than its simple arithmetic mean.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it-IT" sz="2000" b="1" err="1"/>
              <a:t>Physical</a:t>
            </a:r>
            <a:r>
              <a:rPr lang="it-IT" sz="2000" b="1"/>
              <a:t> </a:t>
            </a:r>
            <a:r>
              <a:rPr lang="it-IT" sz="2000" b="1" err="1"/>
              <a:t>Interpretation</a:t>
            </a:r>
            <a:r>
              <a:rPr lang="it-IT" sz="2000" b="1"/>
              <a:t>:</a:t>
            </a:r>
            <a:r>
              <a:rPr lang="it-IT" sz="2000"/>
              <a:t> </a:t>
            </a:r>
            <a:r>
              <a:rPr lang="it-IT" sz="2000" err="1"/>
              <a:t>Since</a:t>
            </a:r>
            <a:r>
              <a:rPr lang="it-IT" sz="2000"/>
              <a:t> fitting procedure </a:t>
            </a:r>
            <a:r>
              <a:rPr lang="it-IT" sz="2000" err="1"/>
              <a:t>operates</a:t>
            </a:r>
            <a:r>
              <a:rPr lang="it-IT" sz="2000"/>
              <a:t> </a:t>
            </a:r>
            <a:r>
              <a:rPr lang="it-IT" sz="2000" err="1"/>
              <a:t>directly</a:t>
            </a:r>
            <a:r>
              <a:rPr lang="it-IT" sz="2000"/>
              <a:t> on the frequency-domain data, the </a:t>
            </a:r>
            <a:r>
              <a:rPr lang="it-IT" sz="2000" err="1"/>
              <a:t>extreme</a:t>
            </a:r>
            <a:r>
              <a:rPr lang="it-IT" sz="2000"/>
              <a:t> high-frequency </a:t>
            </a:r>
            <a:r>
              <a:rPr lang="it-IT" sz="2000" err="1"/>
              <a:t>variance</a:t>
            </a:r>
            <a:r>
              <a:rPr lang="it-IT" sz="2000"/>
              <a:t> of the </a:t>
            </a:r>
            <a:r>
              <a:rPr lang="it-IT" sz="2000" err="1"/>
              <a:t>measured</a:t>
            </a:r>
            <a:r>
              <a:rPr lang="it-IT" sz="2000"/>
              <a:t> Welch FRF </a:t>
            </a:r>
            <a:r>
              <a:rPr lang="it-IT" sz="2000" err="1"/>
              <a:t>heavily</a:t>
            </a:r>
            <a:r>
              <a:rPr lang="it-IT" sz="2000"/>
              <a:t> </a:t>
            </a:r>
            <a:r>
              <a:rPr lang="it-IT" sz="2000" err="1"/>
              <a:t>penalizes</a:t>
            </a:r>
            <a:r>
              <a:rPr lang="it-IT" sz="2000"/>
              <a:t> the </a:t>
            </a:r>
            <a:r>
              <a:rPr lang="it-IT" sz="2000" err="1"/>
              <a:t>metric</a:t>
            </a:r>
            <a:r>
              <a:rPr lang="it-IT" sz="2000"/>
              <a:t>. </a:t>
            </a:r>
          </a:p>
        </p:txBody>
      </p:sp>
      <p:sp>
        <p:nvSpPr>
          <p:cNvPr id="11" name="Segnaposto numero diapositiva 1">
            <a:extLst>
              <a:ext uri="{FF2B5EF4-FFF2-40B4-BE49-F238E27FC236}">
                <a16:creationId xmlns:a16="http://schemas.microsoft.com/office/drawing/2014/main" id="{5B5CCE3B-DCE6-B7F8-12EE-0680E751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/>
          <a:p>
            <a:fld id="{DCE09022-C08B-4F34-B9F0-43AC160DA04C}" type="slidenum">
              <a:rPr lang="it-IT" smtClean="0"/>
              <a:pPr/>
              <a:t>14</a:t>
            </a:fld>
            <a:r>
              <a:rPr lang="it-IT" dirty="0"/>
              <a:t>/49</a:t>
            </a:r>
          </a:p>
        </p:txBody>
      </p:sp>
    </p:spTree>
    <p:extLst>
      <p:ext uri="{BB962C8B-B14F-4D97-AF65-F5344CB8AC3E}">
        <p14:creationId xmlns:p14="http://schemas.microsoft.com/office/powerpoint/2010/main" val="3132043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0993B-055B-ADE7-3BCF-60B9799D5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1345D7D-4E5E-27FD-D223-72AC4845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15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3105E515-AFDC-0F05-4D43-F6603E45C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FRF </a:t>
            </a:r>
            <a:r>
              <a:rPr lang="it-IT" err="1"/>
              <a:t>Validation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13B10370-DF83-DC99-07C2-4D1CADC6B86C}"/>
              </a:ext>
            </a:extLst>
          </p:cNvPr>
          <p:cNvSpPr txBox="1"/>
          <p:nvPr/>
        </p:nvSpPr>
        <p:spPr>
          <a:xfrm>
            <a:off x="8746066" y="1015206"/>
            <a:ext cx="3340579" cy="5186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Model Fidelity</a:t>
            </a:r>
            <a:r>
              <a:rPr lang="en-US" sz="2000"/>
              <a:t>: </a:t>
            </a:r>
            <a:r>
              <a:rPr lang="en-US" sz="1900"/>
              <a:t>estimated FRF tracks the True Model significantly better than the raw measured (Welch) FRF, successfully filtering out high-frequency stochastic noise.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9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SNR-Driven Channel Disparity</a:t>
            </a:r>
            <a:r>
              <a:rPr lang="en-US" sz="2000"/>
              <a:t>: </a:t>
            </a:r>
            <a:r>
              <a:rPr lang="en-US" sz="1900"/>
              <a:t>Pitch Rate FRF is estimated with much higher accuracy than the acceleration, directly reflecting the direct control coupling on the rotational axis.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74FA9FF-2EC4-16F1-5978-3E39186AC9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2" t="7654" r="8840" b="3950"/>
          <a:stretch>
            <a:fillRect/>
          </a:stretch>
        </p:blipFill>
        <p:spPr>
          <a:xfrm>
            <a:off x="431029" y="1015206"/>
            <a:ext cx="8315037" cy="5186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959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3FC91-625F-4A2C-1018-E94BCFC17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15E7E93-84C0-A650-BD24-5D1BB7135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16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88F8A4A7-11F5-D588-1BAA-0FC1806D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System </a:t>
            </a:r>
            <a:r>
              <a:rPr lang="it-IT" err="1"/>
              <a:t>Validation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E81CBAD3-4680-FEDC-020E-A65716206B20}"/>
              </a:ext>
            </a:extLst>
          </p:cNvPr>
          <p:cNvSpPr txBox="1"/>
          <p:nvPr/>
        </p:nvSpPr>
        <p:spPr>
          <a:xfrm>
            <a:off x="9144000" y="1091150"/>
            <a:ext cx="3048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Simulation</a:t>
            </a:r>
            <a:r>
              <a:rPr lang="it-IT" sz="2000" b="1"/>
              <a:t>: </a:t>
            </a:r>
            <a:r>
              <a:rPr lang="it-IT" sz="2000"/>
              <a:t>The </a:t>
            </a:r>
            <a:r>
              <a:rPr lang="it-IT" sz="2000" err="1"/>
              <a:t>validation</a:t>
            </a:r>
            <a:r>
              <a:rPr lang="it-IT" sz="2000"/>
              <a:t> </a:t>
            </a:r>
            <a:r>
              <a:rPr lang="it-IT" sz="2000" err="1"/>
              <a:t>results</a:t>
            </a:r>
            <a:r>
              <a:rPr lang="it-IT" sz="2000"/>
              <a:t> </a:t>
            </a:r>
            <a:r>
              <a:rPr lang="it-IT" sz="2000" err="1"/>
              <a:t>demonstrate</a:t>
            </a:r>
            <a:r>
              <a:rPr lang="it-IT" sz="2000"/>
              <a:t> </a:t>
            </a:r>
            <a:r>
              <a:rPr lang="it-IT" sz="2000" err="1"/>
              <a:t>that</a:t>
            </a:r>
            <a:r>
              <a:rPr lang="it-IT" sz="2000"/>
              <a:t> the </a:t>
            </a:r>
            <a:r>
              <a:rPr lang="it-IT" sz="2000" err="1"/>
              <a:t>identified</a:t>
            </a:r>
            <a:r>
              <a:rPr lang="it-IT" sz="2000"/>
              <a:t> system </a:t>
            </a:r>
            <a:r>
              <a:rPr lang="it-IT" sz="2000" err="1"/>
              <a:t>accurately</a:t>
            </a:r>
            <a:r>
              <a:rPr lang="it-IT" sz="2000"/>
              <a:t> </a:t>
            </a:r>
            <a:r>
              <a:rPr lang="it-IT" sz="2000" err="1"/>
              <a:t>simulates</a:t>
            </a:r>
            <a:r>
              <a:rPr lang="it-IT" sz="2000"/>
              <a:t> the system dynamics.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Noise</a:t>
            </a:r>
            <a:r>
              <a:rPr lang="it-IT" sz="2000" b="1"/>
              <a:t> </a:t>
            </a:r>
            <a:r>
              <a:rPr lang="it-IT" sz="2000" b="1" err="1"/>
              <a:t>seed</a:t>
            </a:r>
            <a:r>
              <a:rPr lang="it-IT" sz="2000" b="1"/>
              <a:t>: </a:t>
            </a:r>
            <a:r>
              <a:rPr lang="it-IT" sz="2000" err="1"/>
              <a:t>Since</a:t>
            </a:r>
            <a:r>
              <a:rPr lang="it-IT" sz="2000"/>
              <a:t> the </a:t>
            </a:r>
            <a:r>
              <a:rPr lang="it-IT" sz="2000" err="1"/>
              <a:t>same</a:t>
            </a:r>
            <a:r>
              <a:rPr lang="it-IT" sz="2000"/>
              <a:t> </a:t>
            </a:r>
            <a:r>
              <a:rPr lang="it-IT" sz="2000" err="1"/>
              <a:t>seed</a:t>
            </a:r>
            <a:r>
              <a:rPr lang="it-IT" sz="2000"/>
              <a:t> </a:t>
            </a:r>
            <a:r>
              <a:rPr lang="it-IT" sz="2000" err="1"/>
              <a:t>was</a:t>
            </a:r>
            <a:r>
              <a:rPr lang="it-IT" sz="2000"/>
              <a:t> </a:t>
            </a:r>
            <a:r>
              <a:rPr lang="it-IT" sz="2000" err="1"/>
              <a:t>used</a:t>
            </a:r>
            <a:r>
              <a:rPr lang="it-IT" sz="2000"/>
              <a:t>, the </a:t>
            </a:r>
            <a:r>
              <a:rPr lang="it-IT" sz="2000" err="1"/>
              <a:t>noise</a:t>
            </a:r>
            <a:r>
              <a:rPr lang="it-IT" sz="2000"/>
              <a:t> </a:t>
            </a:r>
            <a:r>
              <a:rPr lang="it-IT" sz="2000" err="1"/>
              <a:t>profile</a:t>
            </a:r>
            <a:r>
              <a:rPr lang="it-IT" sz="2000"/>
              <a:t>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err="1"/>
              <a:t>identical</a:t>
            </a:r>
            <a:r>
              <a:rPr lang="it-IT" sz="2000"/>
              <a:t> in </a:t>
            </a:r>
            <a:r>
              <a:rPr lang="it-IT" sz="2000" err="1"/>
              <a:t>both</a:t>
            </a:r>
            <a:r>
              <a:rPr lang="it-IT" sz="2000"/>
              <a:t> </a:t>
            </a:r>
            <a:r>
              <a:rPr lang="it-IT" sz="2000" err="1"/>
              <a:t>simulations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Noise</a:t>
            </a:r>
            <a:r>
              <a:rPr lang="it-IT" sz="2000" b="1"/>
              <a:t> Free: </a:t>
            </a:r>
            <a:r>
              <a:rPr lang="it-IT" sz="2000"/>
              <a:t>A </a:t>
            </a:r>
            <a:r>
              <a:rPr lang="it-IT" sz="2000" err="1"/>
              <a:t>noise</a:t>
            </a:r>
            <a:r>
              <a:rPr lang="it-IT" sz="2000"/>
              <a:t>-free </a:t>
            </a:r>
            <a:r>
              <a:rPr lang="it-IT" sz="2000" err="1"/>
              <a:t>simulation</a:t>
            </a:r>
            <a:r>
              <a:rPr lang="it-IT" sz="2000"/>
              <a:t> of the </a:t>
            </a:r>
            <a:r>
              <a:rPr lang="it-IT" sz="2000" err="1"/>
              <a:t>identified</a:t>
            </a:r>
            <a:r>
              <a:rPr lang="it-IT" sz="2000"/>
              <a:t> model </a:t>
            </a:r>
            <a:r>
              <a:rPr lang="it-IT" sz="2000" err="1"/>
              <a:t>reveals</a:t>
            </a:r>
            <a:r>
              <a:rPr lang="it-IT" sz="2000"/>
              <a:t> the </a:t>
            </a:r>
            <a:r>
              <a:rPr lang="it-IT" sz="2000" err="1"/>
              <a:t>true</a:t>
            </a:r>
            <a:r>
              <a:rPr lang="it-IT" sz="2000"/>
              <a:t> </a:t>
            </a:r>
            <a:r>
              <a:rPr lang="it-IT" sz="2000" err="1"/>
              <a:t>dynamic</a:t>
            </a:r>
            <a:r>
              <a:rPr lang="it-IT" sz="2000"/>
              <a:t> </a:t>
            </a:r>
            <a:r>
              <a:rPr lang="it-IT" sz="2000" err="1"/>
              <a:t>evolution</a:t>
            </a:r>
            <a:r>
              <a:rPr lang="it-IT" sz="2000"/>
              <a:t>.</a:t>
            </a:r>
            <a:endParaRPr lang="en-US" sz="200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28135F7-2E12-B26C-997E-810024C6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0" t="3672" r="8276" b="2670"/>
          <a:stretch>
            <a:fillRect/>
          </a:stretch>
        </p:blipFill>
        <p:spPr>
          <a:xfrm>
            <a:off x="0" y="1391495"/>
            <a:ext cx="9160525" cy="437535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02FF922-D2DD-C999-A620-9B6C50D8FB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1" t="4792" r="8548" b="3182"/>
          <a:stretch>
            <a:fillRect/>
          </a:stretch>
        </p:blipFill>
        <p:spPr>
          <a:xfrm>
            <a:off x="16525" y="1448888"/>
            <a:ext cx="9144000" cy="43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54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0687D-D8BA-DEA1-2105-95D2B03DC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37B7AC4-75BA-F50A-3D1D-65B7FFB6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17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13A1929-B2E8-1895-5AC3-BE6238B3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System </a:t>
            </a:r>
            <a:r>
              <a:rPr lang="it-IT" err="1"/>
              <a:t>Validation</a:t>
            </a:r>
            <a:endParaRPr lang="it-IT"/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9BFE49DE-95E1-D5D6-D594-B3C93966E019}"/>
              </a:ext>
            </a:extLst>
          </p:cNvPr>
          <p:cNvSpPr txBox="1"/>
          <p:nvPr/>
        </p:nvSpPr>
        <p:spPr>
          <a:xfrm>
            <a:off x="8858423" y="977061"/>
            <a:ext cx="3333577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Simulation</a:t>
            </a:r>
            <a:r>
              <a:rPr lang="it-IT" sz="2000" b="1"/>
              <a:t>:</a:t>
            </a:r>
            <a:r>
              <a:rPr lang="it-IT" sz="1900" b="1"/>
              <a:t> </a:t>
            </a:r>
            <a:r>
              <a:rPr lang="it-IT" sz="1900"/>
              <a:t>The </a:t>
            </a:r>
            <a:r>
              <a:rPr lang="it-IT" sz="1900" err="1"/>
              <a:t>validation</a:t>
            </a:r>
            <a:r>
              <a:rPr lang="it-IT" sz="1900"/>
              <a:t> </a:t>
            </a:r>
            <a:r>
              <a:rPr lang="it-IT" sz="1900" err="1"/>
              <a:t>results</a:t>
            </a:r>
            <a:r>
              <a:rPr lang="it-IT" sz="1900"/>
              <a:t> </a:t>
            </a:r>
            <a:r>
              <a:rPr lang="it-IT" sz="1900" err="1"/>
              <a:t>demonstrate</a:t>
            </a:r>
            <a:r>
              <a:rPr lang="it-IT" sz="1900"/>
              <a:t> </a:t>
            </a:r>
            <a:r>
              <a:rPr lang="it-IT" sz="1900" err="1"/>
              <a:t>that</a:t>
            </a:r>
            <a:r>
              <a:rPr lang="it-IT" sz="1900"/>
              <a:t> the </a:t>
            </a:r>
            <a:r>
              <a:rPr lang="it-IT" sz="1900" err="1"/>
              <a:t>identified</a:t>
            </a:r>
            <a:r>
              <a:rPr lang="it-IT" sz="1900"/>
              <a:t> system </a:t>
            </a:r>
            <a:r>
              <a:rPr lang="it-IT" sz="1900" err="1"/>
              <a:t>accurately</a:t>
            </a:r>
            <a:r>
              <a:rPr lang="it-IT" sz="1900"/>
              <a:t> </a:t>
            </a:r>
            <a:r>
              <a:rPr lang="it-IT" sz="1900" err="1"/>
              <a:t>simulates</a:t>
            </a:r>
            <a:r>
              <a:rPr lang="it-IT" sz="1900"/>
              <a:t> the system dynamics.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Noise</a:t>
            </a:r>
            <a:r>
              <a:rPr lang="it-IT" sz="2000" b="1"/>
              <a:t> </a:t>
            </a:r>
            <a:r>
              <a:rPr lang="it-IT" sz="2000" b="1" err="1"/>
              <a:t>seed</a:t>
            </a:r>
            <a:r>
              <a:rPr lang="it-IT" sz="2000" b="1"/>
              <a:t>: </a:t>
            </a:r>
            <a:r>
              <a:rPr lang="it-IT" sz="1900" err="1"/>
              <a:t>Since</a:t>
            </a:r>
            <a:r>
              <a:rPr lang="it-IT" sz="1900"/>
              <a:t> the </a:t>
            </a:r>
            <a:r>
              <a:rPr lang="it-IT" sz="1900" err="1"/>
              <a:t>same</a:t>
            </a:r>
            <a:r>
              <a:rPr lang="it-IT" sz="1900"/>
              <a:t> </a:t>
            </a:r>
            <a:r>
              <a:rPr lang="it-IT" sz="1900" err="1"/>
              <a:t>seed</a:t>
            </a:r>
            <a:r>
              <a:rPr lang="it-IT" sz="1900"/>
              <a:t> </a:t>
            </a:r>
            <a:r>
              <a:rPr lang="it-IT" sz="1900" err="1"/>
              <a:t>was</a:t>
            </a:r>
            <a:r>
              <a:rPr lang="it-IT" sz="1900"/>
              <a:t> </a:t>
            </a:r>
            <a:r>
              <a:rPr lang="it-IT" sz="1900" err="1"/>
              <a:t>used</a:t>
            </a:r>
            <a:r>
              <a:rPr lang="it-IT" sz="1900"/>
              <a:t>, the </a:t>
            </a:r>
            <a:r>
              <a:rPr lang="it-IT" sz="1900" err="1"/>
              <a:t>noise</a:t>
            </a:r>
            <a:r>
              <a:rPr lang="it-IT" sz="1900"/>
              <a:t> </a:t>
            </a:r>
            <a:r>
              <a:rPr lang="it-IT" sz="1900" err="1"/>
              <a:t>profile</a:t>
            </a:r>
            <a:r>
              <a:rPr lang="it-IT" sz="1900"/>
              <a:t> </a:t>
            </a:r>
            <a:r>
              <a:rPr lang="it-IT" sz="1900" err="1"/>
              <a:t>is</a:t>
            </a:r>
            <a:r>
              <a:rPr lang="it-IT" sz="1900"/>
              <a:t> </a:t>
            </a:r>
            <a:r>
              <a:rPr lang="it-IT" sz="1900" err="1"/>
              <a:t>identical</a:t>
            </a:r>
            <a:r>
              <a:rPr lang="it-IT" sz="1900"/>
              <a:t> in </a:t>
            </a:r>
            <a:r>
              <a:rPr lang="it-IT" sz="1900" err="1"/>
              <a:t>both</a:t>
            </a:r>
            <a:r>
              <a:rPr lang="it-IT" sz="1900"/>
              <a:t> </a:t>
            </a:r>
            <a:r>
              <a:rPr lang="it-IT" sz="1900" err="1"/>
              <a:t>simulations</a:t>
            </a:r>
            <a:r>
              <a:rPr lang="it-IT" sz="19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Noise</a:t>
            </a:r>
            <a:r>
              <a:rPr lang="it-IT" sz="2000" b="1"/>
              <a:t> Free: </a:t>
            </a:r>
            <a:r>
              <a:rPr lang="it-IT" sz="1900"/>
              <a:t>A </a:t>
            </a:r>
            <a:r>
              <a:rPr lang="it-IT" sz="1900" err="1"/>
              <a:t>noise</a:t>
            </a:r>
            <a:r>
              <a:rPr lang="it-IT" sz="1900"/>
              <a:t>-free </a:t>
            </a:r>
            <a:r>
              <a:rPr lang="it-IT" sz="1900" err="1"/>
              <a:t>simulation</a:t>
            </a:r>
            <a:r>
              <a:rPr lang="it-IT" sz="1900"/>
              <a:t> of the </a:t>
            </a:r>
            <a:r>
              <a:rPr lang="it-IT" sz="1900" err="1"/>
              <a:t>identified</a:t>
            </a:r>
            <a:r>
              <a:rPr lang="it-IT" sz="1900"/>
              <a:t> model </a:t>
            </a:r>
            <a:r>
              <a:rPr lang="it-IT" sz="1900" err="1"/>
              <a:t>reveals</a:t>
            </a:r>
            <a:r>
              <a:rPr lang="it-IT" sz="1900"/>
              <a:t> the </a:t>
            </a:r>
            <a:r>
              <a:rPr lang="it-IT" sz="1900" err="1"/>
              <a:t>true</a:t>
            </a:r>
            <a:r>
              <a:rPr lang="it-IT" sz="1900"/>
              <a:t> </a:t>
            </a:r>
            <a:r>
              <a:rPr lang="it-IT" sz="1900" err="1"/>
              <a:t>dynamic</a:t>
            </a:r>
            <a:r>
              <a:rPr lang="it-IT" sz="1900"/>
              <a:t> </a:t>
            </a:r>
            <a:r>
              <a:rPr lang="it-IT" sz="1900" err="1"/>
              <a:t>evolution</a:t>
            </a:r>
            <a:r>
              <a:rPr lang="it-IT" sz="1900"/>
              <a:t>.</a:t>
            </a:r>
            <a:endParaRPr lang="en-US" sz="1900"/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50E070F-AC0F-358F-6826-5077BE964E68}"/>
              </a:ext>
            </a:extLst>
          </p:cNvPr>
          <p:cNvSpPr/>
          <p:nvPr/>
        </p:nvSpPr>
        <p:spPr>
          <a:xfrm>
            <a:off x="1491703" y="5456729"/>
            <a:ext cx="4198574" cy="645459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Direct </a:t>
            </a:r>
            <a:r>
              <a:rPr lang="it-IT" b="1" err="1"/>
              <a:t>Coupling</a:t>
            </a:r>
            <a:r>
              <a:rPr lang="it-IT" b="1"/>
              <a:t> </a:t>
            </a:r>
            <a:r>
              <a:rPr lang="it-IT" b="1" err="1"/>
              <a:t>Validation</a:t>
            </a:r>
            <a:r>
              <a:rPr lang="it-IT" b="1"/>
              <a:t> (q)</a:t>
            </a:r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F594F27-8159-0A7A-9BFB-13A107B88DCE}"/>
              </a:ext>
            </a:extLst>
          </p:cNvPr>
          <p:cNvSpPr/>
          <p:nvPr/>
        </p:nvSpPr>
        <p:spPr>
          <a:xfrm>
            <a:off x="6850569" y="5456729"/>
            <a:ext cx="3957277" cy="645458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Pitch-to-Acceleration </a:t>
            </a:r>
            <a:r>
              <a:rPr lang="it-IT" b="1" err="1"/>
              <a:t>Preservation</a:t>
            </a:r>
            <a:r>
              <a:rPr lang="it-IT" b="1"/>
              <a:t> (</a:t>
            </a:r>
            <a:r>
              <a:rPr lang="it-IT" b="1" err="1"/>
              <a:t>a</a:t>
            </a:r>
            <a:r>
              <a:rPr lang="it-IT" sz="1200" b="1" err="1"/>
              <a:t>x</a:t>
            </a:r>
            <a:r>
              <a:rPr lang="it-IT" b="1"/>
              <a:t>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FF81372-6EC1-B27A-FC5A-860D519E6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0" t="4798" r="8629" b="2587"/>
          <a:stretch>
            <a:fillRect/>
          </a:stretch>
        </p:blipFill>
        <p:spPr>
          <a:xfrm>
            <a:off x="107994" y="1059136"/>
            <a:ext cx="8721213" cy="41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9498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7FF51-0167-28D1-00D3-26C627F0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BEDEAE-1348-A0CB-BFDC-4ED93A476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Project Tasks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D46AAB8-961F-697F-C14E-8C78A7718BE9}"/>
              </a:ext>
            </a:extLst>
          </p:cNvPr>
          <p:cNvSpPr txBox="1"/>
          <p:nvPr/>
        </p:nvSpPr>
        <p:spPr>
          <a:xfrm>
            <a:off x="363303" y="1124334"/>
            <a:ext cx="1146539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Task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Sensitivity analysis to perturbations in measurement noise properties</a:t>
            </a:r>
            <a:br>
              <a:rPr lang="en-US" sz="2000"/>
            </a:br>
            <a:endParaRPr lang="it-IT" sz="20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C3FE1F1-D2E5-D6E3-8709-67400A7417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7" t="2831" r="8319" b="1352"/>
          <a:stretch>
            <a:fillRect/>
          </a:stretch>
        </p:blipFill>
        <p:spPr>
          <a:xfrm>
            <a:off x="460314" y="1941512"/>
            <a:ext cx="6261352" cy="4238572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61B86882-E1B2-1EF3-3489-D297274B5269}"/>
              </a:ext>
            </a:extLst>
          </p:cNvPr>
          <p:cNvSpPr txBox="1"/>
          <p:nvPr/>
        </p:nvSpPr>
        <p:spPr>
          <a:xfrm>
            <a:off x="7653393" y="2429582"/>
            <a:ext cx="336358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Case 1:  </a:t>
            </a:r>
            <a:r>
              <a:rPr lang="el-GR" sz="2000"/>
              <a:t>σ</a:t>
            </a:r>
            <a:r>
              <a:rPr lang="it-IT" sz="1000"/>
              <a:t>q</a:t>
            </a:r>
            <a:r>
              <a:rPr lang="it-IT" sz="2000"/>
              <a:t> = 1.3, </a:t>
            </a:r>
            <a:r>
              <a:rPr lang="el-GR" sz="2000"/>
              <a:t>σ</a:t>
            </a:r>
            <a:r>
              <a:rPr lang="it-IT" sz="1000" err="1"/>
              <a:t>ax</a:t>
            </a:r>
            <a:r>
              <a:rPr lang="it-IT" sz="2000"/>
              <a:t> = 0.35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Case 2:  </a:t>
            </a:r>
            <a:r>
              <a:rPr lang="el-GR" sz="2000"/>
              <a:t>σ</a:t>
            </a:r>
            <a:r>
              <a:rPr lang="it-IT" sz="1000"/>
              <a:t>q</a:t>
            </a:r>
            <a:r>
              <a:rPr lang="it-IT" sz="2000"/>
              <a:t> = 0.5, </a:t>
            </a:r>
            <a:r>
              <a:rPr lang="el-GR" sz="2000"/>
              <a:t>σ</a:t>
            </a:r>
            <a:r>
              <a:rPr lang="it-IT" sz="1000" err="1"/>
              <a:t>ax</a:t>
            </a:r>
            <a:r>
              <a:rPr lang="it-IT" sz="2000"/>
              <a:t> = 0.5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Case 3:  </a:t>
            </a:r>
            <a:r>
              <a:rPr lang="el-GR" sz="2000"/>
              <a:t>σ</a:t>
            </a:r>
            <a:r>
              <a:rPr lang="it-IT" sz="1000"/>
              <a:t>q</a:t>
            </a:r>
            <a:r>
              <a:rPr lang="it-IT" sz="2000"/>
              <a:t> = 0.7, </a:t>
            </a:r>
            <a:r>
              <a:rPr lang="el-GR" sz="2000"/>
              <a:t>σ</a:t>
            </a:r>
            <a:r>
              <a:rPr lang="it-IT" sz="1000" err="1"/>
              <a:t>ax</a:t>
            </a:r>
            <a:r>
              <a:rPr lang="it-IT" sz="2000"/>
              <a:t> = 0.65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122A9D1B-38C1-8B76-0C0E-C5FC08AD0D67}"/>
              </a:ext>
            </a:extLst>
          </p:cNvPr>
          <p:cNvSpPr/>
          <p:nvPr/>
        </p:nvSpPr>
        <p:spPr>
          <a:xfrm>
            <a:off x="7364497" y="4656449"/>
            <a:ext cx="3941380" cy="823680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The procedure </a:t>
            </a:r>
            <a:r>
              <a:rPr lang="it-IT" err="1"/>
              <a:t>described</a:t>
            </a:r>
            <a:r>
              <a:rPr lang="it-IT"/>
              <a:t> so far </a:t>
            </a:r>
            <a:r>
              <a:rPr lang="it-IT" err="1"/>
              <a:t>is</a:t>
            </a:r>
            <a:r>
              <a:rPr lang="it-IT"/>
              <a:t> </a:t>
            </a:r>
            <a:r>
              <a:rPr lang="it-IT" err="1"/>
              <a:t>repeated</a:t>
            </a:r>
            <a:r>
              <a:rPr lang="it-IT"/>
              <a:t> for the </a:t>
            </a:r>
            <a:r>
              <a:rPr lang="it-IT" err="1"/>
              <a:t>other</a:t>
            </a:r>
            <a:r>
              <a:rPr lang="it-IT"/>
              <a:t> </a:t>
            </a:r>
            <a:r>
              <a:rPr lang="it-IT" err="1"/>
              <a:t>two</a:t>
            </a:r>
            <a:r>
              <a:rPr lang="it-IT"/>
              <a:t> </a:t>
            </a:r>
            <a:r>
              <a:rPr lang="it-IT" err="1"/>
              <a:t>cases</a:t>
            </a:r>
            <a:r>
              <a:rPr lang="it-IT"/>
              <a:t>.</a:t>
            </a:r>
            <a:endParaRPr lang="it-IT" b="1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540953D-3D96-72A3-F84F-3402987E2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13988" y="6359546"/>
            <a:ext cx="965887" cy="365125"/>
          </a:xfrm>
        </p:spPr>
        <p:txBody>
          <a:bodyPr/>
          <a:lstStyle/>
          <a:p>
            <a:fld id="{DCE09022-C08B-4F34-B9F0-43AC160DA04C}" type="slidenum">
              <a:rPr lang="it-IT" smtClean="0"/>
              <a:pPr/>
              <a:t>18</a:t>
            </a:fld>
            <a:r>
              <a:rPr lang="it-IT" dirty="0"/>
              <a:t>/49</a:t>
            </a:r>
          </a:p>
        </p:txBody>
      </p:sp>
    </p:spTree>
    <p:extLst>
      <p:ext uri="{BB962C8B-B14F-4D97-AF65-F5344CB8AC3E}">
        <p14:creationId xmlns:p14="http://schemas.microsoft.com/office/powerpoint/2010/main" val="3636537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70C7F46-0349-4D56-9A42-796D4189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19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D610B038-9A60-D963-D5D4-CE2612734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Coherence</a:t>
            </a:r>
            <a:r>
              <a:rPr lang="it-IT"/>
              <a:t> </a:t>
            </a:r>
            <a:r>
              <a:rPr lang="it-IT" err="1"/>
              <a:t>Comparison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66C1888-8979-1C9C-3786-588635C15C12}"/>
              </a:ext>
            </a:extLst>
          </p:cNvPr>
          <p:cNvSpPr txBox="1"/>
          <p:nvPr/>
        </p:nvSpPr>
        <p:spPr>
          <a:xfrm>
            <a:off x="8858423" y="1227297"/>
            <a:ext cx="3333577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Pitch Rate:</a:t>
            </a:r>
            <a:r>
              <a:rPr lang="it-IT" sz="2000"/>
              <a:t> </a:t>
            </a:r>
            <a:r>
              <a:rPr lang="it-IT" sz="2000" err="1"/>
              <a:t>Coherence</a:t>
            </a:r>
            <a:r>
              <a:rPr lang="it-IT" sz="2000"/>
              <a:t> </a:t>
            </a:r>
            <a:r>
              <a:rPr lang="it-IT" sz="2000" err="1"/>
              <a:t>is</a:t>
            </a:r>
            <a:r>
              <a:rPr lang="it-IT" sz="2000"/>
              <a:t> </a:t>
            </a:r>
            <a:r>
              <a:rPr lang="it-IT" sz="2000" err="1"/>
              <a:t>highly</a:t>
            </a:r>
            <a:r>
              <a:rPr lang="it-IT" sz="2000"/>
              <a:t> </a:t>
            </a:r>
            <a:r>
              <a:rPr lang="it-IT" sz="2000" err="1"/>
              <a:t>consistent</a:t>
            </a:r>
            <a:r>
              <a:rPr lang="it-IT" sz="2000"/>
              <a:t> </a:t>
            </a:r>
            <a:r>
              <a:rPr lang="it-IT" sz="2000" err="1"/>
              <a:t>across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three</a:t>
            </a:r>
            <a:r>
              <a:rPr lang="it-IT" sz="2000"/>
              <a:t> </a:t>
            </a:r>
            <a:r>
              <a:rPr lang="it-IT" sz="2000" err="1"/>
              <a:t>cases</a:t>
            </a:r>
            <a:r>
              <a:rPr lang="it-IT" sz="2000"/>
              <a:t>, with small </a:t>
            </a:r>
            <a:r>
              <a:rPr lang="it-IT" sz="2000" err="1"/>
              <a:t>differences</a:t>
            </a:r>
            <a:r>
              <a:rPr lang="it-IT" sz="2000"/>
              <a:t> </a:t>
            </a:r>
            <a:r>
              <a:rPr lang="it-IT" sz="2000" err="1"/>
              <a:t>at</a:t>
            </a:r>
            <a:r>
              <a:rPr lang="it-IT" sz="2000"/>
              <a:t> high frequencies.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Acceleration: </a:t>
            </a:r>
            <a:r>
              <a:rPr lang="it-IT" sz="2000" err="1"/>
              <a:t>Notable</a:t>
            </a:r>
            <a:r>
              <a:rPr lang="it-IT" sz="2000"/>
              <a:t> </a:t>
            </a:r>
            <a:r>
              <a:rPr lang="it-IT" sz="2000" err="1"/>
              <a:t>differences</a:t>
            </a:r>
            <a:r>
              <a:rPr lang="it-IT" sz="2000"/>
              <a:t> </a:t>
            </a:r>
            <a:r>
              <a:rPr lang="it-IT" sz="2000" err="1"/>
              <a:t>appear</a:t>
            </a:r>
            <a:r>
              <a:rPr lang="it-IT" sz="2000"/>
              <a:t> </a:t>
            </a:r>
            <a:r>
              <a:rPr lang="it-IT" sz="2000" err="1"/>
              <a:t>among</a:t>
            </a:r>
            <a:r>
              <a:rPr lang="it-IT" sz="2000"/>
              <a:t> the </a:t>
            </a:r>
            <a:r>
              <a:rPr lang="it-IT" sz="2000" err="1"/>
              <a:t>cases</a:t>
            </a:r>
            <a:r>
              <a:rPr lang="it-IT" sz="2000"/>
              <a:t>: </a:t>
            </a:r>
            <a:r>
              <a:rPr lang="it-IT" sz="2000" err="1"/>
              <a:t>lower</a:t>
            </a:r>
            <a:r>
              <a:rPr lang="it-IT" sz="2000"/>
              <a:t> </a:t>
            </a:r>
            <a:r>
              <a:rPr lang="it-IT" sz="2000" err="1"/>
              <a:t>acceleration</a:t>
            </a:r>
            <a:r>
              <a:rPr lang="it-IT" sz="2000"/>
              <a:t> </a:t>
            </a:r>
            <a:r>
              <a:rPr lang="it-IT" sz="2000" err="1"/>
              <a:t>noise</a:t>
            </a:r>
            <a:r>
              <a:rPr lang="it-IT" sz="2000"/>
              <a:t> (</a:t>
            </a:r>
            <a:r>
              <a:rPr lang="it-IT" sz="2000" err="1"/>
              <a:t>std</a:t>
            </a:r>
            <a:r>
              <a:rPr lang="it-IT" sz="2000"/>
              <a:t>) yields </a:t>
            </a:r>
            <a:r>
              <a:rPr lang="it-IT" sz="2000" err="1"/>
              <a:t>higher</a:t>
            </a:r>
            <a:r>
              <a:rPr lang="it-IT" sz="2000"/>
              <a:t> </a:t>
            </a:r>
            <a:r>
              <a:rPr lang="it-IT" sz="2000" err="1"/>
              <a:t>coherence</a:t>
            </a:r>
            <a:r>
              <a:rPr lang="it-IT" sz="2000"/>
              <a:t>, </a:t>
            </a:r>
            <a:r>
              <a:rPr lang="it-IT" sz="2000" err="1"/>
              <a:t>especially</a:t>
            </a:r>
            <a:r>
              <a:rPr lang="it-IT" sz="2000"/>
              <a:t> in the low-frequency </a:t>
            </a:r>
            <a:r>
              <a:rPr lang="it-IT" sz="2000" err="1"/>
              <a:t>region</a:t>
            </a:r>
            <a:r>
              <a:rPr lang="it-IT" sz="2000"/>
              <a:t> of </a:t>
            </a:r>
            <a:r>
              <a:rPr lang="it-IT" sz="2000" err="1"/>
              <a:t>interest</a:t>
            </a:r>
            <a:r>
              <a:rPr lang="it-IT" sz="2000"/>
              <a:t>.</a:t>
            </a:r>
            <a:endParaRPr lang="en-US" sz="190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20867E7-1C9A-E582-EF7C-3A447AB32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r="9018"/>
          <a:stretch>
            <a:fillRect/>
          </a:stretch>
        </p:blipFill>
        <p:spPr>
          <a:xfrm>
            <a:off x="0" y="1404324"/>
            <a:ext cx="8858423" cy="44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913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CDB8CC90-E4BA-E7FD-8EED-2885BDE8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20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2659B4E-5619-FA67-B39E-2A6E81F40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FRF </a:t>
            </a:r>
            <a:r>
              <a:rPr lang="it-IT" err="1"/>
              <a:t>Comparison</a:t>
            </a: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B43C86D-1ED1-42F6-EAA7-307CCDFF89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22" t="3396" r="52039" b="2123"/>
          <a:stretch>
            <a:fillRect/>
          </a:stretch>
        </p:blipFill>
        <p:spPr>
          <a:xfrm>
            <a:off x="0" y="1135114"/>
            <a:ext cx="4765191" cy="4904442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59FF5FA7-7F4C-2879-1F0F-22B062434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03" t="2118" r="8798" b="2634"/>
          <a:stretch>
            <a:fillRect/>
          </a:stretch>
        </p:blipFill>
        <p:spPr>
          <a:xfrm>
            <a:off x="4634937" y="1089958"/>
            <a:ext cx="4765190" cy="5039908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A8BDF029-3351-0E4D-F04F-EA384B666688}"/>
              </a:ext>
            </a:extLst>
          </p:cNvPr>
          <p:cNvSpPr txBox="1"/>
          <p:nvPr/>
        </p:nvSpPr>
        <p:spPr>
          <a:xfrm>
            <a:off x="9400127" y="1378532"/>
            <a:ext cx="279187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Pitch Rate:</a:t>
            </a:r>
            <a:r>
              <a:rPr lang="it-IT" sz="2000"/>
              <a:t> </a:t>
            </a:r>
            <a:r>
              <a:rPr lang="it-IT" sz="2000" err="1"/>
              <a:t>Differences</a:t>
            </a:r>
            <a:r>
              <a:rPr lang="it-IT" sz="2000"/>
              <a:t> in the pitch rate FRF are </a:t>
            </a:r>
            <a:r>
              <a:rPr lang="it-IT" sz="2000" err="1"/>
              <a:t>negligible</a:t>
            </a:r>
            <a:r>
              <a:rPr lang="it-IT" sz="2000"/>
              <a:t> </a:t>
            </a:r>
            <a:r>
              <a:rPr lang="it-IT" sz="2000" err="1"/>
              <a:t>across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cases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Acceleration: </a:t>
            </a:r>
            <a:r>
              <a:rPr lang="it-IT" sz="2000"/>
              <a:t>The FRF for the first case shows the best agreement in </a:t>
            </a:r>
            <a:r>
              <a:rPr lang="it-IT" sz="2000" err="1"/>
              <a:t>magnitude</a:t>
            </a:r>
            <a:r>
              <a:rPr lang="it-IT" sz="2000"/>
              <a:t> with </a:t>
            </a:r>
            <a:r>
              <a:rPr lang="it-IT" sz="2000" err="1"/>
              <a:t>respect</a:t>
            </a:r>
            <a:r>
              <a:rPr lang="it-IT" sz="2000"/>
              <a:t> to the </a:t>
            </a:r>
            <a:r>
              <a:rPr lang="it-IT" sz="2000" err="1"/>
              <a:t>true</a:t>
            </a:r>
            <a:r>
              <a:rPr lang="it-IT" sz="2000"/>
              <a:t> model.</a:t>
            </a: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5255208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C88014F-3ACB-FF67-BB69-C17373E23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21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13F20B9D-981B-9DA9-BEE4-D7AF57824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3604797" cy="543697"/>
          </a:xfrm>
        </p:spPr>
        <p:txBody>
          <a:bodyPr/>
          <a:lstStyle/>
          <a:p>
            <a:r>
              <a:rPr lang="it-IT"/>
              <a:t>Time-domain </a:t>
            </a:r>
            <a:r>
              <a:rPr lang="it-IT" err="1"/>
              <a:t>validation</a:t>
            </a:r>
            <a:r>
              <a:rPr lang="it-IT"/>
              <a:t>: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FFC29E4-2DCD-6703-E189-9A85CB2649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0" r="7950"/>
          <a:stretch/>
        </p:blipFill>
        <p:spPr>
          <a:xfrm>
            <a:off x="-2538" y="1275644"/>
            <a:ext cx="9153657" cy="4616767"/>
          </a:xfrm>
          <a:prstGeom prst="rect">
            <a:avLst/>
          </a:prstGeom>
        </p:spPr>
      </p:pic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617B81C-A52F-0991-E0D5-644CB3FD6281}"/>
              </a:ext>
            </a:extLst>
          </p:cNvPr>
          <p:cNvSpPr txBox="1"/>
          <p:nvPr/>
        </p:nvSpPr>
        <p:spPr>
          <a:xfrm>
            <a:off x="9121623" y="1376947"/>
            <a:ext cx="3070377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Negligible</a:t>
            </a:r>
            <a:r>
              <a:rPr lang="it-IT" sz="2000" b="1"/>
              <a:t> </a:t>
            </a:r>
            <a:r>
              <a:rPr lang="it-IT" sz="2000" b="1" err="1"/>
              <a:t>Discrepancies</a:t>
            </a:r>
            <a:r>
              <a:rPr lang="it-IT" sz="2000" b="1"/>
              <a:t>:</a:t>
            </a:r>
            <a:r>
              <a:rPr lang="it-IT" sz="2000"/>
              <a:t> Time-domain </a:t>
            </a:r>
            <a:r>
              <a:rPr lang="it-IT" sz="2000" err="1"/>
              <a:t>responses</a:t>
            </a:r>
            <a:r>
              <a:rPr lang="it-IT" sz="2000"/>
              <a:t> (</a:t>
            </a:r>
            <a:r>
              <a:rPr lang="it-IT"/>
              <a:t>q</a:t>
            </a:r>
            <a:r>
              <a:rPr lang="it-IT" sz="2000"/>
              <a:t> and </a:t>
            </a:r>
            <a:r>
              <a:rPr lang="it-IT" err="1"/>
              <a:t>a</a:t>
            </a:r>
            <a:r>
              <a:rPr lang="it-IT" sz="1400" err="1"/>
              <a:t>x</a:t>
            </a:r>
            <a:r>
              <a:rPr lang="it-IT" sz="2000"/>
              <a:t>) show </a:t>
            </a:r>
            <a:r>
              <a:rPr lang="it-IT" sz="2000" err="1"/>
              <a:t>near-identical</a:t>
            </a:r>
            <a:r>
              <a:rPr lang="it-IT" sz="2000"/>
              <a:t> </a:t>
            </a:r>
            <a:r>
              <a:rPr lang="it-IT" sz="2000" err="1"/>
              <a:t>behavior</a:t>
            </a:r>
            <a:r>
              <a:rPr lang="it-IT" sz="2000"/>
              <a:t> </a:t>
            </a:r>
            <a:r>
              <a:rPr lang="it-IT" sz="2000" err="1"/>
              <a:t>across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noise</a:t>
            </a:r>
            <a:r>
              <a:rPr lang="it-IT" sz="2000"/>
              <a:t> tuning </a:t>
            </a:r>
            <a:r>
              <a:rPr lang="it-IT" sz="2000" err="1"/>
              <a:t>cases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/>
              <a:t>Metric Insensitivity: </a:t>
            </a:r>
            <a:br>
              <a:rPr lang="en-US" sz="1900" b="1"/>
            </a:br>
            <a:r>
              <a:rPr lang="en-US" sz="1900"/>
              <a:t>The absolute differences between the simulated cases are too marginal to be considered a discriminant metric for model selection.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0B55761-AE58-B990-E5C0-895CB1F1E393}"/>
              </a:ext>
            </a:extLst>
          </p:cNvPr>
          <p:cNvSpPr txBox="1"/>
          <p:nvPr/>
        </p:nvSpPr>
        <p:spPr>
          <a:xfrm>
            <a:off x="3552496" y="90617"/>
            <a:ext cx="1881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>
                <a:solidFill>
                  <a:schemeClr val="bg1"/>
                </a:solidFill>
                <a:latin typeface="+mj-lt"/>
              </a:rPr>
              <a:t>pitch rate</a:t>
            </a:r>
          </a:p>
        </p:txBody>
      </p:sp>
    </p:spTree>
    <p:extLst>
      <p:ext uri="{BB962C8B-B14F-4D97-AF65-F5344CB8AC3E}">
        <p14:creationId xmlns:p14="http://schemas.microsoft.com/office/powerpoint/2010/main" val="7984825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D427-B061-8693-6F19-98E3EEB7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E67C1A7-1F0D-3256-3F79-FE63B92CA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22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4F87DFA-D8AE-3782-6C8C-5193CE076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Time-domain </a:t>
            </a:r>
            <a:r>
              <a:rPr lang="it-IT" err="1"/>
              <a:t>validation</a:t>
            </a:r>
            <a:r>
              <a:rPr lang="it-IT"/>
              <a:t>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3D1340D-1A4D-6199-FCEB-1F42AD9183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93" r="8228"/>
          <a:stretch>
            <a:fillRect/>
          </a:stretch>
        </p:blipFill>
        <p:spPr>
          <a:xfrm>
            <a:off x="97396" y="1278195"/>
            <a:ext cx="9024227" cy="4552544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45F0FDD-0A75-91B6-96F4-5F33D7DEC9AA}"/>
              </a:ext>
            </a:extLst>
          </p:cNvPr>
          <p:cNvSpPr txBox="1"/>
          <p:nvPr/>
        </p:nvSpPr>
        <p:spPr>
          <a:xfrm>
            <a:off x="3552496" y="90617"/>
            <a:ext cx="1986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i="1" err="1">
                <a:solidFill>
                  <a:schemeClr val="bg1"/>
                </a:solidFill>
                <a:latin typeface="+mj-lt"/>
              </a:rPr>
              <a:t>acceleration</a:t>
            </a:r>
            <a:endParaRPr lang="it-IT" sz="2800" b="1" i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1C76139-E1F0-059A-F52E-3D748292DD4F}"/>
              </a:ext>
            </a:extLst>
          </p:cNvPr>
          <p:cNvSpPr txBox="1"/>
          <p:nvPr/>
        </p:nvSpPr>
        <p:spPr>
          <a:xfrm>
            <a:off x="9121623" y="1376947"/>
            <a:ext cx="3070377" cy="43550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Negligible</a:t>
            </a:r>
            <a:r>
              <a:rPr lang="it-IT" sz="2000" b="1"/>
              <a:t> </a:t>
            </a:r>
            <a:r>
              <a:rPr lang="it-IT" sz="2000" b="1" err="1"/>
              <a:t>Discrepancies</a:t>
            </a:r>
            <a:r>
              <a:rPr lang="it-IT" sz="2000" b="1"/>
              <a:t>:</a:t>
            </a:r>
            <a:r>
              <a:rPr lang="it-IT" sz="2000"/>
              <a:t> Time-domain </a:t>
            </a:r>
            <a:r>
              <a:rPr lang="it-IT" sz="2000" err="1"/>
              <a:t>responses</a:t>
            </a:r>
            <a:r>
              <a:rPr lang="it-IT" sz="2000"/>
              <a:t> (</a:t>
            </a:r>
            <a:r>
              <a:rPr lang="it-IT"/>
              <a:t>q</a:t>
            </a:r>
            <a:r>
              <a:rPr lang="it-IT" sz="2000"/>
              <a:t> and </a:t>
            </a:r>
            <a:r>
              <a:rPr lang="it-IT" err="1"/>
              <a:t>a</a:t>
            </a:r>
            <a:r>
              <a:rPr lang="it-IT" sz="1400" err="1"/>
              <a:t>x</a:t>
            </a:r>
            <a:r>
              <a:rPr lang="it-IT" sz="2000"/>
              <a:t>) show </a:t>
            </a:r>
            <a:r>
              <a:rPr lang="it-IT" sz="2000" err="1"/>
              <a:t>near-identical</a:t>
            </a:r>
            <a:r>
              <a:rPr lang="it-IT" sz="2000"/>
              <a:t> </a:t>
            </a:r>
            <a:r>
              <a:rPr lang="it-IT" sz="2000" err="1"/>
              <a:t>behavior</a:t>
            </a:r>
            <a:r>
              <a:rPr lang="it-IT" sz="2000"/>
              <a:t> </a:t>
            </a:r>
            <a:r>
              <a:rPr lang="it-IT" sz="2000" err="1"/>
              <a:t>across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noise</a:t>
            </a:r>
            <a:r>
              <a:rPr lang="it-IT" sz="2000"/>
              <a:t> tuning </a:t>
            </a:r>
            <a:r>
              <a:rPr lang="it-IT" sz="2000" err="1"/>
              <a:t>cases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/>
              <a:t>Metric Insensitivity: </a:t>
            </a:r>
            <a:br>
              <a:rPr lang="en-US" sz="1900" b="1"/>
            </a:br>
            <a:r>
              <a:rPr lang="en-US" sz="1900"/>
              <a:t>The absolute differences between the simulated cases are too marginal to be considered a discriminant metric for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2953905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135AA71-1CC1-C29E-E2D6-46AB91FEA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23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92CEF48-D636-E0BA-EF1B-AFFAFB49E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Comparison</a:t>
            </a:r>
            <a:r>
              <a:rPr lang="it-IT"/>
              <a:t> </a:t>
            </a:r>
            <a:r>
              <a:rPr lang="it-IT" err="1"/>
              <a:t>Results</a:t>
            </a:r>
            <a:r>
              <a:rPr lang="it-IT"/>
              <a:t>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ella 4">
                <a:extLst>
                  <a:ext uri="{FF2B5EF4-FFF2-40B4-BE49-F238E27FC236}">
                    <a16:creationId xmlns:a16="http://schemas.microsoft.com/office/drawing/2014/main" id="{6248B6D2-8A66-8B0C-BEE8-9D00A447EC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6079043"/>
                  </p:ext>
                </p:extLst>
              </p:nvPr>
            </p:nvGraphicFramePr>
            <p:xfrm>
              <a:off x="299309" y="2948834"/>
              <a:ext cx="11593381" cy="312714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1422122">
                      <a:extLst>
                        <a:ext uri="{9D8B030D-6E8A-4147-A177-3AD203B41FA5}">
                          <a16:colId xmlns:a16="http://schemas.microsoft.com/office/drawing/2014/main" val="3307869845"/>
                        </a:ext>
                      </a:extLst>
                    </a:gridCol>
                    <a:gridCol w="1422122">
                      <a:extLst>
                        <a:ext uri="{9D8B030D-6E8A-4147-A177-3AD203B41FA5}">
                          <a16:colId xmlns:a16="http://schemas.microsoft.com/office/drawing/2014/main" val="2374194358"/>
                        </a:ext>
                      </a:extLst>
                    </a:gridCol>
                    <a:gridCol w="2872236">
                      <a:extLst>
                        <a:ext uri="{9D8B030D-6E8A-4147-A177-3AD203B41FA5}">
                          <a16:colId xmlns:a16="http://schemas.microsoft.com/office/drawing/2014/main" val="2194321188"/>
                        </a:ext>
                      </a:extLst>
                    </a:gridCol>
                    <a:gridCol w="2960522">
                      <a:extLst>
                        <a:ext uri="{9D8B030D-6E8A-4147-A177-3AD203B41FA5}">
                          <a16:colId xmlns:a16="http://schemas.microsoft.com/office/drawing/2014/main" val="1181787738"/>
                        </a:ext>
                      </a:extLst>
                    </a:gridCol>
                    <a:gridCol w="2916379">
                      <a:extLst>
                        <a:ext uri="{9D8B030D-6E8A-4147-A177-3AD203B41FA5}">
                          <a16:colId xmlns:a16="http://schemas.microsoft.com/office/drawing/2014/main" val="2838049243"/>
                        </a:ext>
                      </a:extLst>
                    </a:gridCol>
                  </a:tblGrid>
                  <a:tr h="351415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it-IT" sz="1900" b="1">
                              <a:solidFill>
                                <a:schemeClr val="bg1"/>
                              </a:solidFill>
                              <a:effectLst/>
                            </a:rPr>
                            <a:t>Parameters</a:t>
                          </a:r>
                          <a:endParaRPr lang="it-IT" sz="1900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sz="1900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Real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 b="1">
                              <a:solidFill>
                                <a:schemeClr val="bg1"/>
                              </a:solidFill>
                              <a:effectLst/>
                            </a:rPr>
                            <a:t>Case 1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it-IT" sz="19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it-IT" sz="1900" b="1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it-IT" sz="19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9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lang="it-IT" sz="1900" b="1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 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𝑪𝑽</m:t>
                                  </m:r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%</m:t>
                                  </m:r>
                                </m:e>
                              </m:d>
                            </m:oMath>
                          </a14:m>
                          <a:r>
                            <a:rPr lang="it-IT" sz="1900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 b="1">
                              <a:solidFill>
                                <a:schemeClr val="bg1"/>
                              </a:solidFill>
                              <a:effectLst/>
                            </a:rPr>
                            <a:t>Case 2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it-IT" sz="19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it-IT" sz="1900" b="1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it-IT" sz="19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9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lang="it-IT" sz="1900" b="1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 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𝑪𝑽</m:t>
                                  </m:r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%</m:t>
                                  </m:r>
                                </m:e>
                              </m:d>
                            </m:oMath>
                          </a14:m>
                          <a:r>
                            <a:rPr lang="it-IT" sz="1900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 b="1">
                              <a:solidFill>
                                <a:schemeClr val="bg1"/>
                              </a:solidFill>
                              <a:effectLst/>
                            </a:rPr>
                            <a:t>Case 3 (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it-IT" sz="1900" b="1" i="1" smtClean="0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acc>
                              <m:r>
                                <a:rPr lang="it-IT" sz="1900" b="1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±</m:t>
                              </m:r>
                              <m:sSub>
                                <m:sSubPr>
                                  <m:ctrlP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acc>
                                    <m:accPr>
                                      <m:chr m:val="̂"/>
                                      <m:ctrlPr>
                                        <a:rPr lang="it-IT" sz="19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it-IT" sz="1900" b="1" i="1">
                                          <a:solidFill>
                                            <a:schemeClr val="bg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</m:acc>
                                </m:sub>
                              </m:sSub>
                              <m:r>
                                <a:rPr lang="it-IT" sz="1900" b="1" i="1">
                                  <a:solidFill>
                                    <a:schemeClr val="bg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  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𝑪𝑽</m:t>
                                  </m:r>
                                  <m:r>
                                    <a:rPr lang="it-IT" sz="1900" b="1" i="1">
                                      <a:solidFill>
                                        <a:schemeClr val="bg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%</m:t>
                                  </m:r>
                                </m:e>
                              </m:d>
                            </m:oMath>
                          </a14:m>
                          <a:r>
                            <a:rPr lang="it-IT" sz="1900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761080"/>
                      </a:ext>
                    </a:extLst>
                  </a:tr>
                  <a:tr h="37893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X</a:t>
                          </a:r>
                          <a:r>
                            <a:rPr lang="it-IT" sz="1900" b="1" baseline="-25000">
                              <a:effectLst/>
                            </a:rPr>
                            <a:t>u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- 0.1068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-0.0394 ± 0.0175 [44.3%]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-0.0005 ± 0.0160 [3399.0%]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0.0791 ± 0.0358 [45.3%]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596699205"/>
                      </a:ext>
                    </a:extLst>
                  </a:tr>
                  <a:tr h="65545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X</a:t>
                          </a:r>
                          <a:r>
                            <a:rPr lang="it-IT" sz="1900" b="1" baseline="-25000">
                              <a:effectLst/>
                            </a:rPr>
                            <a:t>q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0.1192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-0.0135 ± 0.0397 [293.6%]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0.0271 ± 0.0426 [157.6%]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-0.0068 ± 0.0546 [806.4%]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064082585"/>
                      </a:ext>
                    </a:extLst>
                  </a:tr>
                  <a:tr h="37893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M</a:t>
                          </a:r>
                          <a:r>
                            <a:rPr lang="it-IT" sz="1900" b="1" baseline="-25000">
                              <a:effectLst/>
                            </a:rPr>
                            <a:t>u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-5.9755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-2.2593 ± 0.8415 [37.2%]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-2.2932 ± 0.8216 [35.8%]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-2.2025 ± 0.8584 [39.0%]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419826939"/>
                      </a:ext>
                    </a:extLst>
                  </a:tr>
                  <a:tr h="378933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M</a:t>
                          </a:r>
                          <a:r>
                            <a:rPr lang="it-IT" sz="1900" b="1" baseline="-25000">
                              <a:effectLst/>
                            </a:rPr>
                            <a:t>q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-2.6478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-3.0133 ± 0.5337 [17.7%]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-2.9632 ± 0.5247 [17.7%]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-3.0931 ± 0.5420 [17.5%]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980611467"/>
                      </a:ext>
                    </a:extLst>
                  </a:tr>
                  <a:tr h="4899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X</a:t>
                          </a:r>
                          <a:r>
                            <a:rPr lang="el-GR" sz="1900" b="1" baseline="-25000">
                              <a:effectLst/>
                            </a:rPr>
                            <a:t>δ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-10.1647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-7.8019 ± 0.4226 [5.4%]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-7.1878 ± 0.5132 [7.1%]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-7.5046 ± 0.5470 [7.3%]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184430947"/>
                      </a:ext>
                    </a:extLst>
                  </a:tr>
                  <a:tr h="22781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M</a:t>
                          </a:r>
                          <a:r>
                            <a:rPr lang="el-GR" sz="1900" b="1" baseline="-25000">
                              <a:effectLst/>
                            </a:rPr>
                            <a:t>δ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450.71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422.4837 ± 16.0151 [3.8%]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421.7164 ± 15.4739 [3.7%]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424.3796 ± 16.2854 [3.8%]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41856724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ella 4">
                <a:extLst>
                  <a:ext uri="{FF2B5EF4-FFF2-40B4-BE49-F238E27FC236}">
                    <a16:creationId xmlns:a16="http://schemas.microsoft.com/office/drawing/2014/main" id="{6248B6D2-8A66-8B0C-BEE8-9D00A447EC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6079043"/>
                  </p:ext>
                </p:extLst>
              </p:nvPr>
            </p:nvGraphicFramePr>
            <p:xfrm>
              <a:off x="299309" y="2948834"/>
              <a:ext cx="11593381" cy="3127140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1422122">
                      <a:extLst>
                        <a:ext uri="{9D8B030D-6E8A-4147-A177-3AD203B41FA5}">
                          <a16:colId xmlns:a16="http://schemas.microsoft.com/office/drawing/2014/main" val="3307869845"/>
                        </a:ext>
                      </a:extLst>
                    </a:gridCol>
                    <a:gridCol w="1422122">
                      <a:extLst>
                        <a:ext uri="{9D8B030D-6E8A-4147-A177-3AD203B41FA5}">
                          <a16:colId xmlns:a16="http://schemas.microsoft.com/office/drawing/2014/main" val="2374194358"/>
                        </a:ext>
                      </a:extLst>
                    </a:gridCol>
                    <a:gridCol w="2872236">
                      <a:extLst>
                        <a:ext uri="{9D8B030D-6E8A-4147-A177-3AD203B41FA5}">
                          <a16:colId xmlns:a16="http://schemas.microsoft.com/office/drawing/2014/main" val="2194321188"/>
                        </a:ext>
                      </a:extLst>
                    </a:gridCol>
                    <a:gridCol w="2960522">
                      <a:extLst>
                        <a:ext uri="{9D8B030D-6E8A-4147-A177-3AD203B41FA5}">
                          <a16:colId xmlns:a16="http://schemas.microsoft.com/office/drawing/2014/main" val="1181787738"/>
                        </a:ext>
                      </a:extLst>
                    </a:gridCol>
                    <a:gridCol w="2916379">
                      <a:extLst>
                        <a:ext uri="{9D8B030D-6E8A-4147-A177-3AD203B41FA5}">
                          <a16:colId xmlns:a16="http://schemas.microsoft.com/office/drawing/2014/main" val="2838049243"/>
                        </a:ext>
                      </a:extLst>
                    </a:gridCol>
                  </a:tblGrid>
                  <a:tr h="417068">
                    <a:tc>
                      <a:txBody>
                        <a:bodyPr/>
                        <a:lstStyle/>
                        <a:p>
                          <a:pPr algn="l" rtl="0">
                            <a:buNone/>
                          </a:pPr>
                          <a:r>
                            <a:rPr lang="it-IT" sz="1900" b="1">
                              <a:solidFill>
                                <a:schemeClr val="bg1"/>
                              </a:solidFill>
                              <a:effectLst/>
                            </a:rPr>
                            <a:t>Parameters</a:t>
                          </a:r>
                          <a:endParaRPr lang="it-IT" sz="1900">
                            <a:solidFill>
                              <a:schemeClr val="bg1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rtl="0">
                            <a:buNone/>
                          </a:pPr>
                          <a:r>
                            <a:rPr lang="it-IT" sz="1900">
                              <a:solidFill>
                                <a:schemeClr val="bg1"/>
                              </a:solidFill>
                              <a:effectLst/>
                              <a:latin typeface="Google Sans Text"/>
                            </a:rPr>
                            <a:t>Real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65829B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50800" marB="50800" anchor="ctr">
                        <a:blipFill>
                          <a:blip r:embed="rId3"/>
                          <a:stretch>
                            <a:fillRect l="-99363" t="-4348" r="-205732" b="-6681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50800" marB="50800" anchor="ctr">
                        <a:blipFill>
                          <a:blip r:embed="rId3"/>
                          <a:stretch>
                            <a:fillRect l="-193210" t="-4348" r="-99383" b="-6681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76200" marR="76200" marT="50800" marB="50800" anchor="ctr">
                        <a:blipFill>
                          <a:blip r:embed="rId3"/>
                          <a:stretch>
                            <a:fillRect l="-298117" t="-4348" r="-1046" b="-6681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7761080"/>
                      </a:ext>
                    </a:extLst>
                  </a:tr>
                  <a:tr h="3911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X</a:t>
                          </a:r>
                          <a:r>
                            <a:rPr lang="it-IT" sz="1900" b="1" baseline="-25000">
                              <a:effectLst/>
                            </a:rPr>
                            <a:t>u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- 0.1068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-0.0394 ± 0.0175 [44.3%]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-0.0005 ± 0.0160 [3399.0%]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0.0791 ± 0.0358 [45.3%]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596699205"/>
                      </a:ext>
                    </a:extLst>
                  </a:tr>
                  <a:tr h="65545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X</a:t>
                          </a:r>
                          <a:r>
                            <a:rPr lang="it-IT" sz="1900" b="1" baseline="-25000">
                              <a:effectLst/>
                            </a:rPr>
                            <a:t>q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0.1192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-0.0135 ± 0.0397 [293.6%]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0.0271 ± 0.0426 [157.6%]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-0.0068 ± 0.0546 [806.4%]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2064082585"/>
                      </a:ext>
                    </a:extLst>
                  </a:tr>
                  <a:tr h="3911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M</a:t>
                          </a:r>
                          <a:r>
                            <a:rPr lang="it-IT" sz="1900" b="1" baseline="-25000">
                              <a:effectLst/>
                            </a:rPr>
                            <a:t>u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-5.9755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-2.2593 ± 0.8415 [37.2%]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-2.2932 ± 0.8216 [35.8%]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-2.2025 ± 0.8584 [39.0%]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3419826939"/>
                      </a:ext>
                    </a:extLst>
                  </a:tr>
                  <a:tr h="3911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M</a:t>
                          </a:r>
                          <a:r>
                            <a:rPr lang="it-IT" sz="1900" b="1" baseline="-25000">
                              <a:effectLst/>
                            </a:rPr>
                            <a:t>q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-2.6478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-3.0133 ± 0.5337 [17.7%]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-2.9632 ± 0.5247 [17.7%]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-3.0931 ± 0.5420 [17.5%]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980611467"/>
                      </a:ext>
                    </a:extLst>
                  </a:tr>
                  <a:tr h="48998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X</a:t>
                          </a:r>
                          <a:r>
                            <a:rPr lang="el-GR" sz="1900" b="1" baseline="-25000">
                              <a:effectLst/>
                            </a:rPr>
                            <a:t>δ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-10.1647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-7.8019 ± 0.4226 [5.4%]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-7.1878 ± 0.5132 [7.1%]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-7.5046 ± 0.5470 [7.3%]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1184430947"/>
                      </a:ext>
                    </a:extLst>
                  </a:tr>
                  <a:tr h="39116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it-IT" sz="1900" b="1">
                              <a:effectLst/>
                            </a:rPr>
                            <a:t>M</a:t>
                          </a:r>
                          <a:r>
                            <a:rPr lang="el-GR" sz="1900" b="1" baseline="-25000">
                              <a:effectLst/>
                            </a:rPr>
                            <a:t>δ</a:t>
                          </a:r>
                          <a:endParaRPr lang="it-IT" sz="1900">
                            <a:effectLst/>
                            <a:latin typeface="Google Sans Text"/>
                          </a:endParaRP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it-IT" sz="1900">
                              <a:effectLst/>
                              <a:latin typeface="Google Sans Text"/>
                            </a:rPr>
                            <a:t>450.71</a:t>
                          </a:r>
                        </a:p>
                      </a:txBody>
                      <a:tcPr marL="47229" marR="47229" marT="31486" marB="31486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422.4837 ± 16.0151 [3.8%]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421.7164 ± 15.4739 [3.7%]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tc>
                      <a:txBody>
                        <a:bodyPr/>
                        <a:lstStyle/>
                        <a:p>
                          <a:pPr rtl="0">
                            <a:buNone/>
                          </a:pPr>
                          <a:r>
                            <a:rPr lang="it-IT" sz="1900">
                              <a:solidFill>
                                <a:srgbClr val="1F1F1F"/>
                              </a:solidFill>
                              <a:effectLst/>
                            </a:rPr>
                            <a:t>424.3796 ± 16.2854 [3.8%]</a:t>
                          </a:r>
                          <a:endParaRPr lang="it-IT" sz="1900">
                            <a:solidFill>
                              <a:srgbClr val="1F1F1F"/>
                            </a:solidFill>
                            <a:effectLst/>
                            <a:latin typeface="Google Sans Text"/>
                          </a:endParaRPr>
                        </a:p>
                      </a:txBody>
                      <a:tcPr marL="76200" marR="76200" marT="50800" marB="50800" anchor="ctr"/>
                    </a:tc>
                    <a:extLst>
                      <a:ext uri="{0D108BD9-81ED-4DB2-BD59-A6C34878D82A}">
                        <a16:rowId xmlns:a16="http://schemas.microsoft.com/office/drawing/2014/main" val="418567245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92B5A07F-2F4F-5A9D-E70F-DA8B3799715D}"/>
              </a:ext>
            </a:extLst>
          </p:cNvPr>
          <p:cNvSpPr txBox="1"/>
          <p:nvPr/>
        </p:nvSpPr>
        <p:spPr>
          <a:xfrm>
            <a:off x="100594" y="915280"/>
            <a:ext cx="11879281" cy="1875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Consistency of Primary Derivatives </a:t>
            </a:r>
            <a:r>
              <a:rPr lang="en-US" sz="2000"/>
              <a:t>(</a:t>
            </a:r>
            <a:r>
              <a:rPr lang="en-US" sz="2000" b="1" err="1"/>
              <a:t>M</a:t>
            </a:r>
            <a:r>
              <a:rPr lang="en-US" sz="2000" b="1" baseline="-25000" err="1"/>
              <a:t>q</a:t>
            </a:r>
            <a:r>
              <a:rPr lang="en-US" sz="2000" b="1"/>
              <a:t>, </a:t>
            </a:r>
            <a:r>
              <a:rPr lang="it-IT" sz="2000" b="1"/>
              <a:t>X</a:t>
            </a:r>
            <a:r>
              <a:rPr lang="el-GR" sz="2000" b="1" baseline="-25000"/>
              <a:t>δ</a:t>
            </a:r>
            <a:r>
              <a:rPr lang="en-US" sz="2000" b="1"/>
              <a:t>, </a:t>
            </a:r>
            <a:r>
              <a:rPr lang="it-IT" sz="2000" b="1"/>
              <a:t>M</a:t>
            </a:r>
            <a:r>
              <a:rPr lang="el-GR" sz="2000" b="1" baseline="-25000"/>
              <a:t>δ</a:t>
            </a:r>
            <a:r>
              <a:rPr lang="en-US" sz="2000"/>
              <a:t>) </a:t>
            </a:r>
            <a:r>
              <a:rPr lang="en-US" sz="2000" b="1"/>
              <a:t>: </a:t>
            </a:r>
            <a:r>
              <a:rPr lang="en-US" sz="2000"/>
              <a:t>The dominant parameters governing the primary flight dynamics remain extremely consistent across all three noise scenarios. 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it-IT" sz="2000" b="1" err="1"/>
              <a:t>X</a:t>
            </a:r>
            <a:r>
              <a:rPr lang="it-IT" sz="2000" b="1" baseline="-25000" err="1"/>
              <a:t>u</a:t>
            </a:r>
            <a:r>
              <a:rPr lang="it-IT" sz="2000" baseline="-25000">
                <a:latin typeface="Google Sans Text"/>
              </a:rPr>
              <a:t> </a:t>
            </a:r>
            <a:r>
              <a:rPr lang="it-IT" sz="2000" b="1"/>
              <a:t>and </a:t>
            </a:r>
            <a:r>
              <a:rPr lang="it-IT" sz="2000" b="1" err="1"/>
              <a:t>X</a:t>
            </a:r>
            <a:r>
              <a:rPr lang="it-IT" sz="2000" b="1" baseline="-25000" err="1"/>
              <a:t>q</a:t>
            </a:r>
            <a:r>
              <a:rPr lang="it-IT" sz="2000" b="1"/>
              <a:t> Bias Trend: </a:t>
            </a:r>
            <a:r>
              <a:rPr lang="en-US" sz="2000"/>
              <a:t>Although sometimes estimated with a opposite sign, their near-zero magnitude and standard deviation interval encompass the physically consistent range.</a:t>
            </a:r>
            <a:endParaRPr lang="it-IT" sz="2000"/>
          </a:p>
        </p:txBody>
      </p:sp>
    </p:spTree>
    <p:extLst>
      <p:ext uri="{BB962C8B-B14F-4D97-AF65-F5344CB8AC3E}">
        <p14:creationId xmlns:p14="http://schemas.microsoft.com/office/powerpoint/2010/main" val="3025861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0E9D-22FC-5B0F-D305-5DE5C44D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ABEB50E-CC36-6843-34A6-2EBEF48E7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24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E8C93EE-5DBC-7ECB-94A5-263DF0373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Comparison</a:t>
            </a:r>
            <a:r>
              <a:rPr lang="it-IT"/>
              <a:t> </a:t>
            </a:r>
            <a:r>
              <a:rPr lang="it-IT" err="1"/>
              <a:t>Results</a:t>
            </a:r>
            <a:r>
              <a:rPr lang="it-IT"/>
              <a:t> (II)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992FDC8-F2D9-9C55-F066-A26F59A79FD9}"/>
              </a:ext>
            </a:extLst>
          </p:cNvPr>
          <p:cNvSpPr txBox="1"/>
          <p:nvPr/>
        </p:nvSpPr>
        <p:spPr>
          <a:xfrm>
            <a:off x="100594" y="1008250"/>
            <a:ext cx="11879281" cy="2228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Recall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FIT (Normalized Root Mean Square Error): </a:t>
            </a:r>
            <a:r>
              <a:rPr lang="en-US" sz="2000"/>
              <a:t>Evaluates the absolute, point-by-point distance between modeled and measured FRF. It heavily penalizes unmodeled high-frequency stochastic noise, which mathematically drives a</a:t>
            </a:r>
            <a:r>
              <a:rPr lang="en-US" sz="2000" baseline="-25000"/>
              <a:t>x</a:t>
            </a:r>
            <a:r>
              <a:rPr lang="en-US" sz="2000"/>
              <a:t> FIT below zero.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it-IT" sz="2000" b="1"/>
              <a:t>VAF (</a:t>
            </a:r>
            <a:r>
              <a:rPr lang="it-IT" sz="2000" b="1" err="1"/>
              <a:t>Variance</a:t>
            </a:r>
            <a:r>
              <a:rPr lang="it-IT" sz="2000" b="1"/>
              <a:t> </a:t>
            </a:r>
            <a:r>
              <a:rPr lang="it-IT" sz="2000" b="1" err="1"/>
              <a:t>Accounted</a:t>
            </a:r>
            <a:r>
              <a:rPr lang="it-IT" sz="2000" b="1"/>
              <a:t> For):</a:t>
            </a:r>
            <a:r>
              <a:rPr lang="it-IT" sz="2000"/>
              <a:t> Measures the </a:t>
            </a:r>
            <a:r>
              <a:rPr lang="it-IT" sz="2000" err="1"/>
              <a:t>percentage</a:t>
            </a:r>
            <a:r>
              <a:rPr lang="it-IT" sz="2000"/>
              <a:t> of the </a:t>
            </a:r>
            <a:r>
              <a:rPr lang="it-IT" sz="2000" err="1"/>
              <a:t>signal's</a:t>
            </a:r>
            <a:r>
              <a:rPr lang="it-IT" sz="2000"/>
              <a:t> </a:t>
            </a:r>
            <a:r>
              <a:rPr lang="it-IT" sz="2000" err="1"/>
              <a:t>dynamic</a:t>
            </a:r>
            <a:r>
              <a:rPr lang="it-IT" sz="2000"/>
              <a:t> </a:t>
            </a:r>
            <a:r>
              <a:rPr lang="it-IT" sz="2000" err="1"/>
              <a:t>variance</a:t>
            </a:r>
            <a:r>
              <a:rPr lang="it-IT" sz="2000"/>
              <a:t> </a:t>
            </a:r>
            <a:r>
              <a:rPr lang="it-IT" sz="2000" err="1"/>
              <a:t>successfully</a:t>
            </a:r>
            <a:r>
              <a:rPr lang="it-IT" sz="2000"/>
              <a:t> </a:t>
            </a:r>
            <a:r>
              <a:rPr lang="it-IT" sz="2000" err="1"/>
              <a:t>captured</a:t>
            </a:r>
            <a:r>
              <a:rPr lang="it-IT" sz="2000"/>
              <a:t> by the model, </a:t>
            </a:r>
            <a:r>
              <a:rPr lang="it-IT" sz="2000" err="1"/>
              <a:t>remaining</a:t>
            </a:r>
            <a:r>
              <a:rPr lang="it-IT" sz="2000"/>
              <a:t> </a:t>
            </a:r>
            <a:r>
              <a:rPr lang="it-IT" sz="2000" err="1"/>
              <a:t>completely</a:t>
            </a:r>
            <a:r>
              <a:rPr lang="it-IT" sz="2000"/>
              <a:t> insensitive to </a:t>
            </a:r>
            <a:r>
              <a:rPr lang="it-IT" sz="2000" err="1"/>
              <a:t>static</a:t>
            </a:r>
            <a:r>
              <a:rPr lang="it-IT" sz="2000"/>
              <a:t> </a:t>
            </a:r>
            <a:r>
              <a:rPr lang="it-IT" sz="2000" err="1"/>
              <a:t>biases</a:t>
            </a:r>
            <a:r>
              <a:rPr lang="it-IT" sz="2000"/>
              <a:t>.</a:t>
            </a:r>
            <a:endParaRPr lang="it-IT" sz="1900"/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6685166-AE72-9D7C-5DA1-F62EF211F5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702817"/>
              </p:ext>
            </p:extLst>
          </p:nvPr>
        </p:nvGraphicFramePr>
        <p:xfrm>
          <a:off x="448090" y="3757436"/>
          <a:ext cx="11295820" cy="1503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9164">
                  <a:extLst>
                    <a:ext uri="{9D8B030D-6E8A-4147-A177-3AD203B41FA5}">
                      <a16:colId xmlns:a16="http://schemas.microsoft.com/office/drawing/2014/main" val="784167546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4150677657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452711028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3376542814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207640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Scenario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VAF q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VAF ax​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FIT q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FIT </a:t>
                      </a:r>
                      <a:r>
                        <a:rPr lang="it-IT" b="1" err="1">
                          <a:solidFill>
                            <a:schemeClr val="bg1"/>
                          </a:solidFill>
                          <a:effectLst/>
                        </a:rPr>
                        <a:t>ax</a:t>
                      </a: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​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57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chemeClr val="tx1"/>
                          </a:solidFill>
                          <a:effectLst/>
                        </a:rPr>
                        <a:t>Case 1</a:t>
                      </a:r>
                      <a:endParaRPr lang="it-IT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93.2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31.9</a:t>
                      </a:r>
                      <a:endParaRPr lang="it-IT" b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71.9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-6.6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3829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chemeClr val="tx1"/>
                          </a:solidFill>
                          <a:effectLst/>
                        </a:rPr>
                        <a:t>Case 2 </a:t>
                      </a:r>
                      <a:endParaRPr lang="it-IT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94.2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rgbClr val="FF0000"/>
                          </a:solidFill>
                          <a:effectLst/>
                        </a:rPr>
                        <a:t>21.2</a:t>
                      </a:r>
                      <a:endParaRPr lang="it-IT" b="1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74.0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-6.9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18144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chemeClr val="tx1"/>
                          </a:solidFill>
                          <a:effectLst/>
                        </a:rPr>
                        <a:t>Case 3</a:t>
                      </a:r>
                      <a:endParaRPr lang="it-IT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93.5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rgbClr val="FF0000"/>
                          </a:solidFill>
                          <a:effectLst/>
                        </a:rPr>
                        <a:t>20.6</a:t>
                      </a:r>
                      <a:endParaRPr lang="it-IT" b="1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72.6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-5.6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257044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107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BD83E-E1EB-7BA9-AD30-BEDD6B7D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893C9ED-20D5-EDDD-5BCA-32FA9F0B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25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5390960A-49CE-1EC1-9067-FB95D3B6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Comparison</a:t>
            </a:r>
            <a:r>
              <a:rPr lang="it-IT"/>
              <a:t> </a:t>
            </a:r>
            <a:r>
              <a:rPr lang="it-IT" err="1"/>
              <a:t>Results</a:t>
            </a:r>
            <a:r>
              <a:rPr lang="it-IT"/>
              <a:t> (II)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086FE297-EEC1-20B1-B2AA-60E06E5C86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274211"/>
              </p:ext>
            </p:extLst>
          </p:nvPr>
        </p:nvGraphicFramePr>
        <p:xfrm>
          <a:off x="474650" y="2474735"/>
          <a:ext cx="11295820" cy="15036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59164">
                  <a:extLst>
                    <a:ext uri="{9D8B030D-6E8A-4147-A177-3AD203B41FA5}">
                      <a16:colId xmlns:a16="http://schemas.microsoft.com/office/drawing/2014/main" val="784167546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4150677657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452711028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3376542814"/>
                    </a:ext>
                  </a:extLst>
                </a:gridCol>
                <a:gridCol w="2259164">
                  <a:extLst>
                    <a:ext uri="{9D8B030D-6E8A-4147-A177-3AD203B41FA5}">
                      <a16:colId xmlns:a16="http://schemas.microsoft.com/office/drawing/2014/main" val="2076405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Scenario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VAF q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VAF ax​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FIT q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FIT </a:t>
                      </a:r>
                      <a:r>
                        <a:rPr lang="it-IT" b="1" err="1">
                          <a:solidFill>
                            <a:schemeClr val="bg1"/>
                          </a:solidFill>
                          <a:effectLst/>
                        </a:rPr>
                        <a:t>ax</a:t>
                      </a:r>
                      <a:r>
                        <a:rPr lang="it-IT" b="1">
                          <a:solidFill>
                            <a:schemeClr val="bg1"/>
                          </a:solidFill>
                          <a:effectLst/>
                        </a:rPr>
                        <a:t>​ (%)</a:t>
                      </a:r>
                      <a:endParaRPr lang="it-IT">
                        <a:solidFill>
                          <a:schemeClr val="bg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solidFill>
                      <a:srgbClr val="65829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4577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chemeClr val="tx1"/>
                          </a:solidFill>
                          <a:effectLst/>
                        </a:rPr>
                        <a:t>Case 1</a:t>
                      </a:r>
                      <a:endParaRPr lang="it-IT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93.2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31.9</a:t>
                      </a:r>
                      <a:endParaRPr lang="it-IT" b="1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71.9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-6.6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2938294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chemeClr val="tx1"/>
                          </a:solidFill>
                          <a:effectLst/>
                        </a:rPr>
                        <a:t>Case 2 </a:t>
                      </a:r>
                      <a:endParaRPr lang="it-IT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94.2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rgbClr val="FF0000"/>
                          </a:solidFill>
                          <a:effectLst/>
                        </a:rPr>
                        <a:t>21.2</a:t>
                      </a:r>
                      <a:endParaRPr lang="it-IT" b="1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74.0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-6.9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3181446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sz="1800" b="1">
                          <a:solidFill>
                            <a:schemeClr val="tx1"/>
                          </a:solidFill>
                          <a:effectLst/>
                        </a:rPr>
                        <a:t>Case 3</a:t>
                      </a:r>
                      <a:endParaRPr lang="it-IT" sz="1800">
                        <a:solidFill>
                          <a:schemeClr val="tx1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93.5</a:t>
                      </a: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 b="1">
                          <a:solidFill>
                            <a:srgbClr val="FF0000"/>
                          </a:solidFill>
                          <a:effectLst/>
                        </a:rPr>
                        <a:t>20.6</a:t>
                      </a:r>
                      <a:endParaRPr lang="it-IT" b="1">
                        <a:solidFill>
                          <a:srgbClr val="FF0000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72.6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it-IT">
                          <a:solidFill>
                            <a:srgbClr val="1F1F1F"/>
                          </a:solidFill>
                          <a:effectLst/>
                        </a:rPr>
                        <a:t>-5.6</a:t>
                      </a:r>
                      <a:endParaRPr lang="it-IT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/>
                </a:tc>
                <a:extLst>
                  <a:ext uri="{0D108BD9-81ED-4DB2-BD59-A6C34878D82A}">
                    <a16:rowId xmlns:a16="http://schemas.microsoft.com/office/drawing/2014/main" val="1257044554"/>
                  </a:ext>
                </a:extLst>
              </a:tr>
            </a:tbl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805185-DF92-4191-D53A-1074F8994683}"/>
              </a:ext>
            </a:extLst>
          </p:cNvPr>
          <p:cNvSpPr txBox="1"/>
          <p:nvPr/>
        </p:nvSpPr>
        <p:spPr>
          <a:xfrm>
            <a:off x="100594" y="1008250"/>
            <a:ext cx="11982050" cy="1516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lnSpc>
                <a:spcPts val="2800"/>
              </a:lnSpc>
              <a:buFont typeface="Wingdings" panose="05000000000000000000" pitchFamily="2" charset="2"/>
              <a:buChar char="Ø"/>
            </a:pPr>
            <a:r>
              <a:rPr lang="en-US" sz="2000" b="1"/>
              <a:t>Metric Discrepancy: </a:t>
            </a:r>
            <a:r>
              <a:rPr lang="en-US" sz="2000"/>
              <a:t>A negative FIT combined with a positive VAF (as seen in the a</a:t>
            </a:r>
            <a:r>
              <a:rPr lang="en-US" sz="2000" baseline="-25000"/>
              <a:t>x</a:t>
            </a:r>
            <a:r>
              <a:rPr lang="en-US" sz="2000"/>
              <a:t> channel) confirms that while the absolute pointwise error is large due to noise, the model still correctly captures a portion of the underlying dynamic trend.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ttangolo con angoli arrotondati 4">
                <a:extLst>
                  <a:ext uri="{FF2B5EF4-FFF2-40B4-BE49-F238E27FC236}">
                    <a16:creationId xmlns:a16="http://schemas.microsoft.com/office/drawing/2014/main" id="{9CE8D1C2-1459-6098-DC30-AC038DF8403F}"/>
                  </a:ext>
                </a:extLst>
              </p:cNvPr>
              <p:cNvSpPr/>
              <p:nvPr/>
            </p:nvSpPr>
            <p:spPr>
              <a:xfrm>
                <a:off x="474650" y="4104289"/>
                <a:ext cx="4885451" cy="532243"/>
              </a:xfrm>
              <a:prstGeom prst="roundRect">
                <a:avLst/>
              </a:prstGeom>
              <a:solidFill>
                <a:srgbClr val="65829B"/>
              </a:solidFill>
              <a:ln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 err="1"/>
                  <a:t>Higher</a:t>
                </a:r>
                <a:r>
                  <a:rPr lang="it-IT" b="1"/>
                  <a:t> </a:t>
                </a:r>
                <a:r>
                  <a:rPr lang="it-IT" b="1" err="1"/>
                  <a:t>Coherence</a:t>
                </a:r>
                <a:r>
                  <a:rPr lang="it-IT" b="1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𝒂𝒙</m:t>
                        </m:r>
                      </m:sub>
                      <m:sup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it-IT" b="1"/>
                  <a:t> with comparable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𝜸</m:t>
                        </m:r>
                      </m:e>
                      <m:sub>
                        <m:r>
                          <a:rPr lang="en-US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a:rPr lang="it-IT" b="1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  <m:sup>
                        <m:r>
                          <a:rPr lang="it-IT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</m:oMath>
                </a14:m>
                <a:r>
                  <a:rPr lang="it-IT" b="1"/>
                  <a:t> </a:t>
                </a:r>
              </a:p>
            </p:txBody>
          </p:sp>
        </mc:Choice>
        <mc:Fallback xmlns="">
          <p:sp>
            <p:nvSpPr>
              <p:cNvPr id="5" name="Rettangolo con angoli arrotondati 4">
                <a:extLst>
                  <a:ext uri="{FF2B5EF4-FFF2-40B4-BE49-F238E27FC236}">
                    <a16:creationId xmlns:a16="http://schemas.microsoft.com/office/drawing/2014/main" id="{9CE8D1C2-1459-6098-DC30-AC038DF840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50" y="4104289"/>
                <a:ext cx="4885451" cy="53224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rgbClr val="65829B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EB0C0FB-3776-E9D1-B0B5-8D69B151C9C0}"/>
              </a:ext>
            </a:extLst>
          </p:cNvPr>
          <p:cNvSpPr/>
          <p:nvPr/>
        </p:nvSpPr>
        <p:spPr>
          <a:xfrm>
            <a:off x="474650" y="5581833"/>
            <a:ext cx="4885450" cy="532243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 </a:t>
            </a:r>
            <a:r>
              <a:rPr lang="it-IT" b="1" err="1"/>
              <a:t>Higher</a:t>
            </a:r>
            <a:r>
              <a:rPr lang="it-IT" b="1"/>
              <a:t> VAF </a:t>
            </a:r>
            <a:r>
              <a:rPr lang="it-IT" b="1" err="1"/>
              <a:t>at</a:t>
            </a:r>
            <a:r>
              <a:rPr lang="it-IT" b="1"/>
              <a:t> comparable FIT</a:t>
            </a: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658D0BF7-88A3-934F-72FA-580B127B2DC4}"/>
              </a:ext>
            </a:extLst>
          </p:cNvPr>
          <p:cNvSpPr/>
          <p:nvPr/>
        </p:nvSpPr>
        <p:spPr>
          <a:xfrm>
            <a:off x="474650" y="4859407"/>
            <a:ext cx="4885450" cy="532243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 err="1"/>
              <a:t>Closer</a:t>
            </a:r>
            <a:r>
              <a:rPr lang="it-IT" b="1"/>
              <a:t> FRF </a:t>
            </a:r>
            <a:r>
              <a:rPr lang="it-IT" b="1" err="1"/>
              <a:t>magnitude</a:t>
            </a:r>
            <a:r>
              <a:rPr lang="it-IT" b="1"/>
              <a:t> for the u </a:t>
            </a:r>
            <a:r>
              <a:rPr lang="it-IT" b="1">
                <a:sym typeface="Wingdings" panose="05000000000000000000" pitchFamily="2" charset="2"/>
              </a:rPr>
              <a:t>- </a:t>
            </a:r>
            <a:r>
              <a:rPr lang="it-IT" b="1" err="1"/>
              <a:t>a</a:t>
            </a:r>
            <a:r>
              <a:rPr lang="it-IT" b="1" baseline="-25000" err="1"/>
              <a:t>x</a:t>
            </a:r>
            <a:r>
              <a:rPr lang="it-IT" b="1"/>
              <a:t> </a:t>
            </a:r>
            <a:r>
              <a:rPr lang="it-IT" b="1" err="1"/>
              <a:t>channel</a:t>
            </a:r>
            <a:r>
              <a:rPr lang="it-IT" b="1"/>
              <a:t> to the </a:t>
            </a:r>
            <a:r>
              <a:rPr lang="it-IT" b="1" err="1"/>
              <a:t>real</a:t>
            </a:r>
            <a:r>
              <a:rPr lang="it-IT" b="1"/>
              <a:t> one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FF3D7CD5-A297-8923-241F-917B5890E280}"/>
              </a:ext>
            </a:extLst>
          </p:cNvPr>
          <p:cNvSpPr/>
          <p:nvPr/>
        </p:nvSpPr>
        <p:spPr>
          <a:xfrm>
            <a:off x="5743862" y="4963495"/>
            <a:ext cx="1212145" cy="293167"/>
          </a:xfrm>
          <a:prstGeom prst="rightArrow">
            <a:avLst/>
          </a:prstGeom>
          <a:solidFill>
            <a:srgbClr val="65829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7AD00252-873A-DB3D-F1ED-F580EC1D133C}"/>
              </a:ext>
            </a:extLst>
          </p:cNvPr>
          <p:cNvGrpSpPr/>
          <p:nvPr/>
        </p:nvGrpSpPr>
        <p:grpSpPr>
          <a:xfrm>
            <a:off x="7237145" y="4332926"/>
            <a:ext cx="4533325" cy="1454777"/>
            <a:chOff x="7446550" y="4297249"/>
            <a:chExt cx="4533325" cy="1454777"/>
          </a:xfrm>
        </p:grpSpPr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AA8EFC14-DAAE-F20D-422A-B77B6D793C06}"/>
                </a:ext>
              </a:extLst>
            </p:cNvPr>
            <p:cNvGrpSpPr/>
            <p:nvPr/>
          </p:nvGrpSpPr>
          <p:grpSpPr>
            <a:xfrm>
              <a:off x="7446550" y="4297249"/>
              <a:ext cx="4533325" cy="1454777"/>
              <a:chOff x="334296" y="4095729"/>
              <a:chExt cx="5716670" cy="1454777"/>
            </a:xfrm>
          </p:grpSpPr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045EFC3E-B82E-94C8-E538-20D5A9E35AD6}"/>
                  </a:ext>
                </a:extLst>
              </p:cNvPr>
              <p:cNvSpPr/>
              <p:nvPr/>
            </p:nvSpPr>
            <p:spPr>
              <a:xfrm>
                <a:off x="334296" y="4583695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B8C04925-FC27-0167-FED1-CDE283578B4D}"/>
                  </a:ext>
                </a:extLst>
              </p:cNvPr>
              <p:cNvSpPr/>
              <p:nvPr/>
            </p:nvSpPr>
            <p:spPr>
              <a:xfrm>
                <a:off x="334296" y="4095729"/>
                <a:ext cx="5716670" cy="518805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b="1">
                    <a:solidFill>
                      <a:schemeClr val="bg1"/>
                    </a:solidFill>
                    <a:sym typeface="Wingdings" panose="05000000000000000000" pitchFamily="2" charset="2"/>
                  </a:rPr>
                  <a:t>CASE 1 SELECTED</a:t>
                </a:r>
                <a:endParaRPr lang="it-IT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6" name="CasellaDiTesto 15">
              <a:extLst>
                <a:ext uri="{FF2B5EF4-FFF2-40B4-BE49-F238E27FC236}">
                  <a16:creationId xmlns:a16="http://schemas.microsoft.com/office/drawing/2014/main" id="{AD1E5430-E49D-3149-7C0F-73FF2418849B}"/>
                </a:ext>
              </a:extLst>
            </p:cNvPr>
            <p:cNvSpPr txBox="1"/>
            <p:nvPr/>
          </p:nvSpPr>
          <p:spPr>
            <a:xfrm>
              <a:off x="7622327" y="4806955"/>
              <a:ext cx="407640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/>
                <a:t>The First Set yields </a:t>
              </a:r>
              <a:r>
                <a:rPr lang="it-IT" err="1"/>
                <a:t>improved</a:t>
              </a:r>
              <a:r>
                <a:rPr lang="it-IT"/>
                <a:t> </a:t>
              </a:r>
              <a:r>
                <a:rPr lang="it-IT" err="1"/>
                <a:t>results</a:t>
              </a:r>
              <a:r>
                <a:rPr lang="it-IT"/>
                <a:t> for the a</a:t>
              </a:r>
              <a:r>
                <a:rPr lang="it-IT" baseline="-25000"/>
                <a:t>x</a:t>
              </a:r>
              <a:r>
                <a:rPr lang="it-IT"/>
                <a:t> </a:t>
              </a:r>
              <a:r>
                <a:rPr lang="it-IT" err="1"/>
                <a:t>channel</a:t>
              </a:r>
              <a:r>
                <a:rPr lang="it-IT"/>
                <a:t> </a:t>
              </a:r>
              <a:r>
                <a:rPr lang="it-IT" err="1"/>
                <a:t>while</a:t>
              </a:r>
              <a:r>
                <a:rPr lang="it-IT"/>
                <a:t> </a:t>
              </a:r>
              <a:r>
                <a:rPr lang="it-IT" err="1"/>
                <a:t>maintaining</a:t>
              </a:r>
              <a:r>
                <a:rPr lang="it-IT"/>
                <a:t> an </a:t>
              </a:r>
              <a:r>
                <a:rPr lang="it-IT" err="1"/>
                <a:t>optimal</a:t>
              </a:r>
              <a:r>
                <a:rPr lang="it-IT"/>
                <a:t> pitch </a:t>
              </a:r>
              <a:r>
                <a:rPr lang="it-IT" err="1"/>
                <a:t>response</a:t>
              </a:r>
              <a:r>
                <a:rPr lang="it-IT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8936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E65DB4A-D132-CED8-607C-6E4598DE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26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F4AF2E3D-82FB-2686-D69E-13C9B2635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Project tasks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1668C6C-FA15-3A4C-CDEB-667AAD306C5B}"/>
              </a:ext>
            </a:extLst>
          </p:cNvPr>
          <p:cNvSpPr txBox="1"/>
          <p:nvPr/>
        </p:nvSpPr>
        <p:spPr>
          <a:xfrm>
            <a:off x="105355" y="1007818"/>
            <a:ext cx="11874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Task 3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/>
              <a:t>Analysis of the best model in a Monte Carlo study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7CE90F07-7CCA-9F4B-3C00-F5FFC310B8B4}"/>
              </a:ext>
            </a:extLst>
          </p:cNvPr>
          <p:cNvGrpSpPr/>
          <p:nvPr/>
        </p:nvGrpSpPr>
        <p:grpSpPr>
          <a:xfrm>
            <a:off x="6701289" y="1095683"/>
            <a:ext cx="4999101" cy="2155088"/>
            <a:chOff x="7446548" y="4297249"/>
            <a:chExt cx="4533327" cy="1378771"/>
          </a:xfrm>
        </p:grpSpPr>
        <p:grpSp>
          <p:nvGrpSpPr>
            <p:cNvPr id="7" name="Gruppo 6">
              <a:extLst>
                <a:ext uri="{FF2B5EF4-FFF2-40B4-BE49-F238E27FC236}">
                  <a16:creationId xmlns:a16="http://schemas.microsoft.com/office/drawing/2014/main" id="{304C14C8-716B-A313-034A-0B6B0FE3FD13}"/>
                </a:ext>
              </a:extLst>
            </p:cNvPr>
            <p:cNvGrpSpPr/>
            <p:nvPr/>
          </p:nvGrpSpPr>
          <p:grpSpPr>
            <a:xfrm>
              <a:off x="7446548" y="4297249"/>
              <a:ext cx="4533327" cy="1378771"/>
              <a:chOff x="334294" y="4095729"/>
              <a:chExt cx="5716673" cy="1378771"/>
            </a:xfrm>
          </p:grpSpPr>
          <p:sp>
            <p:nvSpPr>
              <p:cNvPr id="9" name="Rettangolo 8">
                <a:extLst>
                  <a:ext uri="{FF2B5EF4-FFF2-40B4-BE49-F238E27FC236}">
                    <a16:creationId xmlns:a16="http://schemas.microsoft.com/office/drawing/2014/main" id="{BCF3D884-7142-1F20-39BE-FFE5069156DF}"/>
                  </a:ext>
                </a:extLst>
              </p:cNvPr>
              <p:cNvSpPr/>
              <p:nvPr/>
            </p:nvSpPr>
            <p:spPr>
              <a:xfrm>
                <a:off x="334294" y="4507689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Rettangolo 9">
                <a:extLst>
                  <a:ext uri="{FF2B5EF4-FFF2-40B4-BE49-F238E27FC236}">
                    <a16:creationId xmlns:a16="http://schemas.microsoft.com/office/drawing/2014/main" id="{F28888D6-3208-A61C-B4EC-68606CFF6DC6}"/>
                  </a:ext>
                </a:extLst>
              </p:cNvPr>
              <p:cNvSpPr/>
              <p:nvPr/>
            </p:nvSpPr>
            <p:spPr>
              <a:xfrm>
                <a:off x="334296" y="4095729"/>
                <a:ext cx="5716671" cy="397326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>
                    <a:solidFill>
                      <a:schemeClr val="bg1"/>
                    </a:solidFill>
                    <a:sym typeface="Wingdings" panose="05000000000000000000" pitchFamily="2" charset="2"/>
                  </a:rPr>
                  <a:t>CASE 1 SELECTED</a:t>
                </a:r>
                <a:endParaRPr lang="it-IT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8" name="CasellaDiTesto 7">
              <a:extLst>
                <a:ext uri="{FF2B5EF4-FFF2-40B4-BE49-F238E27FC236}">
                  <a16:creationId xmlns:a16="http://schemas.microsoft.com/office/drawing/2014/main" id="{E3B1D6A1-A13E-ED56-E734-01F033E8816D}"/>
                </a:ext>
              </a:extLst>
            </p:cNvPr>
            <p:cNvSpPr txBox="1"/>
            <p:nvPr/>
          </p:nvSpPr>
          <p:spPr>
            <a:xfrm>
              <a:off x="7675008" y="4767000"/>
              <a:ext cx="4076409" cy="7866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/>
                <a:t>The Monte Carlo </a:t>
              </a:r>
              <a:r>
                <a:rPr lang="it-IT" sz="2000" err="1"/>
                <a:t>simulation</a:t>
              </a:r>
              <a:r>
                <a:rPr lang="it-IT" sz="2000"/>
                <a:t> </a:t>
              </a:r>
              <a:r>
                <a:rPr lang="it-IT" sz="2000" err="1"/>
                <a:t>is</a:t>
              </a:r>
              <a:r>
                <a:rPr lang="it-IT" sz="2000"/>
                <a:t> </a:t>
              </a:r>
              <a:r>
                <a:rPr lang="it-IT" sz="2000" err="1"/>
                <a:t>carried</a:t>
              </a:r>
              <a:r>
                <a:rPr lang="it-IT" sz="2000"/>
                <a:t> out </a:t>
              </a:r>
              <a:r>
                <a:rPr lang="it-IT" sz="2000" err="1"/>
                <a:t>using</a:t>
              </a:r>
              <a:r>
                <a:rPr lang="it-IT" sz="2000"/>
                <a:t> the first set of </a:t>
              </a:r>
              <a:r>
                <a:rPr lang="it-IT" sz="2000" err="1"/>
                <a:t>parameters</a:t>
              </a:r>
              <a:r>
                <a:rPr lang="it-IT" sz="2000"/>
                <a:t>.</a:t>
              </a:r>
            </a:p>
            <a:p>
              <a:pPr algn="ctr"/>
              <a:endParaRPr lang="it-IT" sz="2000"/>
            </a:p>
            <a:p>
              <a:pPr algn="ctr"/>
              <a:r>
                <a:rPr lang="el-GR" sz="2000"/>
                <a:t>σ</a:t>
              </a:r>
              <a:r>
                <a:rPr lang="it-IT" sz="2000" baseline="-25000"/>
                <a:t>q</a:t>
              </a:r>
              <a:r>
                <a:rPr lang="it-IT" sz="2000"/>
                <a:t> = 1.3            </a:t>
              </a:r>
              <a:r>
                <a:rPr lang="el-GR" sz="2000"/>
                <a:t>σ</a:t>
              </a:r>
              <a:r>
                <a:rPr lang="it-IT" sz="2000" baseline="-25000" err="1"/>
                <a:t>ax</a:t>
              </a:r>
              <a:r>
                <a:rPr lang="it-IT" sz="2000"/>
                <a:t> = 0.35</a:t>
              </a:r>
            </a:p>
          </p:txBody>
        </p:sp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468246D-EDFF-9541-D116-3CC9AE19E14D}"/>
              </a:ext>
            </a:extLst>
          </p:cNvPr>
          <p:cNvGrpSpPr/>
          <p:nvPr/>
        </p:nvGrpSpPr>
        <p:grpSpPr>
          <a:xfrm>
            <a:off x="6701289" y="3553500"/>
            <a:ext cx="4999095" cy="2614705"/>
            <a:chOff x="7446550" y="4403004"/>
            <a:chExt cx="4533325" cy="1445155"/>
          </a:xfrm>
        </p:grpSpPr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E1E302C3-9725-F6F9-708C-B49AA2BF12DE}"/>
                </a:ext>
              </a:extLst>
            </p:cNvPr>
            <p:cNvGrpSpPr/>
            <p:nvPr/>
          </p:nvGrpSpPr>
          <p:grpSpPr>
            <a:xfrm>
              <a:off x="7446550" y="4403004"/>
              <a:ext cx="4533325" cy="1349022"/>
              <a:chOff x="334296" y="4201484"/>
              <a:chExt cx="5716671" cy="1349022"/>
            </a:xfrm>
          </p:grpSpPr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58EDFB74-5A4D-0E0E-BFDC-C1E18D57F9E4}"/>
                  </a:ext>
                </a:extLst>
              </p:cNvPr>
              <p:cNvSpPr/>
              <p:nvPr/>
            </p:nvSpPr>
            <p:spPr>
              <a:xfrm>
                <a:off x="334296" y="4583695"/>
                <a:ext cx="5716669" cy="96681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Rettangolo 14">
                <a:extLst>
                  <a:ext uri="{FF2B5EF4-FFF2-40B4-BE49-F238E27FC236}">
                    <a16:creationId xmlns:a16="http://schemas.microsoft.com/office/drawing/2014/main" id="{5A45AB52-7EFB-E310-B8FB-676AE3F7FF05}"/>
                  </a:ext>
                </a:extLst>
              </p:cNvPr>
              <p:cNvSpPr/>
              <p:nvPr/>
            </p:nvSpPr>
            <p:spPr>
              <a:xfrm>
                <a:off x="334296" y="4201484"/>
                <a:ext cx="5716671" cy="382211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>
                    <a:solidFill>
                      <a:schemeClr val="bg1"/>
                    </a:solidFill>
                  </a:rPr>
                  <a:t>SEED GENERATION</a:t>
                </a:r>
              </a:p>
            </p:txBody>
          </p:sp>
        </p:grpSp>
        <p:sp>
          <p:nvSpPr>
            <p:cNvPr id="13" name="CasellaDiTesto 12">
              <a:extLst>
                <a:ext uri="{FF2B5EF4-FFF2-40B4-BE49-F238E27FC236}">
                  <a16:creationId xmlns:a16="http://schemas.microsoft.com/office/drawing/2014/main" id="{8943092E-D0C6-5376-B1AA-E80F835B5368}"/>
                </a:ext>
              </a:extLst>
            </p:cNvPr>
            <p:cNvSpPr txBox="1"/>
            <p:nvPr/>
          </p:nvSpPr>
          <p:spPr>
            <a:xfrm>
              <a:off x="7675006" y="4878623"/>
              <a:ext cx="4076409" cy="9695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/>
                <a:t>The </a:t>
              </a:r>
              <a:r>
                <a:rPr lang="it-IT" sz="2000" err="1"/>
                <a:t>Simulink</a:t>
              </a:r>
              <a:r>
                <a:rPr lang="it-IT" sz="2000"/>
                <a:t> model </a:t>
              </a:r>
              <a:r>
                <a:rPr lang="it-IT" sz="2000" err="1"/>
                <a:t>includes</a:t>
              </a:r>
              <a:r>
                <a:rPr lang="it-IT" sz="2000"/>
                <a:t> </a:t>
              </a:r>
              <a:r>
                <a:rPr lang="it-IT" sz="2000" err="1"/>
                <a:t>five</a:t>
              </a:r>
              <a:r>
                <a:rPr lang="it-IT" sz="2000"/>
                <a:t> </a:t>
              </a:r>
              <a:r>
                <a:rPr lang="it-IT" sz="2000" err="1"/>
                <a:t>distinct</a:t>
              </a:r>
              <a:r>
                <a:rPr lang="it-IT" sz="2000"/>
                <a:t> </a:t>
              </a:r>
              <a:r>
                <a:rPr lang="it-IT" sz="2000" err="1"/>
                <a:t>noise</a:t>
              </a:r>
              <a:r>
                <a:rPr lang="it-IT" sz="2000"/>
                <a:t> sources; for </a:t>
              </a:r>
              <a:r>
                <a:rPr lang="it-IT" sz="2000" err="1"/>
                <a:t>every</a:t>
              </a:r>
              <a:r>
                <a:rPr lang="it-IT" sz="2000"/>
                <a:t> </a:t>
              </a:r>
              <a:r>
                <a:rPr lang="it-IT" sz="2000" err="1"/>
                <a:t>iteration</a:t>
              </a:r>
              <a:r>
                <a:rPr lang="it-IT" sz="2000"/>
                <a:t>, the Monte Carlo script </a:t>
              </a:r>
              <a:r>
                <a:rPr lang="it-IT" sz="2000" err="1"/>
                <a:t>generates</a:t>
              </a:r>
              <a:r>
                <a:rPr lang="it-IT" sz="2000"/>
                <a:t> a </a:t>
              </a:r>
              <a:r>
                <a:rPr lang="it-IT" sz="2000" err="1"/>
                <a:t>unique</a:t>
              </a:r>
              <a:r>
                <a:rPr lang="it-IT" sz="2000"/>
                <a:t> random </a:t>
              </a:r>
              <a:r>
                <a:rPr lang="it-IT" sz="2000" err="1"/>
                <a:t>seed</a:t>
              </a:r>
              <a:r>
                <a:rPr lang="it-IT" sz="2000"/>
                <a:t> for </a:t>
              </a:r>
              <a:r>
                <a:rPr lang="it-IT" sz="2000" err="1"/>
                <a:t>each</a:t>
              </a:r>
              <a:r>
                <a:rPr lang="it-IT" sz="2000"/>
                <a:t> source.</a:t>
              </a:r>
            </a:p>
          </p:txBody>
        </p:sp>
      </p:grpSp>
      <p:pic>
        <p:nvPicPr>
          <p:cNvPr id="17" name="Immagine 16">
            <a:extLst>
              <a:ext uri="{FF2B5EF4-FFF2-40B4-BE49-F238E27FC236}">
                <a16:creationId xmlns:a16="http://schemas.microsoft.com/office/drawing/2014/main" id="{AF0EADEB-55E9-95FC-F44D-2720452A1F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45882" y="1832266"/>
            <a:ext cx="3932261" cy="413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434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8E983FF-6EB6-78D4-DD75-BEA332FB2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27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34463ACD-B1A4-09BF-C179-25196653E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Number of </a:t>
            </a:r>
            <a:r>
              <a:rPr lang="it-IT" err="1"/>
              <a:t>iterations</a:t>
            </a:r>
            <a:r>
              <a:rPr lang="it-IT"/>
              <a:t> </a:t>
            </a:r>
            <a:r>
              <a:rPr lang="it-IT" err="1"/>
              <a:t>rationale</a:t>
            </a:r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2102794-8B68-F7B0-B82E-75D6ACF314B7}"/>
                  </a:ext>
                </a:extLst>
              </p:cNvPr>
              <p:cNvSpPr txBox="1"/>
              <p:nvPr/>
            </p:nvSpPr>
            <p:spPr>
              <a:xfrm>
                <a:off x="8124897" y="1209798"/>
                <a:ext cx="4067103" cy="45027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u="sng">
                    <a:solidFill>
                      <a:srgbClr val="213652"/>
                    </a:solidFill>
                  </a:rPr>
                  <a:t>Considerations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it-IT" sz="2000" b="1"/>
                  <a:t>Visual Mean </a:t>
                </a:r>
                <a:r>
                  <a:rPr lang="it-IT" sz="2000" b="1" err="1"/>
                  <a:t>Convergence</a:t>
                </a:r>
                <a:r>
                  <a:rPr lang="it-IT" sz="2000" b="1"/>
                  <a:t>: </a:t>
                </a:r>
                <a:r>
                  <a:rPr lang="it-IT" sz="2000"/>
                  <a:t>By running an </a:t>
                </a:r>
                <a:r>
                  <a:rPr lang="it-IT" sz="2000" err="1"/>
                  <a:t>arbitrary</a:t>
                </a:r>
                <a:r>
                  <a:rPr lang="it-IT" sz="2000"/>
                  <a:t> </a:t>
                </a:r>
                <a:r>
                  <a:rPr lang="it-IT" sz="2000" err="1"/>
                  <a:t>number</a:t>
                </a:r>
                <a:r>
                  <a:rPr lang="it-IT" sz="2000"/>
                  <a:t> of </a:t>
                </a:r>
                <a:r>
                  <a:rPr lang="it-IT" sz="2000" err="1"/>
                  <a:t>iterations</a:t>
                </a:r>
                <a:r>
                  <a:rPr lang="it-IT" sz="2000"/>
                  <a:t>, the </a:t>
                </a:r>
                <a:r>
                  <a:rPr lang="it-IT" sz="2000" err="1"/>
                  <a:t>required</a:t>
                </a:r>
                <a:r>
                  <a:rPr lang="it-IT" sz="2000"/>
                  <a:t> sample size can be </a:t>
                </a:r>
                <a:r>
                  <a:rPr lang="it-IT" sz="2000" err="1"/>
                  <a:t>determined</a:t>
                </a:r>
                <a:r>
                  <a:rPr lang="it-IT" sz="2000"/>
                  <a:t> by </a:t>
                </a:r>
                <a:r>
                  <a:rPr lang="it-IT" sz="2000" err="1"/>
                  <a:t>analyzing</a:t>
                </a:r>
                <a:r>
                  <a:rPr lang="it-IT" sz="2000"/>
                  <a:t> the </a:t>
                </a:r>
                <a:r>
                  <a:rPr lang="it-IT" sz="2000" err="1"/>
                  <a:t>mean</a:t>
                </a:r>
                <a:r>
                  <a:rPr lang="it-IT" sz="2000"/>
                  <a:t> </a:t>
                </a:r>
                <a:r>
                  <a:rPr lang="it-IT" sz="2000" err="1"/>
                  <a:t>convergence</a:t>
                </a:r>
                <a:r>
                  <a:rPr lang="it-IT" sz="2000"/>
                  <a:t> plot.</a:t>
                </a:r>
                <a:endParaRPr lang="it-IT" sz="2000" b="1"/>
              </a:p>
              <a:p>
                <a:r>
                  <a:rPr lang="it-IT" sz="2000" b="1"/>
                  <a:t> 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it-IT" sz="2000" b="1" err="1"/>
                  <a:t>Convergence</a:t>
                </a:r>
                <a:r>
                  <a:rPr lang="it-IT" sz="2000" b="1"/>
                  <a:t> </a:t>
                </a:r>
                <a:r>
                  <a:rPr lang="it-IT" sz="2000" b="1" err="1"/>
                  <a:t>Metric</a:t>
                </a:r>
                <a:r>
                  <a:rPr lang="it-IT" sz="2000" b="1"/>
                  <a:t>: </a:t>
                </a:r>
                <a:r>
                  <a:rPr lang="it-IT" sz="2000" err="1"/>
                  <a:t>Another</a:t>
                </a:r>
                <a:r>
                  <a:rPr lang="it-IT" sz="2000"/>
                  <a:t> </a:t>
                </a:r>
                <a:r>
                  <a:rPr lang="it-IT" sz="2000" err="1"/>
                  <a:t>approach</a:t>
                </a:r>
                <a:r>
                  <a:rPr lang="it-IT" sz="2000"/>
                  <a:t> </a:t>
                </a:r>
                <a:r>
                  <a:rPr lang="it-IT" sz="2000" err="1"/>
                  <a:t>involves</a:t>
                </a:r>
                <a:r>
                  <a:rPr lang="it-IT" sz="2000"/>
                  <a:t> </a:t>
                </a:r>
                <a:r>
                  <a:rPr lang="it-IT" sz="2000" err="1"/>
                  <a:t>evaluating</a:t>
                </a:r>
                <a:r>
                  <a:rPr lang="it-IT" sz="2000"/>
                  <a:t> the </a:t>
                </a:r>
                <a:r>
                  <a:rPr lang="it-IT" sz="2000" err="1"/>
                  <a:t>percentage</a:t>
                </a:r>
                <a:r>
                  <a:rPr lang="it-IT" sz="2000"/>
                  <a:t> </a:t>
                </a:r>
                <a:r>
                  <a:rPr lang="it-IT" sz="2000" err="1"/>
                  <a:t>change</a:t>
                </a:r>
                <a:r>
                  <a:rPr lang="it-IT" sz="2000"/>
                  <a:t> of the </a:t>
                </a:r>
                <a:r>
                  <a:rPr lang="it-IT" sz="2000" err="1"/>
                  <a:t>mean</a:t>
                </a:r>
                <a:r>
                  <a:rPr lang="it-IT" sz="2000"/>
                  <a:t> </a:t>
                </a:r>
                <a:r>
                  <a:rPr lang="it-IT" sz="2000" err="1"/>
                  <a:t>at</a:t>
                </a:r>
                <a:r>
                  <a:rPr lang="it-IT" sz="2000"/>
                  <a:t> </a:t>
                </a:r>
                <a:r>
                  <a:rPr lang="it-IT" sz="2000" err="1"/>
                  <a:t>each</a:t>
                </a:r>
                <a:r>
                  <a:rPr lang="it-IT" sz="2000"/>
                  <a:t> </a:t>
                </a:r>
                <a:r>
                  <a:rPr lang="it-IT" sz="2000" err="1"/>
                  <a:t>iteration</a:t>
                </a:r>
                <a:r>
                  <a:rPr lang="it-IT" sz="2000"/>
                  <a:t>.</a:t>
                </a:r>
                <a:endParaRPr lang="it-IT" sz="2000" b="1" i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it-IT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it-IT" i="1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it-IT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it-IT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it-IT">
                              <a:latin typeface="Cambria Math" panose="02040503050406030204" pitchFamily="18" charset="0"/>
                            </a:rPr>
                            <m:t>std</m:t>
                          </m:r>
                        </m:fName>
                        <m:e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​</m:t>
                          </m:r>
                          <m:d>
                            <m:d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̂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,1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acc>
                                <m:accPr>
                                  <m:chr m:val="̂"/>
                                  <m:ctrlPr>
                                    <a:rPr lang="it-IT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it-IT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sub>
                                  </m:sSub>
                                </m:e>
                              </m:acc>
                            </m:e>
                          </m:d>
                        </m:e>
                      </m:func>
                      <m:r>
                        <a:rPr lang="it-IT" i="1">
                          <a:latin typeface="Cambria Math" panose="02040503050406030204" pitchFamily="18" charset="0"/>
                        </a:rPr>
                        <m:t>,  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it-IT" i="1">
                          <a:latin typeface="Cambria Math" panose="02040503050406030204" pitchFamily="18" charset="0"/>
                        </a:rPr>
                        <m:t>=0.01</m:t>
                      </m:r>
                    </m:oMath>
                  </m:oMathPara>
                </a14:m>
                <a:endParaRPr lang="it-IT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2102794-8B68-F7B0-B82E-75D6ACF314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4897" y="1209798"/>
                <a:ext cx="4067103" cy="4502707"/>
              </a:xfrm>
              <a:prstGeom prst="rect">
                <a:avLst/>
              </a:prstGeom>
              <a:blipFill>
                <a:blip r:embed="rId2"/>
                <a:stretch>
                  <a:fillRect l="-2399" t="-1083" b="-5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33AC3890-4364-2171-A777-A9212060BD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9" t="2780" r="7627" b="4331"/>
          <a:stretch>
            <a:fillRect/>
          </a:stretch>
        </p:blipFill>
        <p:spPr>
          <a:xfrm>
            <a:off x="154941" y="1145495"/>
            <a:ext cx="7969956" cy="499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069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4610-6261-6F32-5CB9-0F077D1A9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16CDFE84-2EE0-4060-9139-F67CD1AE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28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494E78E-1D1F-B993-2EA2-FE78CB141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Zeros</a:t>
            </a:r>
            <a:r>
              <a:rPr lang="it-IT"/>
              <a:t> and Poles </a:t>
            </a:r>
            <a:r>
              <a:rPr lang="it-IT" err="1"/>
              <a:t>Dispersion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67991A0-DEF3-8EFE-39E0-1FC4E8299A29}"/>
              </a:ext>
            </a:extLst>
          </p:cNvPr>
          <p:cNvSpPr txBox="1"/>
          <p:nvPr/>
        </p:nvSpPr>
        <p:spPr>
          <a:xfrm>
            <a:off x="8740876" y="1023138"/>
            <a:ext cx="34511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Poles: </a:t>
            </a:r>
            <a:r>
              <a:rPr lang="it-IT" sz="2000"/>
              <a:t>Low </a:t>
            </a:r>
            <a:r>
              <a:rPr lang="it-IT" sz="2000" err="1"/>
              <a:t>variance</a:t>
            </a:r>
            <a:r>
              <a:rPr lang="it-IT" sz="2000"/>
              <a:t> and </a:t>
            </a:r>
            <a:r>
              <a:rPr lang="it-IT" sz="2000" err="1"/>
              <a:t>systematic</a:t>
            </a:r>
            <a:r>
              <a:rPr lang="it-IT" sz="2000"/>
              <a:t> </a:t>
            </a:r>
            <a:r>
              <a:rPr lang="it-IT" sz="2000" err="1"/>
              <a:t>bias</a:t>
            </a:r>
            <a:r>
              <a:rPr lang="it-IT" sz="2000"/>
              <a:t>. No </a:t>
            </a:r>
            <a:r>
              <a:rPr lang="it-IT" sz="2000" err="1"/>
              <a:t>change</a:t>
            </a:r>
            <a:r>
              <a:rPr lang="it-IT" sz="2000"/>
              <a:t> in </a:t>
            </a:r>
            <a:r>
              <a:rPr lang="it-IT" sz="2000" err="1"/>
              <a:t>sign</a:t>
            </a:r>
            <a:r>
              <a:rPr lang="it-IT" sz="2000"/>
              <a:t> </a:t>
            </a:r>
            <a:r>
              <a:rPr lang="it-IT" sz="2000" err="1"/>
              <a:t>reflects</a:t>
            </a:r>
            <a:r>
              <a:rPr lang="it-IT" sz="2000"/>
              <a:t> </a:t>
            </a:r>
            <a:r>
              <a:rPr lang="it-IT" sz="2000" err="1"/>
              <a:t>consistent</a:t>
            </a:r>
            <a:r>
              <a:rPr lang="it-IT" sz="2000"/>
              <a:t> system </a:t>
            </a:r>
            <a:r>
              <a:rPr lang="it-IT" sz="2000" err="1"/>
              <a:t>stability</a:t>
            </a:r>
            <a:r>
              <a:rPr lang="it-IT" sz="2000"/>
              <a:t>.</a:t>
            </a:r>
            <a:endParaRPr lang="it-IT" sz="2000" b="1"/>
          </a:p>
          <a:p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Pitch Rate </a:t>
            </a:r>
            <a:r>
              <a:rPr lang="it-IT" sz="2000" b="1" err="1"/>
              <a:t>Zeros</a:t>
            </a:r>
            <a:r>
              <a:rPr lang="it-IT" sz="2000" b="1"/>
              <a:t>: </a:t>
            </a:r>
            <a:r>
              <a:rPr lang="it-IT" sz="2000"/>
              <a:t>High </a:t>
            </a:r>
            <a:r>
              <a:rPr lang="it-IT" sz="2000" err="1"/>
              <a:t>identification</a:t>
            </a:r>
            <a:r>
              <a:rPr lang="it-IT" sz="2000"/>
              <a:t> </a:t>
            </a:r>
            <a:r>
              <a:rPr lang="it-IT" sz="2000" err="1"/>
              <a:t>accuracy</a:t>
            </a:r>
            <a:r>
              <a:rPr lang="it-IT" sz="2000"/>
              <a:t> and low </a:t>
            </a:r>
            <a:r>
              <a:rPr lang="it-IT" sz="2000" err="1"/>
              <a:t>variance</a:t>
            </a:r>
            <a:r>
              <a:rPr lang="it-IT" sz="2000"/>
              <a:t> </a:t>
            </a:r>
            <a:r>
              <a:rPr lang="it-IT" sz="2000" err="1"/>
              <a:t>reflected</a:t>
            </a:r>
            <a:r>
              <a:rPr lang="it-IT" sz="2000"/>
              <a:t> in a </a:t>
            </a:r>
            <a:r>
              <a:rPr lang="it-IT" sz="2000" err="1"/>
              <a:t>highly</a:t>
            </a:r>
            <a:r>
              <a:rPr lang="it-IT" sz="2000"/>
              <a:t> </a:t>
            </a:r>
            <a:r>
              <a:rPr lang="it-IT" sz="2000" err="1"/>
              <a:t>predictable</a:t>
            </a:r>
            <a:r>
              <a:rPr lang="it-IT" sz="2000"/>
              <a:t> </a:t>
            </a:r>
            <a:r>
              <a:rPr lang="it-IT" sz="2000" err="1"/>
              <a:t>response</a:t>
            </a:r>
            <a:r>
              <a:rPr lang="it-IT" sz="2000"/>
              <a:t>.</a:t>
            </a:r>
          </a:p>
          <a:p>
            <a:endParaRPr lang="it-IT" sz="2000" b="1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Acceleration </a:t>
            </a:r>
            <a:r>
              <a:rPr lang="it-IT" sz="2000" b="1" err="1"/>
              <a:t>Zeros</a:t>
            </a:r>
            <a:r>
              <a:rPr lang="it-IT" sz="2000" b="1"/>
              <a:t>: </a:t>
            </a:r>
            <a:r>
              <a:rPr lang="it-IT" sz="2000" err="1"/>
              <a:t>Sign</a:t>
            </a:r>
            <a:r>
              <a:rPr lang="it-IT" sz="2000"/>
              <a:t> </a:t>
            </a:r>
            <a:r>
              <a:rPr lang="it-IT" sz="2000" err="1"/>
              <a:t>changes</a:t>
            </a:r>
            <a:r>
              <a:rPr lang="it-IT" sz="2000"/>
              <a:t> cause inverse </a:t>
            </a:r>
            <a:r>
              <a:rPr lang="it-IT" sz="2000" err="1"/>
              <a:t>transient</a:t>
            </a:r>
            <a:r>
              <a:rPr lang="it-IT" sz="2000"/>
              <a:t> </a:t>
            </a:r>
            <a:r>
              <a:rPr lang="it-IT" sz="2000" err="1"/>
              <a:t>responses</a:t>
            </a:r>
            <a:r>
              <a:rPr lang="it-IT" sz="2000"/>
              <a:t>; high </a:t>
            </a:r>
            <a:r>
              <a:rPr lang="it-IT" sz="2000" err="1"/>
              <a:t>variance</a:t>
            </a:r>
            <a:r>
              <a:rPr lang="it-IT" sz="2000"/>
              <a:t> leads to low </a:t>
            </a:r>
            <a:r>
              <a:rPr lang="it-IT" sz="2000" err="1"/>
              <a:t>response</a:t>
            </a:r>
            <a:r>
              <a:rPr lang="it-IT" sz="2000"/>
              <a:t> </a:t>
            </a:r>
            <a:r>
              <a:rPr lang="it-IT" sz="2000" err="1"/>
              <a:t>predictability</a:t>
            </a:r>
            <a:r>
              <a:rPr lang="it-IT" sz="2000"/>
              <a:t>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94CD340-B375-73B6-A539-DC58ECF66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3" t="2111" r="8553"/>
          <a:stretch>
            <a:fillRect/>
          </a:stretch>
        </p:blipFill>
        <p:spPr>
          <a:xfrm>
            <a:off x="48753" y="1377244"/>
            <a:ext cx="8568423" cy="429186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4DA9AD0-7242-E6DE-5950-0DDD55BED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0" t="5117" r="8618"/>
          <a:stretch>
            <a:fillRect/>
          </a:stretch>
        </p:blipFill>
        <p:spPr>
          <a:xfrm>
            <a:off x="53324" y="1379799"/>
            <a:ext cx="8687552" cy="418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44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E7A08-D848-B542-E730-DC67D78FF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66388FEB-0E7F-2F70-EB19-8617CDD17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29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5CD07F31-733F-AE0B-1E0A-E086F79C0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FRF </a:t>
            </a:r>
            <a:r>
              <a:rPr lang="it-IT" err="1"/>
              <a:t>Dispersion</a:t>
            </a:r>
            <a:r>
              <a:rPr lang="it-IT"/>
              <a:t>: pitch rate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6FC7970-BC5C-0173-B515-7EA4E7FBB39F}"/>
              </a:ext>
            </a:extLst>
          </p:cNvPr>
          <p:cNvSpPr txBox="1"/>
          <p:nvPr/>
        </p:nvSpPr>
        <p:spPr>
          <a:xfrm>
            <a:off x="8542374" y="1171185"/>
            <a:ext cx="3649626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High Fidelity &amp; Low Variance: </a:t>
            </a:r>
            <a:r>
              <a:rPr lang="it-IT" sz="2000"/>
              <a:t>Minimal pole-zero </a:t>
            </a:r>
            <a:r>
              <a:rPr lang="it-IT" sz="2000" err="1"/>
              <a:t>dispersion</a:t>
            </a:r>
            <a:r>
              <a:rPr lang="it-IT" sz="2000"/>
              <a:t> </a:t>
            </a:r>
            <a:r>
              <a:rPr lang="it-IT" sz="2000" err="1"/>
              <a:t>results</a:t>
            </a:r>
            <a:r>
              <a:rPr lang="it-IT" sz="2000"/>
              <a:t> in a tight </a:t>
            </a:r>
            <a:r>
              <a:rPr lang="it-IT" sz="2000" err="1"/>
              <a:t>mid</a:t>
            </a:r>
            <a:r>
              <a:rPr lang="it-IT" sz="2000"/>
              <a:t>-to-high frequency </a:t>
            </a:r>
            <a:r>
              <a:rPr lang="it-IT" sz="2000" err="1"/>
              <a:t>envelope</a:t>
            </a:r>
            <a:r>
              <a:rPr lang="it-IT" sz="2000"/>
              <a:t> for the MC ensemble.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Systematic</a:t>
            </a:r>
            <a:r>
              <a:rPr lang="it-IT" sz="2000" b="1"/>
              <a:t> Bias: </a:t>
            </a:r>
            <a:r>
              <a:rPr lang="it-IT" sz="2000" err="1"/>
              <a:t>Visible</a:t>
            </a:r>
            <a:r>
              <a:rPr lang="it-IT" sz="2000"/>
              <a:t> in low frequency range </a:t>
            </a:r>
            <a:r>
              <a:rPr lang="it-IT" sz="2000" err="1"/>
              <a:t>estimation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19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1900" b="1" err="1"/>
              <a:t>Closed</a:t>
            </a:r>
            <a:r>
              <a:rPr lang="it-IT" sz="1900" b="1"/>
              <a:t>-Loop Readiness:</a:t>
            </a:r>
            <a:r>
              <a:rPr lang="it-IT" sz="1900"/>
              <a:t> The accurate tracking of the </a:t>
            </a:r>
            <a:r>
              <a:rPr lang="it-IT" sz="1900" err="1"/>
              <a:t>true</a:t>
            </a:r>
            <a:r>
              <a:rPr lang="it-IT" sz="1900"/>
              <a:t> </a:t>
            </a:r>
            <a:r>
              <a:rPr lang="it-IT" sz="1900" err="1"/>
              <a:t>model’s</a:t>
            </a:r>
            <a:r>
              <a:rPr lang="it-IT" sz="1900"/>
              <a:t> dynamics </a:t>
            </a:r>
            <a:r>
              <a:rPr lang="it-IT" sz="1900" err="1"/>
              <a:t>predict</a:t>
            </a:r>
            <a:r>
              <a:rPr lang="it-IT" sz="1900"/>
              <a:t> </a:t>
            </a:r>
            <a:r>
              <a:rPr lang="it-IT" sz="1900" err="1"/>
              <a:t>robust</a:t>
            </a:r>
            <a:r>
              <a:rPr lang="it-IT" sz="1900"/>
              <a:t> performance </a:t>
            </a:r>
            <a:r>
              <a:rPr lang="it-IT" sz="1900" err="1"/>
              <a:t>when</a:t>
            </a:r>
            <a:r>
              <a:rPr lang="it-IT" sz="1900"/>
              <a:t> closing the </a:t>
            </a:r>
            <a:r>
              <a:rPr lang="it-IT" sz="1900" err="1"/>
              <a:t>attitude</a:t>
            </a:r>
            <a:r>
              <a:rPr lang="it-IT" sz="1900"/>
              <a:t> feedback control loop.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95968EE-C296-6328-ADE3-89A8992325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6" r="7076"/>
          <a:stretch/>
        </p:blipFill>
        <p:spPr>
          <a:xfrm>
            <a:off x="105355" y="1376947"/>
            <a:ext cx="8437019" cy="426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287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637B7-EAF3-DC21-584C-6EA914C3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029BFB1A-2816-9D7F-69BB-2C3F00FE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30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EE838429-08F9-55A0-BB97-A792899C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FRF </a:t>
            </a:r>
            <a:r>
              <a:rPr lang="it-IT" err="1"/>
              <a:t>Dispersion</a:t>
            </a:r>
            <a:r>
              <a:rPr lang="it-IT"/>
              <a:t>: </a:t>
            </a:r>
            <a:r>
              <a:rPr lang="it-IT" err="1"/>
              <a:t>acceleration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31B147-A575-DD26-767D-D7BC7B7B77E8}"/>
              </a:ext>
            </a:extLst>
          </p:cNvPr>
          <p:cNvSpPr txBox="1"/>
          <p:nvPr/>
        </p:nvSpPr>
        <p:spPr>
          <a:xfrm>
            <a:off x="8740876" y="1126946"/>
            <a:ext cx="3451124" cy="46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High </a:t>
            </a:r>
            <a:r>
              <a:rPr lang="it-IT" sz="2000" b="1" err="1"/>
              <a:t>Variance</a:t>
            </a:r>
            <a:r>
              <a:rPr lang="it-IT" sz="2000" b="1"/>
              <a:t>:</a:t>
            </a:r>
            <a:r>
              <a:rPr lang="it-IT" sz="2000"/>
              <a:t> </a:t>
            </a:r>
            <a:r>
              <a:rPr lang="it-IT" sz="1900"/>
              <a:t>Severe low-frequency FRF </a:t>
            </a:r>
            <a:r>
              <a:rPr lang="it-IT" sz="1900" err="1"/>
              <a:t>dispersion</a:t>
            </a:r>
            <a:r>
              <a:rPr lang="it-IT" sz="1900"/>
              <a:t> </a:t>
            </a:r>
            <a:r>
              <a:rPr lang="it-IT" sz="1900" err="1"/>
              <a:t>across</a:t>
            </a:r>
            <a:r>
              <a:rPr lang="it-IT" sz="1900"/>
              <a:t> </a:t>
            </a:r>
            <a:r>
              <a:rPr lang="it-IT" sz="1900" err="1"/>
              <a:t>iterations</a:t>
            </a:r>
            <a:r>
              <a:rPr lang="it-IT" sz="1900"/>
              <a:t> due to zero </a:t>
            </a:r>
            <a:r>
              <a:rPr lang="it-IT" sz="1900" err="1"/>
              <a:t>uncertainty</a:t>
            </a:r>
            <a:r>
              <a:rPr lang="it-IT" sz="1900"/>
              <a:t>, </a:t>
            </a:r>
            <a:r>
              <a:rPr lang="it-IT" sz="1900" err="1"/>
              <a:t>contrasting</a:t>
            </a:r>
            <a:r>
              <a:rPr lang="it-IT" sz="1900"/>
              <a:t> with </a:t>
            </a:r>
            <a:r>
              <a:rPr lang="it-IT" sz="1900" err="1"/>
              <a:t>perfect</a:t>
            </a:r>
            <a:r>
              <a:rPr lang="it-IT" sz="1900"/>
              <a:t> </a:t>
            </a:r>
            <a:r>
              <a:rPr lang="it-IT" sz="1900" err="1"/>
              <a:t>convergence</a:t>
            </a:r>
            <a:r>
              <a:rPr lang="it-IT" sz="1900"/>
              <a:t> to the </a:t>
            </a:r>
            <a:r>
              <a:rPr lang="it-IT" sz="1900" err="1"/>
              <a:t>true</a:t>
            </a:r>
            <a:r>
              <a:rPr lang="it-IT" sz="1900"/>
              <a:t> model </a:t>
            </a:r>
            <a:r>
              <a:rPr lang="it-IT" sz="1900" err="1"/>
              <a:t>at</a:t>
            </a:r>
            <a:r>
              <a:rPr lang="it-IT" sz="1900"/>
              <a:t> high frequencies.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Sign</a:t>
            </a:r>
            <a:r>
              <a:rPr lang="it-IT" sz="2000" b="1"/>
              <a:t> Reversal:</a:t>
            </a:r>
            <a:r>
              <a:rPr lang="it-IT" sz="2000"/>
              <a:t> </a:t>
            </a:r>
            <a:r>
              <a:rPr lang="it-IT" sz="1900" err="1"/>
              <a:t>Clearly</a:t>
            </a:r>
            <a:r>
              <a:rPr lang="it-IT" sz="1900"/>
              <a:t> </a:t>
            </a:r>
            <a:r>
              <a:rPr lang="it-IT" sz="1900" err="1"/>
              <a:t>visible</a:t>
            </a:r>
            <a:r>
              <a:rPr lang="it-IT" sz="1900"/>
              <a:t> </a:t>
            </a:r>
            <a:r>
              <a:rPr lang="it-IT" sz="1900" err="1"/>
              <a:t>at</a:t>
            </a:r>
            <a:r>
              <a:rPr lang="it-IT" sz="1900"/>
              <a:t> 0.1 Hz, </a:t>
            </a:r>
            <a:r>
              <a:rPr lang="it-IT" sz="1900" err="1"/>
              <a:t>where</a:t>
            </a:r>
            <a:r>
              <a:rPr lang="it-IT" sz="1900"/>
              <a:t> </a:t>
            </a:r>
            <a:r>
              <a:rPr lang="it-IT" sz="1900" err="1"/>
              <a:t>realizations</a:t>
            </a:r>
            <a:r>
              <a:rPr lang="it-IT" sz="1900"/>
              <a:t> with opposite </a:t>
            </a:r>
            <a:r>
              <a:rPr lang="it-IT" sz="1900" err="1"/>
              <a:t>signs</a:t>
            </a:r>
            <a:r>
              <a:rPr lang="it-IT" sz="1900"/>
              <a:t> cause </a:t>
            </a:r>
            <a:r>
              <a:rPr lang="it-IT" sz="1900" err="1"/>
              <a:t>inverted</a:t>
            </a:r>
            <a:r>
              <a:rPr lang="it-IT" sz="1900"/>
              <a:t> </a:t>
            </a:r>
            <a:r>
              <a:rPr lang="it-IT" sz="1900" err="1"/>
              <a:t>starting</a:t>
            </a:r>
            <a:r>
              <a:rPr lang="it-IT" sz="1900"/>
              <a:t> </a:t>
            </a:r>
            <a:r>
              <a:rPr lang="it-IT" sz="1900" err="1"/>
              <a:t>magnitude</a:t>
            </a:r>
            <a:r>
              <a:rPr lang="it-IT" sz="1900"/>
              <a:t> baselines and a </a:t>
            </a:r>
            <a:r>
              <a:rPr lang="it-IT" sz="1900" err="1"/>
              <a:t>phase</a:t>
            </a:r>
            <a:r>
              <a:rPr lang="it-IT" sz="1900"/>
              <a:t> shift </a:t>
            </a:r>
            <a:r>
              <a:rPr lang="it-IT" sz="1900" err="1"/>
              <a:t>toward</a:t>
            </a:r>
            <a:r>
              <a:rPr lang="it-IT" sz="1900"/>
              <a:t> 360°.</a:t>
            </a:r>
            <a:endParaRPr lang="it-IT" sz="1900" b="1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06BD5D9-5989-70F7-AAE4-2965FCF97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6" r="8036"/>
          <a:stretch/>
        </p:blipFill>
        <p:spPr>
          <a:xfrm>
            <a:off x="105356" y="1337359"/>
            <a:ext cx="8635522" cy="4364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2136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4AA779B-3002-87B1-9C5E-83C631575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31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2374B70-7297-DB92-23F0-478002429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Hystograms</a:t>
            </a:r>
            <a:r>
              <a:rPr lang="it-IT"/>
              <a:t> of </a:t>
            </a:r>
            <a:r>
              <a:rPr lang="it-IT" err="1"/>
              <a:t>Parameters</a:t>
            </a: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AEEC930-E2D6-1FCC-0095-6A7E0F3E9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98" r="8083"/>
          <a:stretch>
            <a:fillRect/>
          </a:stretch>
        </p:blipFill>
        <p:spPr>
          <a:xfrm>
            <a:off x="0" y="1290996"/>
            <a:ext cx="8745902" cy="455082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9515C4A8-BB3D-FE95-DC2D-8C46ED960002}"/>
              </a:ext>
            </a:extLst>
          </p:cNvPr>
          <p:cNvSpPr txBox="1"/>
          <p:nvPr/>
        </p:nvSpPr>
        <p:spPr>
          <a:xfrm>
            <a:off x="8745902" y="1682367"/>
            <a:ext cx="34511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Bias: </a:t>
            </a:r>
            <a:r>
              <a:rPr lang="it-IT" sz="1900" err="1"/>
              <a:t>Intrinsic</a:t>
            </a:r>
            <a:r>
              <a:rPr lang="it-IT" sz="1900"/>
              <a:t> </a:t>
            </a:r>
            <a:r>
              <a:rPr lang="it-IT" sz="1900" err="1"/>
              <a:t>parameter</a:t>
            </a:r>
            <a:r>
              <a:rPr lang="it-IT" sz="1900"/>
              <a:t> </a:t>
            </a:r>
            <a:r>
              <a:rPr lang="it-IT" sz="1900" err="1"/>
              <a:t>bias</a:t>
            </a:r>
            <a:r>
              <a:rPr lang="it-IT" sz="1900"/>
              <a:t>, </a:t>
            </a:r>
            <a:r>
              <a:rPr lang="it-IT" sz="1900" err="1"/>
              <a:t>directly</a:t>
            </a:r>
            <a:r>
              <a:rPr lang="it-IT" sz="1900"/>
              <a:t> </a:t>
            </a:r>
            <a:r>
              <a:rPr lang="it-IT" sz="1900" err="1"/>
              <a:t>reflecting</a:t>
            </a:r>
            <a:r>
              <a:rPr lang="it-IT" sz="1900"/>
              <a:t> the </a:t>
            </a:r>
            <a:r>
              <a:rPr lang="it-IT" sz="1900" err="1"/>
              <a:t>systematic</a:t>
            </a:r>
            <a:r>
              <a:rPr lang="it-IT" sz="1900"/>
              <a:t> pole/zero shifts </a:t>
            </a:r>
            <a:r>
              <a:rPr lang="it-IT" sz="1900" err="1"/>
              <a:t>observed</a:t>
            </a:r>
            <a:r>
              <a:rPr lang="it-IT" sz="1900"/>
              <a:t> </a:t>
            </a:r>
            <a:r>
              <a:rPr lang="it-IT" sz="1900" err="1"/>
              <a:t>earlier</a:t>
            </a:r>
            <a:r>
              <a:rPr lang="it-IT" sz="19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19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Variance</a:t>
            </a:r>
            <a:r>
              <a:rPr lang="it-IT" sz="2000" b="1"/>
              <a:t>:</a:t>
            </a:r>
            <a:r>
              <a:rPr lang="it-IT" sz="2000"/>
              <a:t> The </a:t>
            </a:r>
            <a:r>
              <a:rPr lang="it-IT" sz="2000" err="1"/>
              <a:t>distribution</a:t>
            </a:r>
            <a:r>
              <a:rPr lang="it-IT" sz="2000"/>
              <a:t> </a:t>
            </a:r>
            <a:r>
              <a:rPr lang="it-IT" sz="2000" err="1"/>
              <a:t>exhibits</a:t>
            </a:r>
            <a:r>
              <a:rPr lang="it-IT" sz="2000"/>
              <a:t> a </a:t>
            </a:r>
            <a:r>
              <a:rPr lang="it-IT" sz="2000" err="1"/>
              <a:t>bell-shaped</a:t>
            </a:r>
            <a:r>
              <a:rPr lang="it-IT" sz="2000"/>
              <a:t> </a:t>
            </a:r>
            <a:r>
              <a:rPr lang="it-IT" sz="2000" err="1"/>
              <a:t>variance</a:t>
            </a:r>
            <a:r>
              <a:rPr lang="it-IT" sz="2000"/>
              <a:t> </a:t>
            </a:r>
            <a:r>
              <a:rPr lang="it-IT" sz="2000" err="1"/>
              <a:t>centered</a:t>
            </a:r>
            <a:r>
              <a:rPr lang="it-IT" sz="2000"/>
              <a:t> on the </a:t>
            </a:r>
            <a:r>
              <a:rPr lang="it-IT" sz="2000" err="1"/>
              <a:t>mean</a:t>
            </a:r>
            <a:r>
              <a:rPr lang="it-IT" sz="2000"/>
              <a:t>, </a:t>
            </a:r>
            <a:r>
              <a:rPr lang="it-IT" sz="2000" err="1"/>
              <a:t>often</a:t>
            </a:r>
            <a:r>
              <a:rPr lang="it-IT" sz="2000"/>
              <a:t> </a:t>
            </a:r>
            <a:r>
              <a:rPr lang="it-IT" sz="2000" err="1"/>
              <a:t>capturing</a:t>
            </a:r>
            <a:r>
              <a:rPr lang="it-IT" sz="2000"/>
              <a:t> the </a:t>
            </a:r>
            <a:r>
              <a:rPr lang="it-IT" sz="2000" err="1"/>
              <a:t>true</a:t>
            </a:r>
            <a:r>
              <a:rPr lang="it-IT" sz="2000"/>
              <a:t> </a:t>
            </a:r>
            <a:r>
              <a:rPr lang="it-IT" sz="2000" err="1"/>
              <a:t>value</a:t>
            </a:r>
            <a:r>
              <a:rPr lang="it-IT" sz="2000"/>
              <a:t> </a:t>
            </a:r>
            <a:r>
              <a:rPr lang="it-IT" sz="2000" err="1"/>
              <a:t>within</a:t>
            </a:r>
            <a:r>
              <a:rPr lang="it-IT" sz="2000"/>
              <a:t> </a:t>
            </a:r>
            <a:r>
              <a:rPr lang="it-IT" sz="2000" err="1"/>
              <a:t>its</a:t>
            </a:r>
            <a:r>
              <a:rPr lang="it-IT" sz="2000"/>
              <a:t> confidence </a:t>
            </a:r>
            <a:r>
              <a:rPr lang="it-IT" sz="2000" err="1"/>
              <a:t>interval</a:t>
            </a:r>
            <a:r>
              <a:rPr lang="it-IT" sz="2000"/>
              <a:t>.</a:t>
            </a:r>
            <a:endParaRPr lang="it-IT" sz="1900"/>
          </a:p>
        </p:txBody>
      </p:sp>
    </p:spTree>
    <p:extLst>
      <p:ext uri="{BB962C8B-B14F-4D97-AF65-F5344CB8AC3E}">
        <p14:creationId xmlns:p14="http://schemas.microsoft.com/office/powerpoint/2010/main" val="3317020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A6EA93E-7B7B-C79D-04EF-C162DA8BE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32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EDAD5D1-62B7-9796-05BE-9718546E4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Validation</a:t>
            </a:r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F39CBB2-1460-3CDD-1DC5-9A768C3B504F}"/>
              </a:ext>
            </a:extLst>
          </p:cNvPr>
          <p:cNvSpPr txBox="1"/>
          <p:nvPr/>
        </p:nvSpPr>
        <p:spPr>
          <a:xfrm>
            <a:off x="8355244" y="1001025"/>
            <a:ext cx="37739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Different</a:t>
            </a:r>
            <a:r>
              <a:rPr lang="it-IT" sz="2000" b="1"/>
              <a:t> Set </a:t>
            </a:r>
            <a:r>
              <a:rPr lang="it-IT" sz="2000" b="1" err="1"/>
              <a:t>Validation</a:t>
            </a:r>
            <a:r>
              <a:rPr lang="it-IT" sz="2000" b="1"/>
              <a:t>: </a:t>
            </a:r>
            <a:r>
              <a:rPr lang="it-IT" sz="2000" err="1"/>
              <a:t>evaluated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MC </a:t>
            </a:r>
            <a:r>
              <a:rPr lang="it-IT" sz="2000" err="1"/>
              <a:t>realizations</a:t>
            </a:r>
            <a:r>
              <a:rPr lang="it-IT" sz="2000"/>
              <a:t> </a:t>
            </a:r>
            <a:r>
              <a:rPr lang="it-IT" sz="2000" err="1"/>
              <a:t>against</a:t>
            </a:r>
            <a:r>
              <a:rPr lang="it-IT" sz="2000"/>
              <a:t> the </a:t>
            </a:r>
            <a:r>
              <a:rPr lang="it-IT" sz="2000" err="1"/>
              <a:t>same</a:t>
            </a:r>
            <a:r>
              <a:rPr lang="it-IT" sz="2000"/>
              <a:t> 3211 </a:t>
            </a:r>
            <a:r>
              <a:rPr lang="it-IT" sz="2000" err="1"/>
              <a:t>command</a:t>
            </a:r>
            <a:r>
              <a:rPr lang="it-IT" sz="2000"/>
              <a:t> and </a:t>
            </a:r>
            <a:r>
              <a:rPr lang="it-IT" sz="2000" err="1"/>
              <a:t>removing</a:t>
            </a:r>
            <a:r>
              <a:rPr lang="it-IT" sz="2000"/>
              <a:t> the </a:t>
            </a:r>
            <a:r>
              <a:rPr lang="it-IT" sz="2000" err="1"/>
              <a:t>stochastic</a:t>
            </a:r>
            <a:r>
              <a:rPr lang="it-IT" sz="2000"/>
              <a:t> </a:t>
            </a:r>
            <a:r>
              <a:rPr lang="it-IT" sz="2000" err="1"/>
              <a:t>noise</a:t>
            </a:r>
            <a:r>
              <a:rPr lang="it-IT" sz="2000"/>
              <a:t> </a:t>
            </a:r>
            <a:r>
              <a:rPr lang="it-IT" sz="2000" err="1"/>
              <a:t>seed</a:t>
            </a:r>
            <a:r>
              <a:rPr lang="it-IT" sz="2000"/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Physical Consistency: </a:t>
            </a:r>
            <a:r>
              <a:rPr lang="en-US" sz="2000"/>
              <a:t>Despite the systematic bias of certain parameters and the poor a</a:t>
            </a:r>
            <a:r>
              <a:rPr lang="en-US" sz="2000" baseline="-25000"/>
              <a:t>x</a:t>
            </a:r>
            <a:r>
              <a:rPr lang="en-US" sz="2000"/>
              <a:t> FRF, no realization diverges. The models prove physical consistency, successfully capturing the macroscopic dynamic behavior of the system.</a:t>
            </a:r>
            <a:endParaRPr lang="it-IT" sz="200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5F94D21-D976-C9AC-3EE0-366C0EE874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13" t="3050" r="8387" b="1280"/>
          <a:stretch>
            <a:fillRect/>
          </a:stretch>
        </p:blipFill>
        <p:spPr>
          <a:xfrm>
            <a:off x="0" y="1494638"/>
            <a:ext cx="8355244" cy="4109749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5601018C-3C89-5933-4BA4-75A0D20FFC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8" t="1801" r="8226" b="1660"/>
          <a:stretch>
            <a:fillRect/>
          </a:stretch>
        </p:blipFill>
        <p:spPr>
          <a:xfrm>
            <a:off x="0" y="1494638"/>
            <a:ext cx="8355244" cy="411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55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2FF44-1C9D-59EF-33D6-7680F5B9B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3FE2ECD-D7D9-B26C-E059-D7EA402A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33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5FB16D5-89CE-12A6-DA4E-5B6814C85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Validation</a:t>
            </a:r>
            <a:endParaRPr lang="it-IT"/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2EBFC98E-212C-0A8A-D28D-16591A76EC48}"/>
              </a:ext>
            </a:extLst>
          </p:cNvPr>
          <p:cNvGrpSpPr/>
          <p:nvPr/>
        </p:nvGrpSpPr>
        <p:grpSpPr>
          <a:xfrm>
            <a:off x="820052" y="4379236"/>
            <a:ext cx="10762348" cy="1783876"/>
            <a:chOff x="754738" y="4232909"/>
            <a:chExt cx="10762348" cy="1783876"/>
          </a:xfrm>
        </p:grpSpPr>
        <p:grpSp>
          <p:nvGrpSpPr>
            <p:cNvPr id="4" name="Gruppo 3">
              <a:extLst>
                <a:ext uri="{FF2B5EF4-FFF2-40B4-BE49-F238E27FC236}">
                  <a16:creationId xmlns:a16="http://schemas.microsoft.com/office/drawing/2014/main" id="{37AF4F6B-391B-C053-C9B7-A310F96C361C}"/>
                </a:ext>
              </a:extLst>
            </p:cNvPr>
            <p:cNvGrpSpPr/>
            <p:nvPr/>
          </p:nvGrpSpPr>
          <p:grpSpPr>
            <a:xfrm>
              <a:off x="754743" y="4232909"/>
              <a:ext cx="10762343" cy="1783875"/>
              <a:chOff x="4151662" y="3967570"/>
              <a:chExt cx="3396312" cy="2098929"/>
            </a:xfrm>
          </p:grpSpPr>
          <p:grpSp>
            <p:nvGrpSpPr>
              <p:cNvPr id="8" name="Gruppo 7">
                <a:extLst>
                  <a:ext uri="{FF2B5EF4-FFF2-40B4-BE49-F238E27FC236}">
                    <a16:creationId xmlns:a16="http://schemas.microsoft.com/office/drawing/2014/main" id="{22696CC7-DADE-15B5-13C4-AB5D0238C637}"/>
                  </a:ext>
                </a:extLst>
              </p:cNvPr>
              <p:cNvGrpSpPr/>
              <p:nvPr/>
            </p:nvGrpSpPr>
            <p:grpSpPr>
              <a:xfrm>
                <a:off x="4151662" y="3967570"/>
                <a:ext cx="3396312" cy="2098929"/>
                <a:chOff x="334294" y="4186264"/>
                <a:chExt cx="5716673" cy="1288236"/>
              </a:xfrm>
            </p:grpSpPr>
            <p:sp>
              <p:nvSpPr>
                <p:cNvPr id="10" name="Rettangolo 9">
                  <a:extLst>
                    <a:ext uri="{FF2B5EF4-FFF2-40B4-BE49-F238E27FC236}">
                      <a16:creationId xmlns:a16="http://schemas.microsoft.com/office/drawing/2014/main" id="{2C4806D7-F62C-889D-60C5-661E1A7D020E}"/>
                    </a:ext>
                  </a:extLst>
                </p:cNvPr>
                <p:cNvSpPr/>
                <p:nvPr/>
              </p:nvSpPr>
              <p:spPr>
                <a:xfrm>
                  <a:off x="334294" y="4507689"/>
                  <a:ext cx="5716669" cy="966811"/>
                </a:xfrm>
                <a:prstGeom prst="rect">
                  <a:avLst/>
                </a:prstGeom>
                <a:noFill/>
                <a:ln w="38100">
                  <a:solidFill>
                    <a:srgbClr val="6582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it-I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Rettangolo 10">
                  <a:extLst>
                    <a:ext uri="{FF2B5EF4-FFF2-40B4-BE49-F238E27FC236}">
                      <a16:creationId xmlns:a16="http://schemas.microsoft.com/office/drawing/2014/main" id="{7CC64D0A-2DED-1346-4617-7AFF93AEF282}"/>
                    </a:ext>
                  </a:extLst>
                </p:cNvPr>
                <p:cNvSpPr/>
                <p:nvPr/>
              </p:nvSpPr>
              <p:spPr>
                <a:xfrm>
                  <a:off x="334296" y="4186264"/>
                  <a:ext cx="5716671" cy="306790"/>
                </a:xfrm>
                <a:prstGeom prst="rect">
                  <a:avLst/>
                </a:prstGeom>
                <a:solidFill>
                  <a:srgbClr val="65829B"/>
                </a:solidFill>
                <a:ln w="38100">
                  <a:solidFill>
                    <a:srgbClr val="65829B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it-IT" sz="2200" b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Why Good </a:t>
                  </a:r>
                  <a:r>
                    <a:rPr lang="it-IT" sz="2200" b="1" err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Results</a:t>
                  </a:r>
                  <a:r>
                    <a:rPr lang="it-IT" sz="2200" b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 </a:t>
                  </a:r>
                  <a:r>
                    <a:rPr lang="it-IT" sz="2200" b="1" err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Despite</a:t>
                  </a:r>
                  <a:r>
                    <a:rPr lang="it-IT" sz="2200" b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 Poor </a:t>
                  </a:r>
                  <a:r>
                    <a:rPr lang="it-IT" sz="2200" b="1" err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a</a:t>
                  </a:r>
                  <a:r>
                    <a:rPr lang="it-IT" sz="2200" b="1" baseline="-25000" err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x</a:t>
                  </a:r>
                  <a:r>
                    <a:rPr lang="it-IT" sz="2200" b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 FRF and </a:t>
                  </a:r>
                  <a:r>
                    <a:rPr lang="it-IT" sz="2200" b="1" err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Systematic</a:t>
                  </a:r>
                  <a:r>
                    <a:rPr lang="it-IT" sz="2200" b="1">
                      <a:solidFill>
                        <a:schemeClr val="bg1"/>
                      </a:solidFill>
                      <a:sym typeface="Wingdings" panose="05000000000000000000" pitchFamily="2" charset="2"/>
                    </a:rPr>
                    <a:t> Bias?</a:t>
                  </a:r>
                  <a:endParaRPr lang="it-IT" sz="2200" b="1">
                    <a:solidFill>
                      <a:schemeClr val="bg1"/>
                    </a:solidFill>
                  </a:endParaRPr>
                </a:p>
              </p:txBody>
            </p:sp>
          </p:grpSp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0CF78A9C-0C36-6B25-565E-C8A73C24B12D}"/>
                  </a:ext>
                </a:extLst>
              </p:cNvPr>
              <p:cNvSpPr txBox="1"/>
              <p:nvPr/>
            </p:nvSpPr>
            <p:spPr>
              <a:xfrm>
                <a:off x="4192137" y="4456684"/>
                <a:ext cx="3315360" cy="485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it-IT" sz="19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sellaDiTesto 12">
                  <a:extLst>
                    <a:ext uri="{FF2B5EF4-FFF2-40B4-BE49-F238E27FC236}">
                      <a16:creationId xmlns:a16="http://schemas.microsoft.com/office/drawing/2014/main" id="{371BAD91-69F7-9BC2-7F54-06563521680A}"/>
                    </a:ext>
                  </a:extLst>
                </p:cNvPr>
                <p:cNvSpPr txBox="1"/>
                <p:nvPr/>
              </p:nvSpPr>
              <p:spPr>
                <a:xfrm>
                  <a:off x="754738" y="4693346"/>
                  <a:ext cx="10634083" cy="13234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it-IT" sz="2000" b="1" err="1"/>
                    <a:t>Kinematic</a:t>
                  </a:r>
                  <a:r>
                    <a:rPr lang="it-IT" sz="2000" b="1"/>
                    <a:t> </a:t>
                  </a:r>
                  <a:r>
                    <a:rPr lang="it-IT" sz="2000" b="1" err="1"/>
                    <a:t>Masking</a:t>
                  </a:r>
                  <a:r>
                    <a:rPr lang="it-IT" sz="2000" b="1"/>
                    <a:t> (</a:t>
                  </a:r>
                  <a14:m>
                    <m:oMath xmlns:m="http://schemas.openxmlformats.org/officeDocument/2006/math"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it-IT" sz="2000" b="1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it-IT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it-IT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a14:m>
                  <a:r>
                    <a:rPr lang="it-IT" sz="2000" b="1"/>
                    <a:t>): </a:t>
                  </a:r>
                  <a:r>
                    <a:rPr lang="it-IT" sz="2000"/>
                    <a:t>High </a:t>
                  </a:r>
                  <a:r>
                    <a:rPr lang="it-IT" sz="2000" err="1"/>
                    <a:t>modeling</a:t>
                  </a:r>
                  <a:r>
                    <a:rPr lang="it-IT" sz="2000"/>
                    <a:t> fidelity on the </a:t>
                  </a:r>
                  <a:r>
                    <a:rPr lang="it-IT" sz="2000" err="1"/>
                    <a:t>directly</a:t>
                  </a:r>
                  <a:r>
                    <a:rPr lang="it-IT" sz="2000"/>
                    <a:t> </a:t>
                  </a:r>
                  <a:r>
                    <a:rPr lang="it-IT" sz="2000" err="1"/>
                    <a:t>excited</a:t>
                  </a:r>
                  <a:r>
                    <a:rPr lang="it-IT" sz="2000"/>
                    <a:t> pitch rate (q) </a:t>
                  </a:r>
                  <a:r>
                    <a:rPr lang="it-IT" sz="2000" err="1"/>
                    <a:t>renders</a:t>
                  </a:r>
                  <a:r>
                    <a:rPr lang="it-IT" sz="2000"/>
                    <a:t> </a:t>
                  </a:r>
                  <a:r>
                    <a:rPr lang="it-IT" sz="2000" err="1"/>
                    <a:t>secondary</a:t>
                  </a:r>
                  <a:r>
                    <a:rPr lang="it-IT" sz="2000"/>
                    <a:t> </a:t>
                  </a:r>
                  <a:r>
                    <a:rPr lang="it-IT" sz="2000" err="1"/>
                    <a:t>a</a:t>
                  </a:r>
                  <a:r>
                    <a:rPr lang="it-IT" sz="2000" baseline="-25000" err="1"/>
                    <a:t>x</a:t>
                  </a:r>
                  <a:r>
                    <a:rPr lang="it-IT" sz="2000"/>
                    <a:t> </a:t>
                  </a:r>
                  <a:r>
                    <a:rPr lang="it-IT" sz="2000" err="1"/>
                    <a:t>errors</a:t>
                  </a:r>
                  <a:r>
                    <a:rPr lang="it-IT" sz="2000"/>
                    <a:t> </a:t>
                  </a:r>
                  <a:r>
                    <a:rPr lang="it-IT" sz="2000" err="1"/>
                    <a:t>dynamically</a:t>
                  </a:r>
                  <a:r>
                    <a:rPr lang="it-IT" sz="2000"/>
                    <a:t> </a:t>
                  </a:r>
                  <a:r>
                    <a:rPr lang="it-IT" sz="2000" err="1"/>
                    <a:t>marginal</a:t>
                  </a:r>
                  <a:r>
                    <a:rPr lang="it-IT" sz="2000"/>
                    <a:t>.</a:t>
                  </a:r>
                </a:p>
                <a:p>
                  <a:pPr marL="285750" indent="-285750">
                    <a:buFont typeface="Wingdings" panose="05000000000000000000" pitchFamily="2" charset="2"/>
                    <a:buChar char="Ø"/>
                  </a:pPr>
                  <a:r>
                    <a:rPr lang="it-IT" sz="2000" b="1"/>
                    <a:t>Low-Frequency </a:t>
                  </a:r>
                  <a:r>
                    <a:rPr lang="it-IT" sz="2000" b="1" err="1"/>
                    <a:t>Rejection</a:t>
                  </a:r>
                  <a:r>
                    <a:rPr lang="it-IT" sz="2000" b="1"/>
                    <a:t>:</a:t>
                  </a:r>
                  <a:r>
                    <a:rPr lang="it-IT" sz="2000"/>
                    <a:t> The </a:t>
                  </a:r>
                  <a:r>
                    <a:rPr lang="it-IT" sz="2000" err="1"/>
                    <a:t>proportional</a:t>
                  </a:r>
                  <a:r>
                    <a:rPr lang="it-IT" sz="2000"/>
                    <a:t> controller acts </a:t>
                  </a:r>
                  <a:r>
                    <a:rPr lang="it-IT" sz="2000" err="1"/>
                    <a:t>as</a:t>
                  </a:r>
                  <a:r>
                    <a:rPr lang="it-IT" sz="2000"/>
                    <a:t> a high-pass filter, </a:t>
                  </a:r>
                  <a:r>
                    <a:rPr lang="it-IT" sz="2000" err="1"/>
                    <a:t>actively</a:t>
                  </a:r>
                  <a:r>
                    <a:rPr lang="it-IT" sz="2000"/>
                    <a:t> </a:t>
                  </a:r>
                  <a:r>
                    <a:rPr lang="it-IT" sz="2000" err="1"/>
                    <a:t>neutralizing</a:t>
                  </a:r>
                  <a:r>
                    <a:rPr lang="it-IT" sz="2000"/>
                    <a:t> slow </a:t>
                  </a:r>
                  <a:r>
                    <a:rPr lang="it-IT" sz="2000" err="1"/>
                    <a:t>parametric</a:t>
                  </a:r>
                  <a:r>
                    <a:rPr lang="it-IT" sz="2000"/>
                    <a:t> </a:t>
                  </a:r>
                  <a:r>
                    <a:rPr lang="it-IT" sz="2000" err="1"/>
                    <a:t>bias</a:t>
                  </a:r>
                  <a:r>
                    <a:rPr lang="it-IT" sz="2000"/>
                    <a:t>.</a:t>
                  </a:r>
                </a:p>
              </p:txBody>
            </p:sp>
          </mc:Choice>
          <mc:Fallback xmlns="">
            <p:sp>
              <p:nvSpPr>
                <p:cNvPr id="13" name="CasellaDiTesto 12">
                  <a:extLst>
                    <a:ext uri="{FF2B5EF4-FFF2-40B4-BE49-F238E27FC236}">
                      <a16:creationId xmlns:a16="http://schemas.microsoft.com/office/drawing/2014/main" id="{371BAD91-69F7-9BC2-7F54-0656352168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4738" y="4693346"/>
                  <a:ext cx="10634083" cy="1323439"/>
                </a:xfrm>
                <a:prstGeom prst="rect">
                  <a:avLst/>
                </a:prstGeom>
                <a:blipFill>
                  <a:blip r:embed="rId3"/>
                  <a:stretch>
                    <a:fillRect l="-516" t="-2765" b="-73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8" name="Immagine 17">
            <a:extLst>
              <a:ext uri="{FF2B5EF4-FFF2-40B4-BE49-F238E27FC236}">
                <a16:creationId xmlns:a16="http://schemas.microsoft.com/office/drawing/2014/main" id="{9D6EB934-8452-640E-FC16-8E08A0C6A6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8" t="2648" r="8431" b="3110"/>
          <a:stretch>
            <a:fillRect/>
          </a:stretch>
        </p:blipFill>
        <p:spPr>
          <a:xfrm>
            <a:off x="6096000" y="1253097"/>
            <a:ext cx="5973968" cy="292970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7B3BF23-57FE-EDDB-D8D8-9721428CFF8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1" t="2706" r="7778" b="1470"/>
          <a:stretch>
            <a:fillRect/>
          </a:stretch>
        </p:blipFill>
        <p:spPr>
          <a:xfrm>
            <a:off x="19664" y="1211190"/>
            <a:ext cx="6076336" cy="296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486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FA07B6E6-3188-0E8F-8BAD-BD6F99E26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34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F8C52E5-D230-35AE-6264-20A5F5DC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Bias </a:t>
            </a:r>
            <a:r>
              <a:rPr lang="it-IT" err="1"/>
              <a:t>reduction</a:t>
            </a:r>
            <a:r>
              <a:rPr lang="it-IT"/>
              <a:t>: K = 20 – Model </a:t>
            </a:r>
            <a:r>
              <a:rPr lang="it-IT" err="1"/>
              <a:t>Parameters</a:t>
            </a:r>
            <a:endParaRPr lang="it-IT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6BBDAF5-5CEF-CF37-486B-7356491039F7}"/>
              </a:ext>
            </a:extLst>
          </p:cNvPr>
          <p:cNvSpPr txBox="1"/>
          <p:nvPr/>
        </p:nvSpPr>
        <p:spPr>
          <a:xfrm>
            <a:off x="8534400" y="1305130"/>
            <a:ext cx="3552245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Periodogram Bias Reduction: </a:t>
            </a:r>
            <a:r>
              <a:rPr lang="en-US" sz="2000"/>
              <a:t>As dictated by theory, reducing K lowers the intrinsic bias of the periodogram in FRF estimation; this directly translates into less biased model parameters.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Higher</a:t>
            </a:r>
            <a:r>
              <a:rPr lang="it-IT" sz="2000" b="1"/>
              <a:t> </a:t>
            </a:r>
            <a:r>
              <a:rPr lang="it-IT" sz="2000" b="1" err="1"/>
              <a:t>Dispersion</a:t>
            </a:r>
            <a:r>
              <a:rPr lang="it-IT" sz="2000" b="1"/>
              <a:t>:</a:t>
            </a:r>
            <a:r>
              <a:rPr lang="it-IT" sz="2000"/>
              <a:t> </a:t>
            </a:r>
            <a:r>
              <a:rPr lang="it-IT" sz="2000" err="1"/>
              <a:t>Another</a:t>
            </a:r>
            <a:r>
              <a:rPr lang="it-IT" sz="2000"/>
              <a:t> </a:t>
            </a:r>
            <a:r>
              <a:rPr lang="it-IT" sz="2000" err="1"/>
              <a:t>predictable</a:t>
            </a:r>
            <a:r>
              <a:rPr lang="it-IT" sz="2000"/>
              <a:t> </a:t>
            </a:r>
            <a:r>
              <a:rPr lang="it-IT" sz="2000" err="1"/>
              <a:t>outcome</a:t>
            </a:r>
            <a:r>
              <a:rPr lang="it-IT" sz="2000"/>
              <a:t> </a:t>
            </a:r>
            <a:r>
              <a:rPr lang="it-IT" sz="2000" err="1"/>
              <a:t>is</a:t>
            </a:r>
            <a:r>
              <a:rPr lang="it-IT" sz="2000"/>
              <a:t> the </a:t>
            </a:r>
            <a:r>
              <a:rPr lang="it-IT" sz="2000" err="1"/>
              <a:t>increased</a:t>
            </a:r>
            <a:r>
              <a:rPr lang="it-IT" sz="2000"/>
              <a:t> </a:t>
            </a:r>
            <a:r>
              <a:rPr lang="it-IT" sz="2000" err="1"/>
              <a:t>variance</a:t>
            </a:r>
            <a:r>
              <a:rPr lang="it-IT" sz="2000"/>
              <a:t> in the FRF estimate, and </a:t>
            </a:r>
            <a:r>
              <a:rPr lang="it-IT" sz="2000" err="1"/>
              <a:t>consequently</a:t>
            </a:r>
            <a:r>
              <a:rPr lang="it-IT" sz="2000"/>
              <a:t>, in the model </a:t>
            </a:r>
            <a:r>
              <a:rPr lang="it-IT" sz="2000" err="1"/>
              <a:t>parameters</a:t>
            </a:r>
            <a:r>
              <a:rPr lang="it-IT" sz="2000"/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2B940B-969C-758D-32BC-AE46DC310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83" t="3432" r="7973" b="4772"/>
          <a:stretch>
            <a:fillRect/>
          </a:stretch>
        </p:blipFill>
        <p:spPr>
          <a:xfrm>
            <a:off x="0" y="1503940"/>
            <a:ext cx="8534400" cy="406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049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44FC4-BCF3-4B9F-93D5-60E5C4DB6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4554C8A1-7DF9-F641-028B-9FAC4C555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 t="3031" r="64825" b="52941"/>
          <a:stretch>
            <a:fillRect/>
          </a:stretch>
        </p:blipFill>
        <p:spPr>
          <a:xfrm>
            <a:off x="683037" y="1464075"/>
            <a:ext cx="3083443" cy="2274691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8F70E32D-5981-1F70-2218-148A432A6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35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896E37DE-A0CF-B56D-34A3-07E4A9CE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Bias </a:t>
            </a:r>
            <a:r>
              <a:rPr lang="it-IT" err="1"/>
              <a:t>reduction</a:t>
            </a:r>
            <a:r>
              <a:rPr lang="it-IT"/>
              <a:t>: Model </a:t>
            </a:r>
            <a:r>
              <a:rPr lang="it-IT" err="1"/>
              <a:t>Parameters</a:t>
            </a:r>
            <a:r>
              <a:rPr lang="it-IT"/>
              <a:t> </a:t>
            </a:r>
            <a:r>
              <a:rPr lang="it-IT" err="1"/>
              <a:t>Comparison</a:t>
            </a:r>
            <a:endParaRPr lang="it-IT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2D594C2-C555-9187-3081-FAA9AF6D9C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65" t="3540" r="65119" b="53786"/>
          <a:stretch>
            <a:fillRect/>
          </a:stretch>
        </p:blipFill>
        <p:spPr>
          <a:xfrm>
            <a:off x="817967" y="3994921"/>
            <a:ext cx="2948513" cy="2231582"/>
          </a:xfrm>
          <a:prstGeom prst="rect">
            <a:avLst/>
          </a:prstGeom>
        </p:spPr>
      </p:pic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65BA96D5-39A1-4CA8-6294-6009E64EAF2C}"/>
              </a:ext>
            </a:extLst>
          </p:cNvPr>
          <p:cNvSpPr/>
          <p:nvPr/>
        </p:nvSpPr>
        <p:spPr>
          <a:xfrm>
            <a:off x="55431" y="1019306"/>
            <a:ext cx="1222763" cy="54369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K = 20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427CCC12-5999-DF2C-E7EE-E2F0A8B622BA}"/>
              </a:ext>
            </a:extLst>
          </p:cNvPr>
          <p:cNvSpPr/>
          <p:nvPr/>
        </p:nvSpPr>
        <p:spPr>
          <a:xfrm>
            <a:off x="55431" y="3605971"/>
            <a:ext cx="1222763" cy="54369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K = 50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C2E5149-80FB-D00C-B571-B4AF23D358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25" t="3073" r="37040" b="53844"/>
          <a:stretch>
            <a:fillRect/>
          </a:stretch>
        </p:blipFill>
        <p:spPr>
          <a:xfrm>
            <a:off x="4616267" y="4006210"/>
            <a:ext cx="2948514" cy="221419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04D7FBE-F3DF-A386-16E6-3A72844EA5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130" t="3404" r="8832" b="53595"/>
          <a:stretch>
            <a:fillRect/>
          </a:stretch>
        </p:blipFill>
        <p:spPr>
          <a:xfrm>
            <a:off x="8566192" y="3996618"/>
            <a:ext cx="2930739" cy="2223782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2513C6E7-9730-BFE4-0046-0F9D435501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63" t="3216" r="36847" b="52755"/>
          <a:stretch>
            <a:fillRect/>
          </a:stretch>
        </p:blipFill>
        <p:spPr>
          <a:xfrm>
            <a:off x="4481338" y="1464075"/>
            <a:ext cx="3083443" cy="2274692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15B4AC41-15C3-E730-1355-2762135DD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89" t="3358" r="7674" b="53599"/>
          <a:stretch>
            <a:fillRect/>
          </a:stretch>
        </p:blipFill>
        <p:spPr>
          <a:xfrm>
            <a:off x="8350102" y="1464074"/>
            <a:ext cx="3284543" cy="227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3875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3F713-3B42-8303-7473-DA291A989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647049D-8031-4904-3D59-B3B3EC256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42" t="50000" r="65009" b="6793"/>
          <a:stretch>
            <a:fillRect/>
          </a:stretch>
        </p:blipFill>
        <p:spPr>
          <a:xfrm>
            <a:off x="600732" y="1396337"/>
            <a:ext cx="3053978" cy="223221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AF5DE89-4604-9F11-6902-FA8ACF45DD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48" t="50000" r="64444" b="6836"/>
          <a:stretch>
            <a:fillRect/>
          </a:stretch>
        </p:blipFill>
        <p:spPr>
          <a:xfrm>
            <a:off x="666811" y="3988711"/>
            <a:ext cx="2987899" cy="2232212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F2732BD-4AEC-423C-AFBE-303DCA17C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36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01CEB8F3-B1DB-58A8-8402-74CEF982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Bias </a:t>
            </a:r>
            <a:r>
              <a:rPr lang="it-IT" err="1"/>
              <a:t>reduction</a:t>
            </a:r>
            <a:r>
              <a:rPr lang="it-IT"/>
              <a:t>: Model </a:t>
            </a:r>
            <a:r>
              <a:rPr lang="it-IT" err="1"/>
              <a:t>Parameters</a:t>
            </a:r>
            <a:r>
              <a:rPr lang="it-IT"/>
              <a:t> </a:t>
            </a:r>
            <a:r>
              <a:rPr lang="it-IT" err="1"/>
              <a:t>Comparison</a:t>
            </a:r>
            <a:endParaRPr lang="it-IT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E755EF8F-70AE-5B21-75A4-B3727B06F290}"/>
              </a:ext>
            </a:extLst>
          </p:cNvPr>
          <p:cNvSpPr/>
          <p:nvPr/>
        </p:nvSpPr>
        <p:spPr>
          <a:xfrm>
            <a:off x="55431" y="1019306"/>
            <a:ext cx="1222763" cy="54369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K = 20</a:t>
            </a:r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C4042B25-6363-891A-B6A0-6F4CB1B1DB67}"/>
              </a:ext>
            </a:extLst>
          </p:cNvPr>
          <p:cNvSpPr/>
          <p:nvPr/>
        </p:nvSpPr>
        <p:spPr>
          <a:xfrm>
            <a:off x="55431" y="3628549"/>
            <a:ext cx="1222763" cy="54369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b="1"/>
              <a:t>K = 50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EA8E390-E2F4-9A7F-5F7E-A3E5F7F235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704" t="50000" r="36789" b="6836"/>
          <a:stretch>
            <a:fillRect/>
          </a:stretch>
        </p:blipFill>
        <p:spPr>
          <a:xfrm>
            <a:off x="4602050" y="3990709"/>
            <a:ext cx="2987899" cy="223221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A7C4860-DC6F-A878-10AC-0C1F5B4E2A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37" t="50000" r="8456" b="6836"/>
          <a:stretch>
            <a:fillRect/>
          </a:stretch>
        </p:blipFill>
        <p:spPr>
          <a:xfrm>
            <a:off x="8469907" y="3988711"/>
            <a:ext cx="2987899" cy="2232212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55EDB3AD-A0D1-BFDF-F040-29793F1B5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05" t="50000" r="36888" b="6793"/>
          <a:stretch>
            <a:fillRect/>
          </a:stretch>
        </p:blipFill>
        <p:spPr>
          <a:xfrm>
            <a:off x="4534669" y="1396337"/>
            <a:ext cx="2987899" cy="223221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CB92827-6D3A-A2C7-DE9D-6EE31E0524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37" t="50995" r="7849" b="5799"/>
          <a:stretch>
            <a:fillRect/>
          </a:stretch>
        </p:blipFill>
        <p:spPr>
          <a:xfrm>
            <a:off x="8349693" y="1424689"/>
            <a:ext cx="3147238" cy="223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894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1B8B7-4DDA-115A-CE92-B088C08D6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1AF6E95-AC71-99A5-D51A-6083BA19B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37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B24EDE96-CE71-ACA0-3499-4A5970F6C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Bias </a:t>
            </a:r>
            <a:r>
              <a:rPr lang="it-IT" err="1"/>
              <a:t>reduction</a:t>
            </a:r>
            <a:r>
              <a:rPr lang="it-IT"/>
              <a:t>: K = 20 – Poles and FRF </a:t>
            </a:r>
            <a:r>
              <a:rPr lang="it-IT" err="1"/>
              <a:t>Dispersion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9D58299-8A81-71BD-FDD7-AC6EFB7DF3E1}"/>
              </a:ext>
            </a:extLst>
          </p:cNvPr>
          <p:cNvSpPr txBox="1"/>
          <p:nvPr/>
        </p:nvSpPr>
        <p:spPr>
          <a:xfrm>
            <a:off x="8534399" y="921674"/>
            <a:ext cx="3606801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Increased</a:t>
            </a:r>
            <a:r>
              <a:rPr lang="it-IT" sz="2000" b="1"/>
              <a:t> Pole-Zero </a:t>
            </a:r>
            <a:r>
              <a:rPr lang="it-IT" sz="2000" b="1" err="1"/>
              <a:t>Dispersion</a:t>
            </a:r>
            <a:r>
              <a:rPr lang="it-IT" sz="2000" b="1"/>
              <a:t>: </a:t>
            </a:r>
            <a:r>
              <a:rPr lang="it-IT" sz="2000" err="1"/>
              <a:t>widespread</a:t>
            </a:r>
            <a:r>
              <a:rPr lang="it-IT" sz="2000"/>
              <a:t> </a:t>
            </a:r>
            <a:r>
              <a:rPr lang="it-IT" sz="2000" err="1"/>
              <a:t>scatter</a:t>
            </a:r>
            <a:r>
              <a:rPr lang="it-IT" sz="2000"/>
              <a:t> </a:t>
            </a:r>
            <a:r>
              <a:rPr lang="it-IT" sz="2000" err="1"/>
              <a:t>across</a:t>
            </a:r>
            <a:r>
              <a:rPr lang="it-IT" sz="2000"/>
              <a:t> the </a:t>
            </a:r>
            <a:r>
              <a:rPr lang="it-IT" sz="2000" err="1"/>
              <a:t>complex</a:t>
            </a:r>
            <a:r>
              <a:rPr lang="it-IT" sz="2000"/>
              <a:t> </a:t>
            </a:r>
            <a:r>
              <a:rPr lang="it-IT" sz="2000" err="1"/>
              <a:t>plane</a:t>
            </a:r>
            <a:r>
              <a:rPr lang="it-IT" sz="2000"/>
              <a:t>. </a:t>
            </a:r>
            <a:r>
              <a:rPr lang="it-IT" sz="2000" err="1"/>
              <a:t>This</a:t>
            </a:r>
            <a:r>
              <a:rPr lang="it-IT" sz="2000"/>
              <a:t> high </a:t>
            </a:r>
            <a:r>
              <a:rPr lang="it-IT" sz="2000" err="1"/>
              <a:t>parametric</a:t>
            </a:r>
            <a:r>
              <a:rPr lang="it-IT" sz="2000"/>
              <a:t> </a:t>
            </a:r>
            <a:r>
              <a:rPr lang="it-IT" sz="2000" err="1"/>
              <a:t>variance</a:t>
            </a:r>
            <a:r>
              <a:rPr lang="it-IT" sz="2000"/>
              <a:t> </a:t>
            </a:r>
            <a:r>
              <a:rPr lang="it-IT" sz="2000" err="1"/>
              <a:t>directly</a:t>
            </a:r>
            <a:r>
              <a:rPr lang="it-IT" sz="2000"/>
              <a:t> challenges </a:t>
            </a:r>
            <a:r>
              <a:rPr lang="it-IT" sz="2000" err="1"/>
              <a:t>robust</a:t>
            </a:r>
            <a:r>
              <a:rPr lang="it-IT" sz="2000"/>
              <a:t> </a:t>
            </a:r>
            <a:r>
              <a:rPr lang="it-IT" sz="2000" err="1"/>
              <a:t>stability</a:t>
            </a:r>
            <a:r>
              <a:rPr lang="it-IT" sz="2000"/>
              <a:t>, </a:t>
            </a:r>
            <a:r>
              <a:rPr lang="it-IT" sz="2000" err="1"/>
              <a:t>as</a:t>
            </a:r>
            <a:r>
              <a:rPr lang="it-IT" sz="2000"/>
              <a:t> </a:t>
            </a:r>
            <a:r>
              <a:rPr lang="it-IT" sz="2000" err="1"/>
              <a:t>several</a:t>
            </a:r>
            <a:r>
              <a:rPr lang="it-IT" sz="2000"/>
              <a:t> </a:t>
            </a:r>
            <a:r>
              <a:rPr lang="it-IT" sz="2000" err="1"/>
              <a:t>realizations</a:t>
            </a:r>
            <a:r>
              <a:rPr lang="it-IT" sz="2000"/>
              <a:t> </a:t>
            </a:r>
            <a:r>
              <a:rPr lang="it-IT" sz="2000" err="1"/>
              <a:t>approach</a:t>
            </a:r>
            <a:r>
              <a:rPr lang="it-IT" sz="2000"/>
              <a:t> or cross </a:t>
            </a:r>
            <a:r>
              <a:rPr lang="it-IT" sz="2000" err="1"/>
              <a:t>into</a:t>
            </a:r>
            <a:r>
              <a:rPr lang="it-IT" sz="2000"/>
              <a:t> the Right-Half Plane.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Impact on FRF </a:t>
            </a:r>
            <a:r>
              <a:rPr lang="it-IT" sz="2000" b="1" err="1"/>
              <a:t>Envelope</a:t>
            </a:r>
            <a:r>
              <a:rPr lang="it-IT" sz="2000" b="1"/>
              <a:t>: </a:t>
            </a:r>
            <a:r>
              <a:rPr lang="it-IT" sz="2000" err="1"/>
              <a:t>Unlike</a:t>
            </a:r>
            <a:r>
              <a:rPr lang="it-IT" sz="2000"/>
              <a:t> the high-</a:t>
            </a:r>
            <a:r>
              <a:rPr lang="it-IT" sz="2000" err="1"/>
              <a:t>averaging</a:t>
            </a:r>
            <a:r>
              <a:rPr lang="it-IT" sz="2000"/>
              <a:t> case, </a:t>
            </a:r>
            <a:r>
              <a:rPr lang="it-IT" sz="2000" err="1"/>
              <a:t>even</a:t>
            </a:r>
            <a:r>
              <a:rPr lang="it-IT" sz="2000"/>
              <a:t> the pitch rate </a:t>
            </a:r>
            <a:r>
              <a:rPr lang="it-IT" sz="2000" err="1"/>
              <a:t>channel</a:t>
            </a:r>
            <a:r>
              <a:rPr lang="it-IT" sz="2000"/>
              <a:t> </a:t>
            </a:r>
            <a:r>
              <a:rPr lang="it-IT" sz="2000" err="1"/>
              <a:t>exhibits</a:t>
            </a:r>
            <a:r>
              <a:rPr lang="it-IT" sz="2000"/>
              <a:t> </a:t>
            </a:r>
            <a:r>
              <a:rPr lang="it-IT" sz="2000" err="1"/>
              <a:t>significant</a:t>
            </a:r>
            <a:r>
              <a:rPr lang="it-IT" sz="2000"/>
              <a:t> </a:t>
            </a:r>
            <a:r>
              <a:rPr lang="it-IT" sz="2000" err="1"/>
              <a:t>dispersion</a:t>
            </a:r>
            <a:r>
              <a:rPr lang="it-IT" sz="2000"/>
              <a:t>, </a:t>
            </a:r>
            <a:r>
              <a:rPr lang="it-IT" sz="2000" err="1"/>
              <a:t>increasing</a:t>
            </a:r>
            <a:r>
              <a:rPr lang="it-IT" sz="2000"/>
              <a:t> the global </a:t>
            </a:r>
            <a:r>
              <a:rPr lang="it-IT" sz="2000" err="1"/>
              <a:t>uncertainty</a:t>
            </a:r>
            <a:r>
              <a:rPr lang="it-IT" sz="2000"/>
              <a:t> of the </a:t>
            </a:r>
            <a:r>
              <a:rPr lang="it-IT" sz="2000" err="1"/>
              <a:t>identified</a:t>
            </a:r>
            <a:r>
              <a:rPr lang="it-IT" sz="2000"/>
              <a:t> ensemble.</a:t>
            </a:r>
            <a:endParaRPr lang="en-US" sz="2800" b="1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584553F0-EEE6-4941-ED6E-24D75E1FB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5" t="3037" r="8333" b="3037"/>
          <a:stretch>
            <a:fillRect/>
          </a:stretch>
        </p:blipFill>
        <p:spPr>
          <a:xfrm>
            <a:off x="105355" y="1479895"/>
            <a:ext cx="8501127" cy="4119181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36B30D9-5657-BDBD-360B-D3BC54BF79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3" t="3037" r="8333"/>
          <a:stretch>
            <a:fillRect/>
          </a:stretch>
        </p:blipFill>
        <p:spPr>
          <a:xfrm>
            <a:off x="0" y="1405626"/>
            <a:ext cx="8534399" cy="4193449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B6BD7E9C-B304-E149-DFD2-F6ACD19233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1" t="1801" r="8056"/>
          <a:stretch>
            <a:fillRect/>
          </a:stretch>
        </p:blipFill>
        <p:spPr>
          <a:xfrm>
            <a:off x="105355" y="1398096"/>
            <a:ext cx="8606482" cy="428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561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1184-0382-B05A-B0EB-680E6FD9C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C7E61C9-5427-B9EB-2F0D-968583DD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38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A4238374-0D06-D0DF-6682-AD57456FE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Bias </a:t>
            </a:r>
            <a:r>
              <a:rPr lang="it-IT" err="1"/>
              <a:t>reduction</a:t>
            </a:r>
            <a:r>
              <a:rPr lang="it-IT"/>
              <a:t>: K = 20 – MC Dataset </a:t>
            </a:r>
            <a:r>
              <a:rPr lang="it-IT" err="1"/>
              <a:t>Validation</a:t>
            </a:r>
            <a:endParaRPr lang="it-IT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F356144F-BDB1-9712-A548-03C8F02FF09D}"/>
              </a:ext>
            </a:extLst>
          </p:cNvPr>
          <p:cNvSpPr txBox="1"/>
          <p:nvPr/>
        </p:nvSpPr>
        <p:spPr>
          <a:xfrm>
            <a:off x="8962570" y="1249183"/>
            <a:ext cx="322943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Closed-Loop Margin Erosion: </a:t>
            </a:r>
            <a:r>
              <a:rPr lang="en-US" sz="2000"/>
              <a:t>Under identical validation conditions (3211 input, locked seed), the visibly broader time-domain dispersion confirms that severe open-loop pole/zero scatter directly erodes closed-loop stability margins compared to K=50</a:t>
            </a:r>
            <a:r>
              <a:rPr lang="en-US" sz="2000" b="1"/>
              <a:t>.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AAEBE0D-0AEE-4F95-D880-B1C5509085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31" t="3468" r="8227" b="1851"/>
          <a:stretch>
            <a:fillRect/>
          </a:stretch>
        </p:blipFill>
        <p:spPr>
          <a:xfrm>
            <a:off x="105355" y="1272791"/>
            <a:ext cx="8933258" cy="433602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607E4DE-0668-E162-6563-88B79D31A0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90" t="3467" r="8065" b="2041"/>
          <a:stretch>
            <a:fillRect/>
          </a:stretch>
        </p:blipFill>
        <p:spPr>
          <a:xfrm>
            <a:off x="0" y="1275304"/>
            <a:ext cx="9038613" cy="435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54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21ADDD-A970-9788-9F40-54FBF060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E95DDFD-9801-6EA6-11AC-9637393F16B5}"/>
              </a:ext>
            </a:extLst>
          </p:cNvPr>
          <p:cNvSpPr/>
          <p:nvPr/>
        </p:nvSpPr>
        <p:spPr>
          <a:xfrm>
            <a:off x="866815" y="5420454"/>
            <a:ext cx="10622516" cy="694160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NOTE</a:t>
            </a:r>
          </a:p>
          <a:p>
            <a:pPr algn="ctr"/>
            <a:r>
              <a:rPr lang="it-IT" sz="2000" b="1">
                <a:solidFill>
                  <a:schemeClr val="bg1"/>
                </a:solidFill>
              </a:rPr>
              <a:t> </a:t>
            </a:r>
            <a:r>
              <a:rPr lang="it-IT" sz="2000" err="1"/>
              <a:t>Only</a:t>
            </a:r>
            <a:r>
              <a:rPr lang="it-IT" sz="2000"/>
              <a:t> </a:t>
            </a:r>
            <a:r>
              <a:rPr lang="it-IT" sz="2000" err="1"/>
              <a:t>two</a:t>
            </a:r>
            <a:r>
              <a:rPr lang="it-IT" sz="2000"/>
              <a:t> discrete frequencies </a:t>
            </a:r>
            <a:r>
              <a:rPr lang="it-IT" sz="2000" err="1"/>
              <a:t>fall</a:t>
            </a:r>
            <a:r>
              <a:rPr lang="it-IT" sz="2000"/>
              <a:t> </a:t>
            </a:r>
            <a:r>
              <a:rPr lang="it-IT" sz="2000" err="1"/>
              <a:t>within</a:t>
            </a:r>
            <a:r>
              <a:rPr lang="it-IT" sz="2000"/>
              <a:t> the </a:t>
            </a:r>
            <a:r>
              <a:rPr lang="it-IT" sz="2000" err="1"/>
              <a:t>selected</a:t>
            </a:r>
            <a:r>
              <a:rPr lang="it-IT" sz="2000"/>
              <a:t> range for the FRF </a:t>
            </a:r>
            <a:r>
              <a:rPr lang="it-IT" sz="2000" err="1"/>
              <a:t>estimation</a:t>
            </a:r>
            <a:endParaRPr lang="it-IT" sz="2000" b="1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B8D5BD15-1826-C9A7-EF6A-2D82452E0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39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C6527963-5C3D-06FA-51CB-73D3A2BEE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r>
              <a:rPr lang="it-IT"/>
              <a:t>: Frequency </a:t>
            </a:r>
            <a:r>
              <a:rPr lang="it-IT" err="1"/>
              <a:t>Cropping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C3B43CF3-5F44-EB5B-93DB-BCE78D63196C}"/>
              </a:ext>
            </a:extLst>
          </p:cNvPr>
          <p:cNvSpPr txBox="1"/>
          <p:nvPr/>
        </p:nvSpPr>
        <p:spPr>
          <a:xfrm>
            <a:off x="7192278" y="949892"/>
            <a:ext cx="499972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Choice and Reasons: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Selective Bandwidth Cropping: </a:t>
            </a:r>
            <a:r>
              <a:rPr lang="en-US" sz="2000"/>
              <a:t>Identification strictly confined to the </a:t>
            </a:r>
            <a:r>
              <a:rPr lang="en-US" sz="2000" err="1"/>
              <a:t>M</a:t>
            </a:r>
            <a:r>
              <a:rPr lang="en-US" sz="2000" baseline="-25000" err="1"/>
              <a:t>Tot</a:t>
            </a:r>
            <a:r>
              <a:rPr lang="en-US" sz="2000" err="1"/>
              <a:t>’s</a:t>
            </a:r>
            <a:r>
              <a:rPr lang="en-US" sz="2000"/>
              <a:t> dominant spectral peak (-3dB threshold), deliberately discarding the low-excitation frequency tails.</a:t>
            </a:r>
            <a:br>
              <a:rPr lang="en-US" sz="2000"/>
            </a:b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Expected Variance Containment: </a:t>
            </a:r>
            <a:br>
              <a:rPr lang="en-US" sz="2000" b="1"/>
            </a:br>
            <a:r>
              <a:rPr lang="en-US" sz="2000"/>
              <a:t>Bypassing low-SNR regions insulates the optimizer from peripheral noise; paired with high Welch averaging (K = 50), this should tightly bound parameter dispersion across the ensemble.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8C2E5FA-95BA-9114-995C-839CBDD9D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8" t="3410" r="7510" b="1321"/>
          <a:stretch>
            <a:fillRect/>
          </a:stretch>
        </p:blipFill>
        <p:spPr>
          <a:xfrm>
            <a:off x="866815" y="1010655"/>
            <a:ext cx="6060558" cy="4303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639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51E1-19C5-CCCA-C3D3-D2DBEE82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8A0F2DC-E4A9-09C1-0A16-EF9F59A0F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40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54C5D705-C709-12AF-E966-3FBC449C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8878101" cy="543697"/>
          </a:xfrm>
        </p:spPr>
        <p:txBody>
          <a:bodyPr/>
          <a:lstStyle/>
          <a:p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r>
              <a:rPr lang="it-IT"/>
              <a:t>: Frequency </a:t>
            </a:r>
            <a:r>
              <a:rPr lang="it-IT" err="1"/>
              <a:t>Cropping</a:t>
            </a:r>
            <a:r>
              <a:rPr lang="it-IT"/>
              <a:t> - Model </a:t>
            </a:r>
            <a:r>
              <a:rPr lang="it-IT" err="1"/>
              <a:t>Parameters</a:t>
            </a:r>
            <a:r>
              <a:rPr lang="it-IT"/>
              <a:t> 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841A9DB-8F5C-55F3-7269-0722DA31011B}"/>
              </a:ext>
            </a:extLst>
          </p:cNvPr>
          <p:cNvSpPr txBox="1"/>
          <p:nvPr/>
        </p:nvSpPr>
        <p:spPr>
          <a:xfrm>
            <a:off x="8027187" y="1102861"/>
            <a:ext cx="4108971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 err="1"/>
              <a:t>Confirmed</a:t>
            </a:r>
            <a:r>
              <a:rPr lang="it-IT" sz="2000" b="1"/>
              <a:t> </a:t>
            </a:r>
            <a:r>
              <a:rPr lang="it-IT" sz="2000" b="1" err="1"/>
              <a:t>Variance</a:t>
            </a:r>
            <a:r>
              <a:rPr lang="it-IT" sz="2000" b="1"/>
              <a:t> </a:t>
            </a:r>
            <a:r>
              <a:rPr lang="it-IT" sz="2000" b="1" err="1"/>
              <a:t>Compression</a:t>
            </a:r>
            <a:r>
              <a:rPr lang="it-IT" sz="2000" b="1"/>
              <a:t>: </a:t>
            </a:r>
            <a:r>
              <a:rPr lang="it-IT" sz="2000" err="1"/>
              <a:t>Restricting</a:t>
            </a:r>
            <a:r>
              <a:rPr lang="it-IT" sz="2000"/>
              <a:t> the </a:t>
            </a:r>
            <a:r>
              <a:rPr lang="it-IT" sz="2000" err="1"/>
              <a:t>fit</a:t>
            </a:r>
            <a:r>
              <a:rPr lang="it-IT" sz="2000"/>
              <a:t> </a:t>
            </a:r>
            <a:r>
              <a:rPr lang="it-IT" sz="2000" err="1"/>
              <a:t>exclusively</a:t>
            </a:r>
            <a:r>
              <a:rPr lang="it-IT" sz="2000"/>
              <a:t> to the </a:t>
            </a:r>
            <a:r>
              <a:rPr lang="it-IT" sz="2000" err="1"/>
              <a:t>two</a:t>
            </a:r>
            <a:r>
              <a:rPr lang="it-IT" sz="2000"/>
              <a:t> high-SNR points </a:t>
            </a:r>
            <a:r>
              <a:rPr lang="it-IT" sz="2000" err="1"/>
              <a:t>successfully</a:t>
            </a:r>
            <a:r>
              <a:rPr lang="it-IT" sz="2000"/>
              <a:t> </a:t>
            </a:r>
            <a:r>
              <a:rPr lang="it-IT" sz="2000" err="1"/>
              <a:t>insulates</a:t>
            </a:r>
            <a:r>
              <a:rPr lang="it-IT" sz="2000"/>
              <a:t> the </a:t>
            </a:r>
            <a:r>
              <a:rPr lang="it-IT" sz="2000" err="1"/>
              <a:t>optimizer</a:t>
            </a:r>
            <a:r>
              <a:rPr lang="it-IT" sz="2000"/>
              <a:t> from </a:t>
            </a:r>
            <a:r>
              <a:rPr lang="it-IT" sz="2000" err="1"/>
              <a:t>peripheral</a:t>
            </a:r>
            <a:r>
              <a:rPr lang="it-IT" sz="2000"/>
              <a:t> </a:t>
            </a:r>
            <a:r>
              <a:rPr lang="it-IT" sz="2000" err="1"/>
              <a:t>noise</a:t>
            </a:r>
            <a:r>
              <a:rPr lang="it-IT" sz="2000"/>
              <a:t>, </a:t>
            </a:r>
            <a:r>
              <a:rPr lang="it-IT" sz="2000" err="1"/>
              <a:t>yielding</a:t>
            </a:r>
            <a:r>
              <a:rPr lang="it-IT" sz="2000"/>
              <a:t> </a:t>
            </a:r>
            <a:r>
              <a:rPr lang="it-IT" sz="2000" err="1"/>
              <a:t>tighter</a:t>
            </a:r>
            <a:r>
              <a:rPr lang="it-IT" sz="2000"/>
              <a:t> </a:t>
            </a:r>
            <a:r>
              <a:rPr lang="it-IT" sz="2000" err="1"/>
              <a:t>parameter</a:t>
            </a:r>
            <a:r>
              <a:rPr lang="it-IT" sz="2000"/>
              <a:t> </a:t>
            </a:r>
            <a:r>
              <a:rPr lang="it-IT" sz="2000" err="1"/>
              <a:t>distributions</a:t>
            </a:r>
            <a:r>
              <a:rPr lang="it-IT" sz="2000"/>
              <a:t> and </a:t>
            </a:r>
            <a:r>
              <a:rPr lang="it-IT" sz="2000" err="1"/>
              <a:t>reduced</a:t>
            </a:r>
            <a:r>
              <a:rPr lang="it-IT" sz="2000"/>
              <a:t> </a:t>
            </a:r>
            <a:r>
              <a:rPr lang="it-IT" sz="2000" err="1"/>
              <a:t>variance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Reduced Parametric Bias:</a:t>
            </a:r>
            <a:r>
              <a:rPr lang="en-US" sz="2000"/>
              <a:t> Excluding very low frequencies bypasses intrinsic bias of the spectral estimator, reducing the distance between identified parameters and ground truth.</a:t>
            </a:r>
            <a:endParaRPr lang="it-IT" sz="200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55C7C5A-B0ED-41F2-D088-CF3A6F7BCE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39" t="3204" r="8913" b="6357"/>
          <a:stretch>
            <a:fillRect/>
          </a:stretch>
        </p:blipFill>
        <p:spPr>
          <a:xfrm>
            <a:off x="267526" y="1102862"/>
            <a:ext cx="7759661" cy="5078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2625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496B-8857-D2D2-09B5-679ED734F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E1572750-A341-421C-E532-7B5AB68B8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41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031DC15-153E-2B1F-1F85-67BC18005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11530560" cy="543697"/>
          </a:xfrm>
        </p:spPr>
        <p:txBody>
          <a:bodyPr>
            <a:normAutofit/>
          </a:bodyPr>
          <a:lstStyle/>
          <a:p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r>
              <a:rPr lang="it-IT"/>
              <a:t>: Frequency </a:t>
            </a:r>
            <a:r>
              <a:rPr lang="it-IT" err="1"/>
              <a:t>Cropping</a:t>
            </a:r>
            <a:r>
              <a:rPr lang="it-IT"/>
              <a:t> – Poles and FRF </a:t>
            </a:r>
            <a:r>
              <a:rPr lang="it-IT" err="1"/>
              <a:t>Dispersion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F4AB6CC-6834-72C1-A903-356F82586B4F}"/>
              </a:ext>
            </a:extLst>
          </p:cNvPr>
          <p:cNvSpPr txBox="1"/>
          <p:nvPr/>
        </p:nvSpPr>
        <p:spPr>
          <a:xfrm>
            <a:off x="7902433" y="1000330"/>
            <a:ext cx="423876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Tight Pole-Zero Clustering: </a:t>
            </a:r>
            <a:r>
              <a:rPr lang="en-US" sz="2000"/>
              <a:t>widespread scatter collapses into highly localized clusters, confirming minimized stochastic variance. However, these clusters settle noticeably further from the ground-truth, visually manifesting the systematic parametric bias.</a:t>
            </a:r>
            <a:endParaRPr lang="it-IT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Narrow FRF Envelope: </a:t>
            </a:r>
            <a:r>
              <a:rPr lang="en-US" sz="2000"/>
              <a:t>Consequently, frequency-domain dispersion also collapses: the realizations form an exceptionally tight envelope across all channels, though the ensemble mean clearly diverges from the True Model curve.</a:t>
            </a:r>
            <a:endParaRPr lang="en-US" sz="280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7FD2139-F4D9-BE60-6815-D2C134C08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5" t="3824" r="8201" b="3255"/>
          <a:stretch>
            <a:fillRect/>
          </a:stretch>
        </p:blipFill>
        <p:spPr>
          <a:xfrm>
            <a:off x="50799" y="1064601"/>
            <a:ext cx="7859662" cy="515449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6BC8F751-0866-6B49-705E-39F46BC9FF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87" t="4030" r="8202" b="3049"/>
          <a:stretch>
            <a:fillRect/>
          </a:stretch>
        </p:blipFill>
        <p:spPr>
          <a:xfrm>
            <a:off x="0" y="1039374"/>
            <a:ext cx="7910461" cy="5087602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B3EBBC42-CCB1-43A3-DE7F-3995F4A8A7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9" t="2688" r="8202" b="2739"/>
          <a:stretch>
            <a:fillRect/>
          </a:stretch>
        </p:blipFill>
        <p:spPr>
          <a:xfrm>
            <a:off x="50800" y="995920"/>
            <a:ext cx="7859661" cy="517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45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1D59-46C4-DD04-8A34-9F5BB567C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59FF8AF0-C8FB-2A80-9DB8-9949FCF9F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42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CB6D1DC-188F-60E6-BFE0-974269BA3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11530560" cy="543697"/>
          </a:xfrm>
        </p:spPr>
        <p:txBody>
          <a:bodyPr>
            <a:normAutofit/>
          </a:bodyPr>
          <a:lstStyle/>
          <a:p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r>
              <a:rPr lang="it-IT"/>
              <a:t>: Frequency </a:t>
            </a:r>
            <a:r>
              <a:rPr lang="it-IT" err="1"/>
              <a:t>Cropping</a:t>
            </a:r>
            <a:r>
              <a:rPr lang="it-IT"/>
              <a:t> – Dataset </a:t>
            </a:r>
            <a:r>
              <a:rPr lang="it-IT" err="1"/>
              <a:t>validation</a:t>
            </a:r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BA116F-6431-0BD0-83BC-B2282D43825A}"/>
              </a:ext>
            </a:extLst>
          </p:cNvPr>
          <p:cNvSpPr txBox="1"/>
          <p:nvPr/>
        </p:nvSpPr>
        <p:spPr>
          <a:xfrm>
            <a:off x="8555664" y="1880195"/>
            <a:ext cx="3636336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err="1"/>
              <a:t>Validation</a:t>
            </a:r>
            <a:r>
              <a:rPr lang="it-IT" sz="2000"/>
              <a:t> </a:t>
            </a:r>
            <a:r>
              <a:rPr lang="it-IT" sz="2000" err="1"/>
              <a:t>confirms</a:t>
            </a:r>
            <a:r>
              <a:rPr lang="it-IT" sz="2000"/>
              <a:t> the </a:t>
            </a:r>
            <a:r>
              <a:rPr lang="it-IT" sz="2000" err="1"/>
              <a:t>prior</a:t>
            </a:r>
            <a:r>
              <a:rPr lang="it-IT" sz="2000"/>
              <a:t> </a:t>
            </a:r>
            <a:r>
              <a:rPr lang="it-IT" sz="2000" err="1"/>
              <a:t>analysis</a:t>
            </a:r>
            <a:r>
              <a:rPr lang="it-IT" sz="2000"/>
              <a:t>, </a:t>
            </a:r>
            <a:r>
              <a:rPr lang="it-IT" sz="2000" err="1"/>
              <a:t>showing</a:t>
            </a:r>
            <a:r>
              <a:rPr lang="it-IT" sz="2000"/>
              <a:t> </a:t>
            </a:r>
            <a:r>
              <a:rPr lang="it-IT" sz="2000" err="1"/>
              <a:t>reduced</a:t>
            </a:r>
            <a:r>
              <a:rPr lang="it-IT" sz="2000"/>
              <a:t> </a:t>
            </a:r>
            <a:r>
              <a:rPr lang="it-IT" sz="2000" err="1"/>
              <a:t>variance</a:t>
            </a:r>
            <a:r>
              <a:rPr lang="it-IT" sz="2000"/>
              <a:t> </a:t>
            </a:r>
            <a:r>
              <a:rPr lang="it-IT" sz="2000" err="1"/>
              <a:t>as</a:t>
            </a:r>
            <a:r>
              <a:rPr lang="it-IT" sz="2000"/>
              <a:t> Monte Carlo </a:t>
            </a:r>
            <a:r>
              <a:rPr lang="it-IT" sz="2000" err="1"/>
              <a:t>solutions</a:t>
            </a:r>
            <a:r>
              <a:rPr lang="it-IT" sz="2000"/>
              <a:t> </a:t>
            </a:r>
            <a:r>
              <a:rPr lang="it-IT" sz="2000" err="1"/>
              <a:t>tightly</a:t>
            </a:r>
            <a:r>
              <a:rPr lang="it-IT" sz="2000"/>
              <a:t> cluster </a:t>
            </a:r>
            <a:r>
              <a:rPr lang="it-IT" sz="2000" err="1"/>
              <a:t>around</a:t>
            </a:r>
            <a:r>
              <a:rPr lang="it-IT" sz="2000"/>
              <a:t> the </a:t>
            </a:r>
            <a:r>
              <a:rPr lang="it-IT" sz="2000" err="1"/>
              <a:t>mean</a:t>
            </a:r>
            <a:r>
              <a:rPr lang="it-IT" sz="2000"/>
              <a:t> </a:t>
            </a:r>
            <a:r>
              <a:rPr lang="it-IT" sz="2000" err="1"/>
              <a:t>even</a:t>
            </a:r>
            <a:r>
              <a:rPr lang="it-IT" sz="2000"/>
              <a:t> with the </a:t>
            </a:r>
            <a:r>
              <a:rPr lang="it-IT" sz="2000" err="1"/>
              <a:t>highlighted</a:t>
            </a:r>
            <a:r>
              <a:rPr lang="it-IT" sz="2000"/>
              <a:t> </a:t>
            </a:r>
            <a:r>
              <a:rPr lang="it-IT" sz="2000" err="1"/>
              <a:t>systematic</a:t>
            </a:r>
            <a:r>
              <a:rPr lang="it-IT" sz="2000"/>
              <a:t> </a:t>
            </a:r>
            <a:r>
              <a:rPr lang="it-IT" sz="2000" err="1"/>
              <a:t>bias</a:t>
            </a:r>
            <a:endParaRPr lang="en-US" sz="200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4F43367-AF0D-635C-794A-25DB0A872F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1" t="3927" r="8201" b="3492"/>
          <a:stretch>
            <a:fillRect/>
          </a:stretch>
        </p:blipFill>
        <p:spPr>
          <a:xfrm>
            <a:off x="105354" y="998850"/>
            <a:ext cx="8081715" cy="5212318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E62522E-F7B8-AC08-022B-F32A18D47F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82" t="3911" r="8742" b="3509"/>
          <a:stretch>
            <a:fillRect/>
          </a:stretch>
        </p:blipFill>
        <p:spPr>
          <a:xfrm>
            <a:off x="105354" y="1044693"/>
            <a:ext cx="7854886" cy="5120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6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6950BFC3-D8DA-4A85-94F7-54DA5524770B}">
      <p188:commentRel xmlns:p188="http://schemas.microsoft.com/office/powerpoint/2018/8/main" r:id="rId2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9131107-C60C-A37E-76BF-EE073E3E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43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EEFC016D-5160-52D0-653E-8419846A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Combined</a:t>
            </a:r>
            <a:r>
              <a:rPr lang="it-IT"/>
              <a:t> </a:t>
            </a:r>
            <a:r>
              <a:rPr lang="it-IT" err="1"/>
              <a:t>bias</a:t>
            </a:r>
            <a:r>
              <a:rPr lang="it-IT"/>
              <a:t> and </a:t>
            </a:r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E4DC0FEE-F00E-4F27-AA6D-0B2CAB37FFFD}"/>
              </a:ext>
            </a:extLst>
          </p:cNvPr>
          <p:cNvSpPr/>
          <p:nvPr/>
        </p:nvSpPr>
        <p:spPr>
          <a:xfrm>
            <a:off x="1535391" y="1490134"/>
            <a:ext cx="3691467" cy="1258810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err="1">
                <a:solidFill>
                  <a:schemeClr val="bg1"/>
                </a:solidFill>
              </a:rPr>
              <a:t>Reduction</a:t>
            </a:r>
            <a:r>
              <a:rPr lang="it-IT" sz="2400" b="1">
                <a:solidFill>
                  <a:schemeClr val="bg1"/>
                </a:solidFill>
              </a:rPr>
              <a:t> of Bias</a:t>
            </a:r>
          </a:p>
          <a:p>
            <a:pPr algn="ctr"/>
            <a:r>
              <a:rPr lang="it-IT" sz="2400" b="1">
                <a:solidFill>
                  <a:schemeClr val="bg1"/>
                </a:solidFill>
              </a:rPr>
              <a:t> </a:t>
            </a:r>
            <a:r>
              <a:rPr lang="it-IT" sz="2400" b="1" err="1">
                <a:solidFill>
                  <a:schemeClr val="bg1"/>
                </a:solidFill>
              </a:rPr>
              <a:t>Through</a:t>
            </a:r>
            <a:r>
              <a:rPr lang="it-IT" sz="2400" b="1">
                <a:solidFill>
                  <a:schemeClr val="bg1"/>
                </a:solidFill>
              </a:rPr>
              <a:t> K </a:t>
            </a:r>
            <a:r>
              <a:rPr lang="it-IT" sz="2400" b="1" err="1">
                <a:solidFill>
                  <a:schemeClr val="bg1"/>
                </a:solidFill>
              </a:rPr>
              <a:t>Decrease</a:t>
            </a:r>
            <a:endParaRPr lang="it-IT" sz="2000" b="1"/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7C05B538-6CFC-CB9E-95AC-4E7FE5B77543}"/>
              </a:ext>
            </a:extLst>
          </p:cNvPr>
          <p:cNvSpPr/>
          <p:nvPr/>
        </p:nvSpPr>
        <p:spPr>
          <a:xfrm>
            <a:off x="6965142" y="1490130"/>
            <a:ext cx="3691467" cy="1258810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err="1">
                <a:solidFill>
                  <a:schemeClr val="bg1"/>
                </a:solidFill>
              </a:rPr>
              <a:t>Reduction</a:t>
            </a:r>
            <a:r>
              <a:rPr lang="it-IT" sz="2400" b="1">
                <a:solidFill>
                  <a:schemeClr val="bg1"/>
                </a:solidFill>
              </a:rPr>
              <a:t> of </a:t>
            </a:r>
            <a:r>
              <a:rPr lang="it-IT" sz="2400" b="1" err="1">
                <a:solidFill>
                  <a:schemeClr val="bg1"/>
                </a:solidFill>
              </a:rPr>
              <a:t>Variance</a:t>
            </a:r>
            <a:r>
              <a:rPr lang="it-IT" sz="2400" b="1">
                <a:solidFill>
                  <a:schemeClr val="bg1"/>
                </a:solidFill>
              </a:rPr>
              <a:t> </a:t>
            </a:r>
            <a:r>
              <a:rPr lang="it-IT" sz="2400" b="1" err="1">
                <a:solidFill>
                  <a:schemeClr val="bg1"/>
                </a:solidFill>
              </a:rPr>
              <a:t>Through</a:t>
            </a:r>
            <a:r>
              <a:rPr lang="it-IT" sz="2400" b="1">
                <a:solidFill>
                  <a:schemeClr val="bg1"/>
                </a:solidFill>
              </a:rPr>
              <a:t> Frequency </a:t>
            </a:r>
            <a:r>
              <a:rPr lang="it-IT" sz="2400" b="1" err="1">
                <a:solidFill>
                  <a:schemeClr val="bg1"/>
                </a:solidFill>
              </a:rPr>
              <a:t>Cropping</a:t>
            </a:r>
            <a:endParaRPr lang="it-IT" sz="2000" b="1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90D8CF09-6595-E1F9-A45F-E99080752020}"/>
              </a:ext>
            </a:extLst>
          </p:cNvPr>
          <p:cNvSpPr/>
          <p:nvPr/>
        </p:nvSpPr>
        <p:spPr>
          <a:xfrm>
            <a:off x="4250266" y="4312258"/>
            <a:ext cx="3691467" cy="1258810"/>
          </a:xfrm>
          <a:prstGeom prst="round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err="1">
                <a:solidFill>
                  <a:schemeClr val="bg1"/>
                </a:solidFill>
              </a:rPr>
              <a:t>Possible</a:t>
            </a:r>
            <a:r>
              <a:rPr lang="it-IT" sz="2400" b="1">
                <a:solidFill>
                  <a:schemeClr val="bg1"/>
                </a:solidFill>
              </a:rPr>
              <a:t> Best Combination</a:t>
            </a:r>
            <a:endParaRPr lang="it-IT" sz="2000" b="1"/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70D32141-697F-7673-09DE-4AD99E526BE1}"/>
              </a:ext>
            </a:extLst>
          </p:cNvPr>
          <p:cNvSpPr/>
          <p:nvPr/>
        </p:nvSpPr>
        <p:spPr>
          <a:xfrm>
            <a:off x="7076626" y="3240547"/>
            <a:ext cx="560439" cy="580103"/>
          </a:xfrm>
          <a:prstGeom prst="downArrow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in giù 18">
            <a:extLst>
              <a:ext uri="{FF2B5EF4-FFF2-40B4-BE49-F238E27FC236}">
                <a16:creationId xmlns:a16="http://schemas.microsoft.com/office/drawing/2014/main" id="{C5F0535E-1714-84EF-B0CB-6C7C59B8205E}"/>
              </a:ext>
            </a:extLst>
          </p:cNvPr>
          <p:cNvSpPr/>
          <p:nvPr/>
        </p:nvSpPr>
        <p:spPr>
          <a:xfrm>
            <a:off x="4554936" y="3240546"/>
            <a:ext cx="560439" cy="580103"/>
          </a:xfrm>
          <a:prstGeom prst="downArrow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3574443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3B6DD98E-4465-CB00-D65D-DBC495705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44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93124C95-760C-E924-AD57-A3B849FE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Combined</a:t>
            </a:r>
            <a:r>
              <a:rPr lang="it-IT"/>
              <a:t> </a:t>
            </a:r>
            <a:r>
              <a:rPr lang="it-IT" err="1"/>
              <a:t>bias</a:t>
            </a:r>
            <a:r>
              <a:rPr lang="it-IT"/>
              <a:t> and </a:t>
            </a:r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0AA27D47-28FE-D349-08C7-A28757EA33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03" t="2895" r="8065" b="6414"/>
          <a:stretch>
            <a:fillRect/>
          </a:stretch>
        </p:blipFill>
        <p:spPr>
          <a:xfrm>
            <a:off x="0" y="1372829"/>
            <a:ext cx="8716094" cy="4112341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3A456D9A-5D78-D751-75D3-6E49A9F5D34A}"/>
              </a:ext>
            </a:extLst>
          </p:cNvPr>
          <p:cNvSpPr txBox="1"/>
          <p:nvPr/>
        </p:nvSpPr>
        <p:spPr>
          <a:xfrm>
            <a:off x="8721214" y="1106350"/>
            <a:ext cx="336543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Bias: </a:t>
            </a:r>
            <a:r>
              <a:rPr lang="it-IT" sz="2000" err="1"/>
              <a:t>As</a:t>
            </a:r>
            <a:r>
              <a:rPr lang="it-IT" sz="2000"/>
              <a:t> </a:t>
            </a:r>
            <a:r>
              <a:rPr lang="it-IT" sz="2000" err="1"/>
              <a:t>expected</a:t>
            </a:r>
            <a:r>
              <a:rPr lang="it-IT" sz="2000"/>
              <a:t>, </a:t>
            </a:r>
            <a:r>
              <a:rPr lang="it-IT" sz="2000" err="1"/>
              <a:t>reducing</a:t>
            </a:r>
            <a:r>
              <a:rPr lang="it-IT" sz="2000"/>
              <a:t> K leads to a </a:t>
            </a:r>
            <a:r>
              <a:rPr lang="it-IT" sz="2000" err="1"/>
              <a:t>decrease</a:t>
            </a:r>
            <a:r>
              <a:rPr lang="it-IT" sz="2000"/>
              <a:t> in </a:t>
            </a:r>
            <a:r>
              <a:rPr lang="it-IT" sz="2000" err="1"/>
              <a:t>parameter</a:t>
            </a:r>
            <a:r>
              <a:rPr lang="it-IT" sz="2000"/>
              <a:t> </a:t>
            </a:r>
            <a:r>
              <a:rPr lang="it-IT" sz="2000" err="1"/>
              <a:t>estimation</a:t>
            </a:r>
            <a:r>
              <a:rPr lang="it-IT" sz="2000"/>
              <a:t> </a:t>
            </a:r>
            <a:r>
              <a:rPr lang="it-IT" sz="2000" err="1"/>
              <a:t>bias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Variance: </a:t>
            </a:r>
            <a:r>
              <a:rPr lang="it-IT" sz="2000"/>
              <a:t>The </a:t>
            </a:r>
            <a:r>
              <a:rPr lang="it-IT" sz="2000" err="1"/>
              <a:t>extended</a:t>
            </a:r>
            <a:r>
              <a:rPr lang="it-IT" sz="2000"/>
              <a:t> frequency </a:t>
            </a:r>
            <a:r>
              <a:rPr lang="it-IT" sz="2000" err="1"/>
              <a:t>crop</a:t>
            </a:r>
            <a:r>
              <a:rPr lang="it-IT" sz="2000"/>
              <a:t> helps reduce the overall </a:t>
            </a:r>
            <a:r>
              <a:rPr lang="it-IT" sz="2000" err="1"/>
              <a:t>variance</a:t>
            </a:r>
            <a:r>
              <a:rPr lang="it-IT" sz="2000"/>
              <a:t> of the </a:t>
            </a:r>
            <a:r>
              <a:rPr lang="it-IT" sz="2000" err="1"/>
              <a:t>estimates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 b="1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Best estimate: </a:t>
            </a:r>
            <a:r>
              <a:rPr lang="it-IT" sz="2000"/>
              <a:t>Overall, </a:t>
            </a:r>
            <a:r>
              <a:rPr lang="it-IT" sz="2000" err="1"/>
              <a:t>this</a:t>
            </a:r>
            <a:r>
              <a:rPr lang="it-IT" sz="2000"/>
              <a:t> </a:t>
            </a:r>
            <a:r>
              <a:rPr lang="it-IT" sz="2000" err="1"/>
              <a:t>simulation</a:t>
            </a:r>
            <a:r>
              <a:rPr lang="it-IT" sz="2000"/>
              <a:t> </a:t>
            </a:r>
            <a:r>
              <a:rPr lang="it-IT" sz="2000" err="1"/>
              <a:t>proves</a:t>
            </a:r>
            <a:r>
              <a:rPr lang="it-IT" sz="2000"/>
              <a:t> to be the best </a:t>
            </a:r>
            <a:r>
              <a:rPr lang="it-IT" sz="2000" err="1"/>
              <a:t>configuration</a:t>
            </a:r>
            <a:r>
              <a:rPr lang="it-IT" sz="2000"/>
              <a:t> </a:t>
            </a:r>
            <a:r>
              <a:rPr lang="it-IT" sz="2000" err="1"/>
              <a:t>since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conflicting</a:t>
            </a:r>
            <a:r>
              <a:rPr lang="it-IT" sz="2000"/>
              <a:t> </a:t>
            </a:r>
            <a:r>
              <a:rPr lang="it-IT" sz="2000" err="1"/>
              <a:t>effects</a:t>
            </a:r>
            <a:r>
              <a:rPr lang="it-IT" sz="2000"/>
              <a:t> are </a:t>
            </a:r>
            <a:r>
              <a:rPr lang="it-IT" sz="2000" err="1"/>
              <a:t>well</a:t>
            </a:r>
            <a:r>
              <a:rPr lang="it-IT" sz="2000"/>
              <a:t> </a:t>
            </a:r>
            <a:r>
              <a:rPr lang="it-IT" sz="2000" err="1"/>
              <a:t>balanced</a:t>
            </a:r>
            <a:r>
              <a:rPr lang="it-IT" sz="2000"/>
              <a:t>.</a:t>
            </a:r>
            <a:endParaRPr lang="en-US" sz="2000" b="1"/>
          </a:p>
        </p:txBody>
      </p:sp>
    </p:spTree>
    <p:extLst>
      <p:ext uri="{BB962C8B-B14F-4D97-AF65-F5344CB8AC3E}">
        <p14:creationId xmlns:p14="http://schemas.microsoft.com/office/powerpoint/2010/main" val="3862550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553ACF9A-C148-872F-66BB-B71DF77E67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56" t="2665" r="8387"/>
          <a:stretch>
            <a:fillRect/>
          </a:stretch>
        </p:blipFill>
        <p:spPr>
          <a:xfrm>
            <a:off x="0" y="1305452"/>
            <a:ext cx="8711381" cy="4372330"/>
          </a:xfrm>
          <a:prstGeom prst="rect">
            <a:avLst/>
          </a:prstGeom>
        </p:spPr>
      </p:pic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FB6F29A-B817-BC6C-661F-3BDDC24D6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45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05E0A66-7B6E-E2E5-40E3-9D469BD9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10127216" cy="543697"/>
          </a:xfrm>
        </p:spPr>
        <p:txBody>
          <a:bodyPr/>
          <a:lstStyle/>
          <a:p>
            <a:r>
              <a:rPr lang="it-IT" err="1"/>
              <a:t>Combined</a:t>
            </a:r>
            <a:r>
              <a:rPr lang="it-IT"/>
              <a:t> </a:t>
            </a:r>
            <a:r>
              <a:rPr lang="it-IT" err="1"/>
              <a:t>bias</a:t>
            </a:r>
            <a:r>
              <a:rPr lang="it-IT"/>
              <a:t> and </a:t>
            </a:r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900A347-7CCF-3053-3285-5F2E83D7ED75}"/>
              </a:ext>
            </a:extLst>
          </p:cNvPr>
          <p:cNvSpPr txBox="1"/>
          <p:nvPr/>
        </p:nvSpPr>
        <p:spPr>
          <a:xfrm>
            <a:off x="8721214" y="1106350"/>
            <a:ext cx="336543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Bias: </a:t>
            </a:r>
            <a:r>
              <a:rPr lang="it-IT" sz="2000" err="1"/>
              <a:t>As</a:t>
            </a:r>
            <a:r>
              <a:rPr lang="it-IT" sz="2000"/>
              <a:t> </a:t>
            </a:r>
            <a:r>
              <a:rPr lang="it-IT" sz="2000" err="1"/>
              <a:t>expected</a:t>
            </a:r>
            <a:r>
              <a:rPr lang="it-IT" sz="2000"/>
              <a:t>, </a:t>
            </a:r>
            <a:r>
              <a:rPr lang="it-IT" sz="2000" err="1"/>
              <a:t>reducing</a:t>
            </a:r>
            <a:r>
              <a:rPr lang="it-IT" sz="2000"/>
              <a:t> K leads to a </a:t>
            </a:r>
            <a:r>
              <a:rPr lang="it-IT" sz="2000" err="1"/>
              <a:t>decrease</a:t>
            </a:r>
            <a:r>
              <a:rPr lang="it-IT" sz="2000"/>
              <a:t> in </a:t>
            </a:r>
            <a:r>
              <a:rPr lang="it-IT" sz="2000" err="1"/>
              <a:t>parameter</a:t>
            </a:r>
            <a:r>
              <a:rPr lang="it-IT" sz="2000"/>
              <a:t> </a:t>
            </a:r>
            <a:r>
              <a:rPr lang="it-IT" sz="2000" err="1"/>
              <a:t>estimation</a:t>
            </a:r>
            <a:r>
              <a:rPr lang="it-IT" sz="2000"/>
              <a:t> </a:t>
            </a:r>
            <a:r>
              <a:rPr lang="it-IT" sz="2000" err="1"/>
              <a:t>bias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Variance: </a:t>
            </a:r>
            <a:r>
              <a:rPr lang="it-IT" sz="2000"/>
              <a:t>The </a:t>
            </a:r>
            <a:r>
              <a:rPr lang="it-IT" sz="2000" err="1"/>
              <a:t>extended</a:t>
            </a:r>
            <a:r>
              <a:rPr lang="it-IT" sz="2000"/>
              <a:t> frequency </a:t>
            </a:r>
            <a:r>
              <a:rPr lang="it-IT" sz="2000" err="1"/>
              <a:t>crop</a:t>
            </a:r>
            <a:r>
              <a:rPr lang="it-IT" sz="2000"/>
              <a:t> helps reduce the overall </a:t>
            </a:r>
            <a:r>
              <a:rPr lang="it-IT" sz="2000" err="1"/>
              <a:t>variance</a:t>
            </a:r>
            <a:r>
              <a:rPr lang="it-IT" sz="2000"/>
              <a:t> of the </a:t>
            </a:r>
            <a:r>
              <a:rPr lang="it-IT" sz="2000" err="1"/>
              <a:t>estimates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 b="1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Best estimate: </a:t>
            </a:r>
            <a:r>
              <a:rPr lang="it-IT" sz="2000"/>
              <a:t>Overall, </a:t>
            </a:r>
            <a:r>
              <a:rPr lang="it-IT" sz="2000" err="1"/>
              <a:t>this</a:t>
            </a:r>
            <a:r>
              <a:rPr lang="it-IT" sz="2000"/>
              <a:t> </a:t>
            </a:r>
            <a:r>
              <a:rPr lang="it-IT" sz="2000" err="1"/>
              <a:t>simulation</a:t>
            </a:r>
            <a:r>
              <a:rPr lang="it-IT" sz="2000"/>
              <a:t> </a:t>
            </a:r>
            <a:r>
              <a:rPr lang="it-IT" sz="2000" err="1"/>
              <a:t>proves</a:t>
            </a:r>
            <a:r>
              <a:rPr lang="it-IT" sz="2000"/>
              <a:t> to be the best </a:t>
            </a:r>
            <a:r>
              <a:rPr lang="it-IT" sz="2000" err="1"/>
              <a:t>configuration</a:t>
            </a:r>
            <a:r>
              <a:rPr lang="it-IT" sz="2000"/>
              <a:t> </a:t>
            </a:r>
            <a:r>
              <a:rPr lang="it-IT" sz="2000" err="1"/>
              <a:t>since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conflicting</a:t>
            </a:r>
            <a:r>
              <a:rPr lang="it-IT" sz="2000"/>
              <a:t> </a:t>
            </a:r>
            <a:r>
              <a:rPr lang="it-IT" sz="2000" err="1"/>
              <a:t>effects</a:t>
            </a:r>
            <a:r>
              <a:rPr lang="it-IT" sz="2000"/>
              <a:t> are </a:t>
            </a:r>
            <a:r>
              <a:rPr lang="it-IT" sz="2000" err="1"/>
              <a:t>well</a:t>
            </a:r>
            <a:r>
              <a:rPr lang="it-IT" sz="2000"/>
              <a:t> </a:t>
            </a:r>
            <a:r>
              <a:rPr lang="it-IT" sz="2000" err="1"/>
              <a:t>balanced</a:t>
            </a:r>
            <a:r>
              <a:rPr lang="it-IT" sz="2000"/>
              <a:t>.</a:t>
            </a:r>
            <a:endParaRPr lang="en-US" sz="2000" b="1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382DD84-1594-8D78-2070-8409D2BA00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3" t="2665" r="8387" b="900"/>
          <a:stretch>
            <a:fillRect/>
          </a:stretch>
        </p:blipFill>
        <p:spPr>
          <a:xfrm>
            <a:off x="0" y="1367318"/>
            <a:ext cx="8711381" cy="4248599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F1E32E4-F17C-DB4F-F76B-292CEEF8B1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6" t="2665" r="8065"/>
          <a:stretch>
            <a:fillRect/>
          </a:stretch>
        </p:blipFill>
        <p:spPr>
          <a:xfrm>
            <a:off x="0" y="1305452"/>
            <a:ext cx="8766253" cy="432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799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8B246-38B4-8E58-1BB2-F6A026094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215F4B03-9E23-F63C-F11F-230C41E9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46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40604ACE-7F52-6A88-451C-DD7CFAFC8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10127216" cy="543697"/>
          </a:xfrm>
        </p:spPr>
        <p:txBody>
          <a:bodyPr/>
          <a:lstStyle/>
          <a:p>
            <a:r>
              <a:rPr lang="it-IT" err="1"/>
              <a:t>Combined</a:t>
            </a:r>
            <a:r>
              <a:rPr lang="it-IT"/>
              <a:t> </a:t>
            </a:r>
            <a:r>
              <a:rPr lang="it-IT" err="1"/>
              <a:t>bias</a:t>
            </a:r>
            <a:r>
              <a:rPr lang="it-IT"/>
              <a:t> and </a:t>
            </a:r>
            <a:r>
              <a:rPr lang="it-IT" err="1"/>
              <a:t>variance</a:t>
            </a:r>
            <a:r>
              <a:rPr lang="it-IT"/>
              <a:t> </a:t>
            </a:r>
            <a:r>
              <a:rPr lang="it-IT" err="1"/>
              <a:t>reduction</a:t>
            </a:r>
            <a:endParaRPr lang="it-IT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5FB035F-9333-17C9-9494-9149A93CE818}"/>
              </a:ext>
            </a:extLst>
          </p:cNvPr>
          <p:cNvSpPr txBox="1"/>
          <p:nvPr/>
        </p:nvSpPr>
        <p:spPr>
          <a:xfrm>
            <a:off x="8721214" y="1106350"/>
            <a:ext cx="3365432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rgbClr val="213652"/>
                </a:solidFill>
              </a:rPr>
              <a:t>Considerations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Bias: </a:t>
            </a:r>
            <a:r>
              <a:rPr lang="it-IT" sz="2000" err="1"/>
              <a:t>As</a:t>
            </a:r>
            <a:r>
              <a:rPr lang="it-IT" sz="2000"/>
              <a:t> </a:t>
            </a:r>
            <a:r>
              <a:rPr lang="it-IT" sz="2000" err="1"/>
              <a:t>expected</a:t>
            </a:r>
            <a:r>
              <a:rPr lang="it-IT" sz="2000"/>
              <a:t>, </a:t>
            </a:r>
            <a:r>
              <a:rPr lang="it-IT" sz="2000" err="1"/>
              <a:t>reducing</a:t>
            </a:r>
            <a:r>
              <a:rPr lang="it-IT" sz="2000"/>
              <a:t> K leads to a </a:t>
            </a:r>
            <a:r>
              <a:rPr lang="it-IT" sz="2000" err="1"/>
              <a:t>decrease</a:t>
            </a:r>
            <a:r>
              <a:rPr lang="it-IT" sz="2000"/>
              <a:t> in </a:t>
            </a:r>
            <a:r>
              <a:rPr lang="it-IT" sz="2000" err="1"/>
              <a:t>parameter</a:t>
            </a:r>
            <a:r>
              <a:rPr lang="it-IT" sz="2000"/>
              <a:t> </a:t>
            </a:r>
            <a:r>
              <a:rPr lang="it-IT" sz="2000" err="1"/>
              <a:t>estimation</a:t>
            </a:r>
            <a:r>
              <a:rPr lang="it-IT" sz="2000"/>
              <a:t> </a:t>
            </a:r>
            <a:r>
              <a:rPr lang="it-IT" sz="2000" err="1"/>
              <a:t>bias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/>
              <a:t>Variance: </a:t>
            </a:r>
            <a:r>
              <a:rPr lang="it-IT" sz="2000"/>
              <a:t>The </a:t>
            </a:r>
            <a:r>
              <a:rPr lang="it-IT" sz="2000" err="1"/>
              <a:t>extended</a:t>
            </a:r>
            <a:r>
              <a:rPr lang="it-IT" sz="2000"/>
              <a:t> frequency </a:t>
            </a:r>
            <a:r>
              <a:rPr lang="it-IT" sz="2000" err="1"/>
              <a:t>crop</a:t>
            </a:r>
            <a:r>
              <a:rPr lang="it-IT" sz="2000"/>
              <a:t> helps reduce the overall </a:t>
            </a:r>
            <a:r>
              <a:rPr lang="it-IT" sz="2000" err="1"/>
              <a:t>variance</a:t>
            </a:r>
            <a:r>
              <a:rPr lang="it-IT" sz="2000"/>
              <a:t> of the </a:t>
            </a:r>
            <a:r>
              <a:rPr lang="it-IT" sz="2000" err="1"/>
              <a:t>estimates</a:t>
            </a:r>
            <a:r>
              <a:rPr lang="it-IT" sz="200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it-IT" sz="2000" b="1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it-IT" sz="2000" b="1"/>
              <a:t>Best estimate: </a:t>
            </a:r>
            <a:r>
              <a:rPr lang="it-IT" sz="2000"/>
              <a:t>Overall, </a:t>
            </a:r>
            <a:r>
              <a:rPr lang="it-IT" sz="2000" err="1"/>
              <a:t>this</a:t>
            </a:r>
            <a:r>
              <a:rPr lang="it-IT" sz="2000"/>
              <a:t> </a:t>
            </a:r>
            <a:r>
              <a:rPr lang="it-IT" sz="2000" err="1"/>
              <a:t>simulation</a:t>
            </a:r>
            <a:r>
              <a:rPr lang="it-IT" sz="2000"/>
              <a:t> </a:t>
            </a:r>
            <a:r>
              <a:rPr lang="it-IT" sz="2000" err="1"/>
              <a:t>proves</a:t>
            </a:r>
            <a:r>
              <a:rPr lang="it-IT" sz="2000"/>
              <a:t> to be the best </a:t>
            </a:r>
            <a:r>
              <a:rPr lang="it-IT" sz="2000" err="1"/>
              <a:t>configuration</a:t>
            </a:r>
            <a:r>
              <a:rPr lang="it-IT" sz="2000"/>
              <a:t> </a:t>
            </a:r>
            <a:r>
              <a:rPr lang="it-IT" sz="2000" err="1"/>
              <a:t>since</a:t>
            </a:r>
            <a:r>
              <a:rPr lang="it-IT" sz="2000"/>
              <a:t> </a:t>
            </a:r>
            <a:r>
              <a:rPr lang="it-IT" sz="2000" err="1"/>
              <a:t>all</a:t>
            </a:r>
            <a:r>
              <a:rPr lang="it-IT" sz="2000"/>
              <a:t> </a:t>
            </a:r>
            <a:r>
              <a:rPr lang="it-IT" sz="2000" err="1"/>
              <a:t>conflicting</a:t>
            </a:r>
            <a:r>
              <a:rPr lang="it-IT" sz="2000"/>
              <a:t> </a:t>
            </a:r>
            <a:r>
              <a:rPr lang="it-IT" sz="2000" err="1"/>
              <a:t>effects</a:t>
            </a:r>
            <a:r>
              <a:rPr lang="it-IT" sz="2000"/>
              <a:t> are </a:t>
            </a:r>
            <a:r>
              <a:rPr lang="it-IT" sz="2000" err="1"/>
              <a:t>well</a:t>
            </a:r>
            <a:r>
              <a:rPr lang="it-IT" sz="2000"/>
              <a:t> </a:t>
            </a:r>
            <a:r>
              <a:rPr lang="it-IT" sz="2000" err="1"/>
              <a:t>balanced</a:t>
            </a:r>
            <a:r>
              <a:rPr lang="it-IT" sz="2000"/>
              <a:t>.</a:t>
            </a:r>
            <a:endParaRPr lang="en-US" sz="2000" b="1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21E0F53-5E06-C86E-F0EF-CFAF7BADD7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0" r="8437"/>
          <a:stretch>
            <a:fillRect/>
          </a:stretch>
        </p:blipFill>
        <p:spPr>
          <a:xfrm>
            <a:off x="105354" y="1290925"/>
            <a:ext cx="8691039" cy="446072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80CD9787-8962-9048-B406-1E6BDF282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9" t="2665" r="8226"/>
          <a:stretch>
            <a:fillRect/>
          </a:stretch>
        </p:blipFill>
        <p:spPr>
          <a:xfrm>
            <a:off x="78196" y="1404881"/>
            <a:ext cx="8745353" cy="43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049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FEE92-8F4F-F6FB-328B-0AEB09007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BEAE59E-1889-C7DD-974F-CB32BB048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47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5C16580F-2163-D76F-BEF3-1F6144CAD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9394245" cy="543697"/>
          </a:xfrm>
        </p:spPr>
        <p:txBody>
          <a:bodyPr/>
          <a:lstStyle/>
          <a:p>
            <a:r>
              <a:rPr lang="it-IT" err="1"/>
              <a:t>Final</a:t>
            </a:r>
            <a:r>
              <a:rPr lang="it-IT"/>
              <a:t> </a:t>
            </a:r>
            <a:r>
              <a:rPr lang="it-IT" err="1"/>
              <a:t>Considerations</a:t>
            </a:r>
            <a:endParaRPr lang="it-IT"/>
          </a:p>
        </p:txBody>
      </p:sp>
      <p:sp>
        <p:nvSpPr>
          <p:cNvPr id="9" name="Freccia in giù 8">
            <a:extLst>
              <a:ext uri="{FF2B5EF4-FFF2-40B4-BE49-F238E27FC236}">
                <a16:creationId xmlns:a16="http://schemas.microsoft.com/office/drawing/2014/main" id="{C8A918F1-491D-8EEA-4246-42CE44674BF9}"/>
              </a:ext>
            </a:extLst>
          </p:cNvPr>
          <p:cNvSpPr/>
          <p:nvPr/>
        </p:nvSpPr>
        <p:spPr>
          <a:xfrm>
            <a:off x="9806941" y="2101846"/>
            <a:ext cx="560439" cy="580103"/>
          </a:xfrm>
          <a:prstGeom prst="downArrow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6E59A54C-F255-33B5-996E-6D112C53CB56}"/>
              </a:ext>
            </a:extLst>
          </p:cNvPr>
          <p:cNvSpPr/>
          <p:nvPr/>
        </p:nvSpPr>
        <p:spPr>
          <a:xfrm>
            <a:off x="8212661" y="1065798"/>
            <a:ext cx="3749001" cy="92330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 err="1">
                <a:solidFill>
                  <a:schemeClr val="bg1"/>
                </a:solidFill>
              </a:rPr>
              <a:t>Strict</a:t>
            </a:r>
            <a:r>
              <a:rPr lang="it-IT" sz="2400" b="1">
                <a:solidFill>
                  <a:schemeClr val="bg1"/>
                </a:solidFill>
              </a:rPr>
              <a:t> Frequency </a:t>
            </a:r>
            <a:r>
              <a:rPr lang="it-IT" sz="2400" b="1" err="1">
                <a:solidFill>
                  <a:schemeClr val="bg1"/>
                </a:solidFill>
              </a:rPr>
              <a:t>Cropping</a:t>
            </a:r>
            <a:endParaRPr lang="it-IT" sz="2000" b="1"/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2A8853D1-DE42-BD27-B5DE-22D0E4FA1AFF}"/>
              </a:ext>
            </a:extLst>
          </p:cNvPr>
          <p:cNvSpPr/>
          <p:nvPr/>
        </p:nvSpPr>
        <p:spPr>
          <a:xfrm>
            <a:off x="5761156" y="2101846"/>
            <a:ext cx="560439" cy="580103"/>
          </a:xfrm>
          <a:prstGeom prst="downArrow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0EDA2307-BAF5-F805-7289-98E1C451377A}"/>
              </a:ext>
            </a:extLst>
          </p:cNvPr>
          <p:cNvSpPr/>
          <p:nvPr/>
        </p:nvSpPr>
        <p:spPr>
          <a:xfrm>
            <a:off x="4195645" y="1070252"/>
            <a:ext cx="3691467" cy="92330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Low K</a:t>
            </a:r>
          </a:p>
          <a:p>
            <a:pPr algn="ctr"/>
            <a:r>
              <a:rPr lang="it-IT" sz="2400" b="1">
                <a:solidFill>
                  <a:schemeClr val="bg1"/>
                </a:solidFill>
              </a:rPr>
              <a:t>(K = 20)</a:t>
            </a:r>
            <a:endParaRPr lang="it-IT" sz="2000" b="1"/>
          </a:p>
        </p:txBody>
      </p:sp>
      <p:grpSp>
        <p:nvGrpSpPr>
          <p:cNvPr id="20" name="Gruppo 19">
            <a:extLst>
              <a:ext uri="{FF2B5EF4-FFF2-40B4-BE49-F238E27FC236}">
                <a16:creationId xmlns:a16="http://schemas.microsoft.com/office/drawing/2014/main" id="{60DFC55B-E711-55D0-FC67-52B4C92DCCC3}"/>
              </a:ext>
            </a:extLst>
          </p:cNvPr>
          <p:cNvGrpSpPr/>
          <p:nvPr/>
        </p:nvGrpSpPr>
        <p:grpSpPr>
          <a:xfrm>
            <a:off x="54617" y="2886567"/>
            <a:ext cx="4003378" cy="3458970"/>
            <a:chOff x="7395890" y="4253209"/>
            <a:chExt cx="4678250" cy="1607769"/>
          </a:xfrm>
        </p:grpSpPr>
        <p:grpSp>
          <p:nvGrpSpPr>
            <p:cNvPr id="21" name="Gruppo 20">
              <a:extLst>
                <a:ext uri="{FF2B5EF4-FFF2-40B4-BE49-F238E27FC236}">
                  <a16:creationId xmlns:a16="http://schemas.microsoft.com/office/drawing/2014/main" id="{5A8B9D11-C829-AA6A-E756-81A69EF53CB6}"/>
                </a:ext>
              </a:extLst>
            </p:cNvPr>
            <p:cNvGrpSpPr/>
            <p:nvPr/>
          </p:nvGrpSpPr>
          <p:grpSpPr>
            <a:xfrm>
              <a:off x="7446548" y="4253209"/>
              <a:ext cx="4533327" cy="1505030"/>
              <a:chOff x="334294" y="4051689"/>
              <a:chExt cx="5716672" cy="1505030"/>
            </a:xfrm>
          </p:grpSpPr>
          <p:sp>
            <p:nvSpPr>
              <p:cNvPr id="23" name="Rettangolo 22">
                <a:extLst>
                  <a:ext uri="{FF2B5EF4-FFF2-40B4-BE49-F238E27FC236}">
                    <a16:creationId xmlns:a16="http://schemas.microsoft.com/office/drawing/2014/main" id="{72A241A1-7E48-95A0-6FCD-F81BA089EF35}"/>
                  </a:ext>
                </a:extLst>
              </p:cNvPr>
              <p:cNvSpPr/>
              <p:nvPr/>
            </p:nvSpPr>
            <p:spPr>
              <a:xfrm>
                <a:off x="334294" y="4321328"/>
                <a:ext cx="5716671" cy="123539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ttangolo 23">
                <a:extLst>
                  <a:ext uri="{FF2B5EF4-FFF2-40B4-BE49-F238E27FC236}">
                    <a16:creationId xmlns:a16="http://schemas.microsoft.com/office/drawing/2014/main" id="{A6B53784-AE41-1717-E41E-6E08327060EB}"/>
                  </a:ext>
                </a:extLst>
              </p:cNvPr>
              <p:cNvSpPr/>
              <p:nvPr/>
            </p:nvSpPr>
            <p:spPr>
              <a:xfrm>
                <a:off x="334295" y="4051689"/>
                <a:ext cx="5716671" cy="269639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sz="2400" b="1" err="1"/>
                  <a:t>Variance-Oriented</a:t>
                </a:r>
                <a:r>
                  <a:rPr lang="it-IT" sz="2400" b="1"/>
                  <a:t> Baseline</a:t>
                </a:r>
                <a:endParaRPr lang="it-IT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F16121C3-D84E-7D4F-0414-4392FAC3875B}"/>
                </a:ext>
              </a:extLst>
            </p:cNvPr>
            <p:cNvSpPr txBox="1"/>
            <p:nvPr/>
          </p:nvSpPr>
          <p:spPr>
            <a:xfrm>
              <a:off x="7395890" y="4530538"/>
              <a:ext cx="4678250" cy="1330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/>
                <a:t>Low </a:t>
              </a:r>
              <a:r>
                <a:rPr lang="it-IT" b="1" err="1"/>
                <a:t>Spectral</a:t>
              </a:r>
              <a:r>
                <a:rPr lang="it-IT" b="1"/>
                <a:t> </a:t>
              </a:r>
              <a:r>
                <a:rPr lang="it-IT" b="1" err="1"/>
                <a:t>Variance</a:t>
              </a:r>
              <a:r>
                <a:rPr lang="it-IT" b="1"/>
                <a:t>:</a:t>
              </a:r>
              <a:r>
                <a:rPr lang="it-IT"/>
                <a:t> High </a:t>
              </a:r>
              <a:r>
                <a:rPr lang="it-IT" err="1"/>
                <a:t>averaging</a:t>
              </a:r>
              <a:r>
                <a:rPr lang="it-IT"/>
                <a:t> </a:t>
              </a:r>
              <a:r>
                <a:rPr lang="it-IT" err="1"/>
                <a:t>ensures</a:t>
              </a:r>
              <a:r>
                <a:rPr lang="it-IT"/>
                <a:t> </a:t>
              </a:r>
              <a:r>
                <a:rPr lang="it-IT" err="1"/>
                <a:t>noise-resilient</a:t>
              </a:r>
              <a:r>
                <a:rPr lang="it-IT"/>
                <a:t> FRF </a:t>
              </a:r>
              <a:r>
                <a:rPr lang="it-IT" err="1"/>
                <a:t>estimates</a:t>
              </a:r>
              <a:r>
                <a:rPr lang="it-IT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Intrinsic</a:t>
              </a:r>
              <a:r>
                <a:rPr lang="it-IT" b="1"/>
                <a:t> FRF Bias:</a:t>
              </a:r>
              <a:r>
                <a:rPr lang="it-IT"/>
                <a:t> </a:t>
              </a:r>
              <a:r>
                <a:rPr lang="it-IT" err="1"/>
                <a:t>Systematic</a:t>
              </a:r>
              <a:r>
                <a:rPr lang="it-IT"/>
                <a:t> </a:t>
              </a:r>
              <a:r>
                <a:rPr lang="it-IT" err="1"/>
                <a:t>periodogram</a:t>
              </a:r>
              <a:r>
                <a:rPr lang="it-IT"/>
                <a:t> </a:t>
              </a:r>
              <a:r>
                <a:rPr lang="it-IT" err="1"/>
                <a:t>bias</a:t>
              </a:r>
              <a:r>
                <a:rPr lang="it-IT"/>
                <a:t> </a:t>
              </a:r>
              <a:r>
                <a:rPr lang="it-IT" err="1"/>
                <a:t>results</a:t>
              </a:r>
              <a:r>
                <a:rPr lang="it-IT"/>
                <a:t> in a </a:t>
              </a:r>
              <a:r>
                <a:rPr lang="it-IT" err="1"/>
                <a:t>distorted</a:t>
              </a:r>
              <a:r>
                <a:rPr lang="it-IT"/>
                <a:t> low-frequency FRF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Closed</a:t>
              </a:r>
              <a:r>
                <a:rPr lang="it-IT" b="1"/>
                <a:t>-Loop Performance:</a:t>
              </a:r>
              <a:r>
                <a:rPr lang="it-IT"/>
                <a:t> </a:t>
              </a:r>
              <a:r>
                <a:rPr lang="it-IT" err="1"/>
                <a:t>Provides</a:t>
              </a:r>
              <a:r>
                <a:rPr lang="it-IT"/>
                <a:t> </a:t>
              </a:r>
              <a:r>
                <a:rPr lang="it-IT" err="1"/>
                <a:t>robust</a:t>
              </a:r>
              <a:r>
                <a:rPr lang="it-IT"/>
                <a:t> tracking and </a:t>
              </a:r>
              <a:r>
                <a:rPr lang="it-IT" err="1"/>
                <a:t>stable</a:t>
              </a:r>
              <a:r>
                <a:rPr lang="it-IT"/>
                <a:t> </a:t>
              </a:r>
              <a:r>
                <a:rPr lang="it-IT" err="1"/>
                <a:t>transient</a:t>
              </a:r>
              <a:r>
                <a:rPr lang="it-IT"/>
                <a:t> </a:t>
              </a:r>
              <a:r>
                <a:rPr lang="it-IT" err="1"/>
                <a:t>responses</a:t>
              </a:r>
              <a:r>
                <a:rPr lang="it-IT"/>
                <a:t>.</a:t>
              </a:r>
            </a:p>
            <a:p>
              <a:pPr algn="ctr"/>
              <a:endParaRPr lang="it-IT"/>
            </a:p>
          </p:txBody>
        </p:sp>
      </p:grp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ADEA15EE-2192-AAFB-9BC7-F0B7F0CB5CBF}"/>
              </a:ext>
            </a:extLst>
          </p:cNvPr>
          <p:cNvSpPr/>
          <p:nvPr/>
        </p:nvSpPr>
        <p:spPr>
          <a:xfrm>
            <a:off x="1736303" y="2107547"/>
            <a:ext cx="560439" cy="580103"/>
          </a:xfrm>
          <a:prstGeom prst="downArrow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FD6C0836-2EF0-8B00-6D6D-70DFA3DC86B2}"/>
              </a:ext>
            </a:extLst>
          </p:cNvPr>
          <p:cNvSpPr/>
          <p:nvPr/>
        </p:nvSpPr>
        <p:spPr>
          <a:xfrm>
            <a:off x="170788" y="1070252"/>
            <a:ext cx="3699308" cy="92330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High K </a:t>
            </a:r>
            <a:br>
              <a:rPr lang="it-IT" sz="2400" b="1">
                <a:solidFill>
                  <a:schemeClr val="bg1"/>
                </a:solidFill>
              </a:rPr>
            </a:br>
            <a:r>
              <a:rPr lang="it-IT" sz="2400" b="1">
                <a:solidFill>
                  <a:schemeClr val="bg1"/>
                </a:solidFill>
              </a:rPr>
              <a:t>(K = 50) </a:t>
            </a:r>
            <a:endParaRPr lang="it-IT" sz="2000" b="1"/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323BB788-F794-5CF6-0997-5B5FFA2E7400}"/>
              </a:ext>
            </a:extLst>
          </p:cNvPr>
          <p:cNvGrpSpPr/>
          <p:nvPr/>
        </p:nvGrpSpPr>
        <p:grpSpPr>
          <a:xfrm>
            <a:off x="4133638" y="2886566"/>
            <a:ext cx="3922711" cy="3237936"/>
            <a:chOff x="7395890" y="4253209"/>
            <a:chExt cx="4583985" cy="1505030"/>
          </a:xfrm>
        </p:grpSpPr>
        <p:grpSp>
          <p:nvGrpSpPr>
            <p:cNvPr id="30" name="Gruppo 29">
              <a:extLst>
                <a:ext uri="{FF2B5EF4-FFF2-40B4-BE49-F238E27FC236}">
                  <a16:creationId xmlns:a16="http://schemas.microsoft.com/office/drawing/2014/main" id="{474205BA-2E9F-03A0-14D1-5CEC9C2FCE7E}"/>
                </a:ext>
              </a:extLst>
            </p:cNvPr>
            <p:cNvGrpSpPr/>
            <p:nvPr/>
          </p:nvGrpSpPr>
          <p:grpSpPr>
            <a:xfrm>
              <a:off x="7446548" y="4253209"/>
              <a:ext cx="4533327" cy="1505030"/>
              <a:chOff x="334294" y="4051689"/>
              <a:chExt cx="5716672" cy="1505030"/>
            </a:xfrm>
          </p:grpSpPr>
          <p:sp>
            <p:nvSpPr>
              <p:cNvPr id="32" name="Rettangolo 31">
                <a:extLst>
                  <a:ext uri="{FF2B5EF4-FFF2-40B4-BE49-F238E27FC236}">
                    <a16:creationId xmlns:a16="http://schemas.microsoft.com/office/drawing/2014/main" id="{7ABCD5D3-3081-5101-EEA6-22CFF364822C}"/>
                  </a:ext>
                </a:extLst>
              </p:cNvPr>
              <p:cNvSpPr/>
              <p:nvPr/>
            </p:nvSpPr>
            <p:spPr>
              <a:xfrm>
                <a:off x="334294" y="4321328"/>
                <a:ext cx="5716671" cy="123539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Rettangolo 32">
                <a:extLst>
                  <a:ext uri="{FF2B5EF4-FFF2-40B4-BE49-F238E27FC236}">
                    <a16:creationId xmlns:a16="http://schemas.microsoft.com/office/drawing/2014/main" id="{8B8E54BB-A69D-0C94-14A8-EB986D299086}"/>
                  </a:ext>
                </a:extLst>
              </p:cNvPr>
              <p:cNvSpPr/>
              <p:nvPr/>
            </p:nvSpPr>
            <p:spPr>
              <a:xfrm>
                <a:off x="334295" y="4051689"/>
                <a:ext cx="5716671" cy="269639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sz="2400" b="1" err="1"/>
                  <a:t>Resolution-Oriented</a:t>
                </a:r>
                <a:endParaRPr lang="it-IT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" name="CasellaDiTesto 30">
              <a:extLst>
                <a:ext uri="{FF2B5EF4-FFF2-40B4-BE49-F238E27FC236}">
                  <a16:creationId xmlns:a16="http://schemas.microsoft.com/office/drawing/2014/main" id="{0D0FB44B-0790-B0F5-7A31-21763BDA0FB6}"/>
                </a:ext>
              </a:extLst>
            </p:cNvPr>
            <p:cNvSpPr txBox="1"/>
            <p:nvPr/>
          </p:nvSpPr>
          <p:spPr>
            <a:xfrm>
              <a:off x="7395890" y="4530538"/>
              <a:ext cx="4533326" cy="1201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Reduced</a:t>
              </a:r>
              <a:r>
                <a:rPr lang="it-IT" b="1"/>
                <a:t> </a:t>
              </a:r>
              <a:r>
                <a:rPr lang="it-IT" b="1" err="1"/>
                <a:t>Intrinsic</a:t>
              </a:r>
              <a:r>
                <a:rPr lang="it-IT" b="1"/>
                <a:t> Bias:</a:t>
              </a:r>
              <a:r>
                <a:rPr lang="it-IT"/>
                <a:t> Better </a:t>
              </a:r>
              <a:r>
                <a:rPr lang="it-IT" err="1"/>
                <a:t>capture</a:t>
              </a:r>
              <a:r>
                <a:rPr lang="it-IT"/>
                <a:t> of low-frequency trends </a:t>
              </a:r>
              <a:r>
                <a:rPr lang="it-IT" err="1"/>
                <a:t>through</a:t>
              </a:r>
              <a:r>
                <a:rPr lang="it-IT"/>
                <a:t> </a:t>
              </a:r>
              <a:r>
                <a:rPr lang="it-IT" err="1"/>
                <a:t>higher</a:t>
              </a:r>
              <a:r>
                <a:rPr lang="it-IT"/>
                <a:t> </a:t>
              </a:r>
              <a:r>
                <a:rPr lang="it-IT" err="1"/>
                <a:t>spectral</a:t>
              </a:r>
              <a:r>
                <a:rPr lang="it-IT"/>
                <a:t> </a:t>
              </a:r>
              <a:r>
                <a:rPr lang="it-IT" err="1"/>
                <a:t>resolution</a:t>
              </a:r>
              <a:r>
                <a:rPr lang="it-IT"/>
                <a:t>.</a:t>
              </a:r>
              <a:endParaRPr lang="it-IT" b="1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/>
                <a:t>High </a:t>
              </a:r>
              <a:r>
                <a:rPr lang="it-IT" b="1" err="1"/>
                <a:t>Parameter</a:t>
              </a:r>
              <a:r>
                <a:rPr lang="it-IT" b="1"/>
                <a:t> </a:t>
              </a:r>
              <a:r>
                <a:rPr lang="it-IT" b="1" err="1"/>
                <a:t>Dispersion</a:t>
              </a:r>
              <a:r>
                <a:rPr lang="it-IT" b="1"/>
                <a:t>:</a:t>
              </a:r>
              <a:r>
                <a:rPr lang="it-IT"/>
                <a:t> Severe </a:t>
              </a:r>
              <a:r>
                <a:rPr lang="it-IT" err="1"/>
                <a:t>increase</a:t>
              </a:r>
              <a:r>
                <a:rPr lang="it-IT"/>
                <a:t> in </a:t>
              </a:r>
              <a:r>
                <a:rPr lang="it-IT" err="1"/>
                <a:t>variance</a:t>
              </a:r>
              <a:r>
                <a:rPr lang="it-IT"/>
                <a:t> </a:t>
              </a:r>
              <a:r>
                <a:rPr lang="it-IT" err="1"/>
                <a:t>across</a:t>
              </a:r>
              <a:r>
                <a:rPr lang="it-IT"/>
                <a:t> Monte Carlo </a:t>
              </a:r>
              <a:r>
                <a:rPr lang="it-IT" err="1"/>
                <a:t>realizations</a:t>
              </a:r>
              <a:r>
                <a:rPr lang="it-IT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Closed</a:t>
              </a:r>
              <a:r>
                <a:rPr lang="it-IT" b="1"/>
                <a:t>-Loop Performance:</a:t>
              </a:r>
              <a:r>
                <a:rPr lang="it-IT"/>
                <a:t> </a:t>
              </a:r>
              <a:r>
                <a:rPr lang="it-IT" err="1"/>
                <a:t>Reduction</a:t>
              </a:r>
              <a:r>
                <a:rPr lang="it-IT"/>
                <a:t> of </a:t>
              </a:r>
              <a:r>
                <a:rPr lang="it-IT" err="1"/>
                <a:t>stability</a:t>
              </a:r>
              <a:r>
                <a:rPr lang="it-IT"/>
                <a:t> </a:t>
              </a:r>
              <a:r>
                <a:rPr lang="it-IT" err="1"/>
                <a:t>margins</a:t>
              </a:r>
              <a:r>
                <a:rPr lang="it-IT"/>
                <a:t>, </a:t>
              </a:r>
              <a:r>
                <a:rPr lang="it-IT" err="1"/>
                <a:t>leading</a:t>
              </a:r>
              <a:r>
                <a:rPr lang="it-IT"/>
                <a:t> to </a:t>
              </a:r>
              <a:r>
                <a:rPr lang="it-IT" err="1"/>
                <a:t>degraded</a:t>
              </a:r>
              <a:r>
                <a:rPr lang="it-IT"/>
                <a:t> tracking.</a:t>
              </a:r>
            </a:p>
          </p:txBody>
        </p:sp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647E39C5-5E68-5C09-C666-D5AC0BC49B50}"/>
              </a:ext>
            </a:extLst>
          </p:cNvPr>
          <p:cNvGrpSpPr/>
          <p:nvPr/>
        </p:nvGrpSpPr>
        <p:grpSpPr>
          <a:xfrm>
            <a:off x="8169310" y="2886566"/>
            <a:ext cx="4003378" cy="3237936"/>
            <a:chOff x="7395890" y="4253209"/>
            <a:chExt cx="4678250" cy="1505030"/>
          </a:xfrm>
        </p:grpSpPr>
        <p:grpSp>
          <p:nvGrpSpPr>
            <p:cNvPr id="35" name="Gruppo 34">
              <a:extLst>
                <a:ext uri="{FF2B5EF4-FFF2-40B4-BE49-F238E27FC236}">
                  <a16:creationId xmlns:a16="http://schemas.microsoft.com/office/drawing/2014/main" id="{1AD8936C-017A-49D7-5E8F-85FB9AE93228}"/>
                </a:ext>
              </a:extLst>
            </p:cNvPr>
            <p:cNvGrpSpPr/>
            <p:nvPr/>
          </p:nvGrpSpPr>
          <p:grpSpPr>
            <a:xfrm>
              <a:off x="7446548" y="4253209"/>
              <a:ext cx="4533327" cy="1505030"/>
              <a:chOff x="334294" y="4051689"/>
              <a:chExt cx="5716672" cy="1505030"/>
            </a:xfrm>
          </p:grpSpPr>
          <p:sp>
            <p:nvSpPr>
              <p:cNvPr id="37" name="Rettangolo 36">
                <a:extLst>
                  <a:ext uri="{FF2B5EF4-FFF2-40B4-BE49-F238E27FC236}">
                    <a16:creationId xmlns:a16="http://schemas.microsoft.com/office/drawing/2014/main" id="{9D7B1279-86DF-825D-258E-BDC8178857BD}"/>
                  </a:ext>
                </a:extLst>
              </p:cNvPr>
              <p:cNvSpPr/>
              <p:nvPr/>
            </p:nvSpPr>
            <p:spPr>
              <a:xfrm>
                <a:off x="334294" y="4321328"/>
                <a:ext cx="5716671" cy="123539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Rettangolo 37">
                <a:extLst>
                  <a:ext uri="{FF2B5EF4-FFF2-40B4-BE49-F238E27FC236}">
                    <a16:creationId xmlns:a16="http://schemas.microsoft.com/office/drawing/2014/main" id="{C98E2C61-18EA-E2D4-592C-E1457D15C3E0}"/>
                  </a:ext>
                </a:extLst>
              </p:cNvPr>
              <p:cNvSpPr/>
              <p:nvPr/>
            </p:nvSpPr>
            <p:spPr>
              <a:xfrm>
                <a:off x="334295" y="4051689"/>
                <a:ext cx="5716671" cy="269639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sz="2400" b="1" err="1"/>
                  <a:t>Selective</a:t>
                </a:r>
                <a:r>
                  <a:rPr lang="it-IT" sz="2400" b="1"/>
                  <a:t> SNR </a:t>
                </a:r>
                <a:r>
                  <a:rPr lang="it-IT" sz="2400" b="1" err="1"/>
                  <a:t>Approach</a:t>
                </a:r>
                <a:endParaRPr lang="it-IT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6" name="CasellaDiTesto 35">
              <a:extLst>
                <a:ext uri="{FF2B5EF4-FFF2-40B4-BE49-F238E27FC236}">
                  <a16:creationId xmlns:a16="http://schemas.microsoft.com/office/drawing/2014/main" id="{F7093FEF-1D24-7A8F-A367-7F1FC8311F75}"/>
                </a:ext>
              </a:extLst>
            </p:cNvPr>
            <p:cNvSpPr txBox="1"/>
            <p:nvPr/>
          </p:nvSpPr>
          <p:spPr>
            <a:xfrm>
              <a:off x="7395890" y="4530538"/>
              <a:ext cx="4678250" cy="1201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Variance</a:t>
              </a:r>
              <a:r>
                <a:rPr lang="it-IT" b="1"/>
                <a:t> </a:t>
              </a:r>
              <a:r>
                <a:rPr lang="it-IT" b="1" err="1"/>
                <a:t>Compression</a:t>
              </a:r>
              <a:r>
                <a:rPr lang="it-IT" b="1"/>
                <a:t>:</a:t>
              </a:r>
              <a:r>
                <a:rPr lang="it-IT"/>
                <a:t> </a:t>
              </a:r>
              <a:r>
                <a:rPr lang="it-IT" err="1"/>
                <a:t>Focusing</a:t>
              </a:r>
              <a:r>
                <a:rPr lang="it-IT"/>
                <a:t> on high-SNR </a:t>
              </a:r>
              <a:r>
                <a:rPr lang="it-IT" err="1"/>
                <a:t>peaks</a:t>
              </a:r>
              <a:r>
                <a:rPr lang="it-IT"/>
                <a:t> </a:t>
              </a:r>
              <a:r>
                <a:rPr lang="it-IT" err="1"/>
                <a:t>minimizes</a:t>
              </a:r>
              <a:r>
                <a:rPr lang="it-IT"/>
                <a:t> </a:t>
              </a:r>
              <a:r>
                <a:rPr lang="it-IT" err="1"/>
                <a:t>stochastic</a:t>
              </a:r>
              <a:r>
                <a:rPr lang="it-IT"/>
                <a:t> </a:t>
              </a:r>
              <a:r>
                <a:rPr lang="it-IT" err="1"/>
                <a:t>uncertainty</a:t>
              </a:r>
              <a:r>
                <a:rPr lang="it-IT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Reduced</a:t>
              </a:r>
              <a:r>
                <a:rPr lang="it-IT" b="1"/>
                <a:t> Bias: </a:t>
              </a:r>
              <a:r>
                <a:rPr lang="it-IT"/>
                <a:t>The </a:t>
              </a:r>
              <a:r>
                <a:rPr lang="it-IT" err="1"/>
                <a:t>removal</a:t>
              </a:r>
              <a:r>
                <a:rPr lang="it-IT"/>
                <a:t> of low-frequency </a:t>
              </a:r>
              <a:r>
                <a:rPr lang="it-IT" err="1"/>
                <a:t>components</a:t>
              </a:r>
              <a:r>
                <a:rPr lang="it-IT"/>
                <a:t> </a:t>
              </a:r>
              <a:r>
                <a:rPr lang="it-IT" err="1"/>
                <a:t>intrinsically</a:t>
              </a:r>
              <a:r>
                <a:rPr lang="it-IT"/>
                <a:t> </a:t>
              </a:r>
              <a:r>
                <a:rPr lang="it-IT" err="1"/>
                <a:t>minimizes</a:t>
              </a:r>
              <a:r>
                <a:rPr lang="it-IT"/>
                <a:t> system </a:t>
              </a:r>
              <a:r>
                <a:rPr lang="it-IT" err="1"/>
                <a:t>bias</a:t>
              </a:r>
              <a:r>
                <a:rPr lang="it-IT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en-US" b="1"/>
                <a:t>Closed-Loop Performance: </a:t>
              </a:r>
              <a:r>
                <a:rPr lang="it-IT" err="1"/>
                <a:t>Provides</a:t>
              </a:r>
              <a:r>
                <a:rPr lang="it-IT"/>
                <a:t> </a:t>
              </a:r>
              <a:r>
                <a:rPr lang="it-IT" err="1"/>
                <a:t>robust</a:t>
              </a:r>
              <a:r>
                <a:rPr lang="it-IT"/>
                <a:t> tracking and </a:t>
              </a:r>
              <a:r>
                <a:rPr lang="it-IT" err="1"/>
                <a:t>stable</a:t>
              </a:r>
              <a:r>
                <a:rPr lang="it-IT"/>
                <a:t> </a:t>
              </a:r>
              <a:r>
                <a:rPr lang="it-IT" err="1"/>
                <a:t>transient</a:t>
              </a:r>
              <a:r>
                <a:rPr lang="it-IT"/>
                <a:t> </a:t>
              </a:r>
              <a:r>
                <a:rPr lang="it-IT" err="1"/>
                <a:t>responses</a:t>
              </a:r>
              <a:r>
                <a:rPr lang="it-IT"/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98565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6C95-499B-DFF4-F6BD-77E4472CF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4CB368B2-FFCE-E627-17BD-C6D13114D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48</a:t>
            </a:fld>
            <a:r>
              <a:rPr lang="it-IT" dirty="0"/>
              <a:t>/49</a:t>
            </a:r>
          </a:p>
        </p:txBody>
      </p:sp>
      <p:sp>
        <p:nvSpPr>
          <p:cNvPr id="3" name="Titolo 2">
            <a:extLst>
              <a:ext uri="{FF2B5EF4-FFF2-40B4-BE49-F238E27FC236}">
                <a16:creationId xmlns:a16="http://schemas.microsoft.com/office/drawing/2014/main" id="{29E23C6E-FFF2-5267-FF65-C630BB12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55" y="90617"/>
            <a:ext cx="9394245" cy="543697"/>
          </a:xfrm>
        </p:spPr>
        <p:txBody>
          <a:bodyPr/>
          <a:lstStyle/>
          <a:p>
            <a:r>
              <a:rPr lang="it-IT" err="1"/>
              <a:t>Final</a:t>
            </a:r>
            <a:r>
              <a:rPr lang="it-IT"/>
              <a:t> </a:t>
            </a:r>
            <a:r>
              <a:rPr lang="it-IT" err="1"/>
              <a:t>Considerations</a:t>
            </a:r>
            <a:endParaRPr lang="it-IT"/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D036CDD2-E26C-1639-9846-432A1FE6617F}"/>
              </a:ext>
            </a:extLst>
          </p:cNvPr>
          <p:cNvSpPr/>
          <p:nvPr/>
        </p:nvSpPr>
        <p:spPr>
          <a:xfrm>
            <a:off x="5815780" y="2113239"/>
            <a:ext cx="560439" cy="580103"/>
          </a:xfrm>
          <a:prstGeom prst="downArrow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F7ADC164-85DE-9382-49E3-6D16BF941BA8}"/>
              </a:ext>
            </a:extLst>
          </p:cNvPr>
          <p:cNvSpPr/>
          <p:nvPr/>
        </p:nvSpPr>
        <p:spPr>
          <a:xfrm>
            <a:off x="2075122" y="1089917"/>
            <a:ext cx="7965134" cy="923307"/>
          </a:xfrm>
          <a:prstGeom prst="roundRect">
            <a:avLst/>
          </a:prstGeom>
          <a:solidFill>
            <a:srgbClr val="65829B"/>
          </a:solidFill>
          <a:ln>
            <a:solidFill>
              <a:srgbClr val="65829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2400" b="1">
                <a:solidFill>
                  <a:schemeClr val="bg1"/>
                </a:solidFill>
              </a:rPr>
              <a:t>K = 20 and Frequency </a:t>
            </a:r>
            <a:r>
              <a:rPr lang="it-IT" sz="2400" b="1" err="1">
                <a:solidFill>
                  <a:schemeClr val="bg1"/>
                </a:solidFill>
              </a:rPr>
              <a:t>Cropping</a:t>
            </a:r>
            <a:endParaRPr lang="it-IT" sz="2000" b="1"/>
          </a:p>
        </p:txBody>
      </p:sp>
      <p:grpSp>
        <p:nvGrpSpPr>
          <p:cNvPr id="8" name="Gruppo 7">
            <a:extLst>
              <a:ext uri="{FF2B5EF4-FFF2-40B4-BE49-F238E27FC236}">
                <a16:creationId xmlns:a16="http://schemas.microsoft.com/office/drawing/2014/main" id="{4060589E-CD14-0E73-2658-B06EB703063B}"/>
              </a:ext>
            </a:extLst>
          </p:cNvPr>
          <p:cNvGrpSpPr/>
          <p:nvPr/>
        </p:nvGrpSpPr>
        <p:grpSpPr>
          <a:xfrm>
            <a:off x="2075122" y="2809900"/>
            <a:ext cx="7965136" cy="3237936"/>
            <a:chOff x="7446547" y="4253209"/>
            <a:chExt cx="4533328" cy="1505030"/>
          </a:xfrm>
        </p:grpSpPr>
        <p:grpSp>
          <p:nvGrpSpPr>
            <p:cNvPr id="10" name="Gruppo 9">
              <a:extLst>
                <a:ext uri="{FF2B5EF4-FFF2-40B4-BE49-F238E27FC236}">
                  <a16:creationId xmlns:a16="http://schemas.microsoft.com/office/drawing/2014/main" id="{3D197495-C7BC-6F43-37E7-B4554B9680CE}"/>
                </a:ext>
              </a:extLst>
            </p:cNvPr>
            <p:cNvGrpSpPr/>
            <p:nvPr/>
          </p:nvGrpSpPr>
          <p:grpSpPr>
            <a:xfrm>
              <a:off x="7446548" y="4253209"/>
              <a:ext cx="4533327" cy="1505030"/>
              <a:chOff x="334294" y="4051689"/>
              <a:chExt cx="5716672" cy="1505030"/>
            </a:xfrm>
          </p:grpSpPr>
          <p:sp>
            <p:nvSpPr>
              <p:cNvPr id="13" name="Rettangolo 12">
                <a:extLst>
                  <a:ext uri="{FF2B5EF4-FFF2-40B4-BE49-F238E27FC236}">
                    <a16:creationId xmlns:a16="http://schemas.microsoft.com/office/drawing/2014/main" id="{99FA2774-E24F-D18F-26F5-FF9C2452562B}"/>
                  </a:ext>
                </a:extLst>
              </p:cNvPr>
              <p:cNvSpPr/>
              <p:nvPr/>
            </p:nvSpPr>
            <p:spPr>
              <a:xfrm>
                <a:off x="334294" y="4321328"/>
                <a:ext cx="5716671" cy="1235391"/>
              </a:xfrm>
              <a:prstGeom prst="rect">
                <a:avLst/>
              </a:prstGeom>
              <a:noFill/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Rettangolo 13">
                <a:extLst>
                  <a:ext uri="{FF2B5EF4-FFF2-40B4-BE49-F238E27FC236}">
                    <a16:creationId xmlns:a16="http://schemas.microsoft.com/office/drawing/2014/main" id="{12BCABCA-3842-D9E8-43F1-22E843D84F8D}"/>
                  </a:ext>
                </a:extLst>
              </p:cNvPr>
              <p:cNvSpPr/>
              <p:nvPr/>
            </p:nvSpPr>
            <p:spPr>
              <a:xfrm>
                <a:off x="334295" y="4051689"/>
                <a:ext cx="5716671" cy="269639"/>
              </a:xfrm>
              <a:prstGeom prst="rect">
                <a:avLst/>
              </a:prstGeom>
              <a:solidFill>
                <a:srgbClr val="65829B"/>
              </a:solidFill>
              <a:ln w="38100">
                <a:solidFill>
                  <a:srgbClr val="65829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it-IT" sz="2400" b="1">
                    <a:solidFill>
                      <a:schemeClr val="bg1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it-IT" sz="2400" b="1" err="1"/>
                  <a:t>Balanced</a:t>
                </a:r>
                <a:r>
                  <a:rPr lang="it-IT" sz="2400" b="1"/>
                  <a:t> Combination</a:t>
                </a:r>
                <a:endParaRPr lang="it-IT" sz="2400" b="1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2" name="CasellaDiTesto 11">
              <a:extLst>
                <a:ext uri="{FF2B5EF4-FFF2-40B4-BE49-F238E27FC236}">
                  <a16:creationId xmlns:a16="http://schemas.microsoft.com/office/drawing/2014/main" id="{1790D8F2-2C56-74C6-82EA-C69C2CBFD012}"/>
                </a:ext>
              </a:extLst>
            </p:cNvPr>
            <p:cNvSpPr txBox="1"/>
            <p:nvPr/>
          </p:nvSpPr>
          <p:spPr>
            <a:xfrm>
              <a:off x="7446547" y="4530538"/>
              <a:ext cx="4533326" cy="12016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Balanced</a:t>
              </a:r>
              <a:r>
                <a:rPr lang="it-IT" b="1"/>
                <a:t> </a:t>
              </a:r>
              <a:r>
                <a:rPr lang="it-IT" b="1" err="1"/>
                <a:t>Averaging</a:t>
              </a:r>
              <a:r>
                <a:rPr lang="it-IT" b="1"/>
                <a:t> (K = 20):</a:t>
              </a:r>
              <a:r>
                <a:rPr lang="it-IT"/>
                <a:t> Lowers </a:t>
              </a:r>
              <a:r>
                <a:rPr lang="it-IT" err="1"/>
                <a:t>intrinsic</a:t>
              </a:r>
              <a:r>
                <a:rPr lang="it-IT"/>
                <a:t> </a:t>
              </a:r>
              <a:r>
                <a:rPr lang="it-IT" err="1"/>
                <a:t>bias</a:t>
              </a:r>
              <a:r>
                <a:rPr lang="it-IT"/>
                <a:t> </a:t>
              </a:r>
              <a:r>
                <a:rPr lang="it-IT" err="1"/>
                <a:t>while</a:t>
              </a:r>
              <a:r>
                <a:rPr lang="it-IT"/>
                <a:t> keeping </a:t>
              </a:r>
              <a:r>
                <a:rPr lang="it-IT" err="1"/>
                <a:t>noise</a:t>
              </a:r>
              <a:r>
                <a:rPr lang="it-IT"/>
                <a:t> </a:t>
              </a:r>
              <a:r>
                <a:rPr lang="it-IT" err="1"/>
                <a:t>strictly</a:t>
              </a:r>
              <a:r>
                <a:rPr lang="it-IT"/>
                <a:t> </a:t>
              </a:r>
              <a:r>
                <a:rPr lang="it-IT" err="1"/>
                <a:t>bounded</a:t>
              </a:r>
              <a:r>
                <a:rPr lang="it-IT"/>
                <a:t> </a:t>
              </a:r>
              <a:r>
                <a:rPr lang="it-IT" err="1"/>
                <a:t>within</a:t>
              </a:r>
              <a:r>
                <a:rPr lang="it-IT"/>
                <a:t> the </a:t>
              </a:r>
              <a:r>
                <a:rPr lang="it-IT" err="1"/>
                <a:t>analyzed</a:t>
              </a:r>
              <a:r>
                <a:rPr lang="it-IT"/>
                <a:t> frequency range.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it-IT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Relaxed</a:t>
              </a:r>
              <a:r>
                <a:rPr lang="it-IT" b="1"/>
                <a:t> </a:t>
              </a:r>
              <a:r>
                <a:rPr lang="it-IT" b="1" err="1"/>
                <a:t>Cropping</a:t>
              </a:r>
              <a:r>
                <a:rPr lang="it-IT" b="1"/>
                <a:t>:</a:t>
              </a:r>
              <a:r>
                <a:rPr lang="it-IT"/>
                <a:t> </a:t>
              </a:r>
              <a:r>
                <a:rPr lang="it-IT" err="1"/>
                <a:t>Expanding</a:t>
              </a:r>
              <a:r>
                <a:rPr lang="it-IT"/>
                <a:t> the window </a:t>
              </a:r>
              <a:r>
                <a:rPr lang="it-IT" err="1"/>
                <a:t>preserves</a:t>
              </a:r>
              <a:r>
                <a:rPr lang="it-IT"/>
                <a:t> the slow-dynamics </a:t>
              </a:r>
              <a:r>
                <a:rPr lang="it-IT" err="1"/>
                <a:t>slope</a:t>
              </a:r>
              <a:r>
                <a:rPr lang="it-IT"/>
                <a:t> (good </a:t>
              </a:r>
              <a:r>
                <a:rPr lang="it-IT" err="1"/>
                <a:t>bias</a:t>
              </a:r>
              <a:r>
                <a:rPr lang="it-IT"/>
                <a:t>) </a:t>
              </a:r>
              <a:r>
                <a:rPr lang="it-IT" err="1"/>
                <a:t>while</a:t>
              </a:r>
              <a:r>
                <a:rPr lang="it-IT"/>
                <a:t> </a:t>
              </a:r>
              <a:r>
                <a:rPr lang="it-IT" err="1"/>
                <a:t>successfully</a:t>
              </a:r>
              <a:r>
                <a:rPr lang="it-IT"/>
                <a:t> </a:t>
              </a:r>
              <a:r>
                <a:rPr lang="it-IT" err="1"/>
                <a:t>rejecting</a:t>
              </a:r>
              <a:r>
                <a:rPr lang="it-IT"/>
                <a:t> </a:t>
              </a:r>
              <a:r>
                <a:rPr lang="it-IT" err="1"/>
                <a:t>peripheral</a:t>
              </a:r>
              <a:r>
                <a:rPr lang="it-IT"/>
                <a:t> </a:t>
              </a:r>
              <a:r>
                <a:rPr lang="it-IT" err="1"/>
                <a:t>noise</a:t>
              </a:r>
              <a:r>
                <a:rPr lang="it-IT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it-IT"/>
            </a:p>
            <a:p>
              <a:pPr marL="285750" indent="-285750">
                <a:buFont typeface="Wingdings" panose="05000000000000000000" pitchFamily="2" charset="2"/>
                <a:buChar char="Ø"/>
              </a:pPr>
              <a:r>
                <a:rPr lang="it-IT" b="1" err="1"/>
                <a:t>Optimal</a:t>
              </a:r>
              <a:r>
                <a:rPr lang="it-IT" b="1"/>
                <a:t> </a:t>
              </a:r>
              <a:r>
                <a:rPr lang="it-IT" b="1" err="1"/>
                <a:t>Convergence</a:t>
              </a:r>
              <a:r>
                <a:rPr lang="it-IT" b="1"/>
                <a:t>:</a:t>
              </a:r>
              <a:r>
                <a:rPr lang="it-IT"/>
                <a:t> Yields the </a:t>
              </a:r>
              <a:r>
                <a:rPr lang="it-IT" err="1"/>
                <a:t>most</a:t>
              </a:r>
              <a:r>
                <a:rPr lang="it-IT"/>
                <a:t> accurate </a:t>
              </a:r>
              <a:r>
                <a:rPr lang="it-IT" err="1"/>
                <a:t>parameter</a:t>
              </a:r>
              <a:r>
                <a:rPr lang="it-IT"/>
                <a:t> </a:t>
              </a:r>
              <a:r>
                <a:rPr lang="it-IT" err="1"/>
                <a:t>estimates</a:t>
              </a:r>
              <a:r>
                <a:rPr lang="it-IT"/>
                <a:t> and the </a:t>
              </a:r>
              <a:r>
                <a:rPr lang="it-IT" err="1"/>
                <a:t>highest</a:t>
              </a:r>
              <a:r>
                <a:rPr lang="it-IT"/>
                <a:t>-fidelity </a:t>
              </a:r>
              <a:r>
                <a:rPr lang="it-IT" err="1"/>
                <a:t>closed</a:t>
              </a:r>
              <a:r>
                <a:rPr lang="it-IT"/>
                <a:t>-loop </a:t>
              </a:r>
              <a:r>
                <a:rPr lang="it-IT" err="1"/>
                <a:t>response</a:t>
              </a:r>
              <a:r>
                <a:rPr lang="it-IT"/>
                <a:t>.</a:t>
              </a:r>
            </a:p>
            <a:p>
              <a:pPr marL="285750" indent="-285750">
                <a:buFont typeface="Wingdings" panose="05000000000000000000" pitchFamily="2" charset="2"/>
                <a:buChar char="Ø"/>
              </a:pPr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843241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79C09A7F-04E9-456B-5FD6-5D19268FC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09022-C08B-4F34-B9F0-43AC160DA04C}" type="slidenum">
              <a:rPr lang="it-IT" smtClean="0"/>
              <a:pPr/>
              <a:t>49</a:t>
            </a:fld>
            <a:r>
              <a:rPr lang="it-IT"/>
              <a:t>/49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7B8BE1-B5BE-51AE-BBD6-D86B6C1043F0}"/>
              </a:ext>
            </a:extLst>
          </p:cNvPr>
          <p:cNvSpPr txBox="1"/>
          <p:nvPr/>
        </p:nvSpPr>
        <p:spPr>
          <a:xfrm>
            <a:off x="2006154" y="2246115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C97660A5-6737-EF63-674B-7059756755A6}"/>
              </a:ext>
            </a:extLst>
          </p:cNvPr>
          <p:cNvSpPr txBox="1"/>
          <p:nvPr/>
        </p:nvSpPr>
        <p:spPr>
          <a:xfrm>
            <a:off x="2431248" y="2583115"/>
            <a:ext cx="503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H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D76C35D-F3DA-5CF6-43A6-D4645709E459}"/>
              </a:ext>
            </a:extLst>
          </p:cNvPr>
          <p:cNvSpPr txBox="1"/>
          <p:nvPr/>
        </p:nvSpPr>
        <p:spPr>
          <a:xfrm>
            <a:off x="2221961" y="1665805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A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AD271CB-1F2B-8BE5-55E2-F54CA60974C8}"/>
              </a:ext>
            </a:extLst>
          </p:cNvPr>
          <p:cNvSpPr txBox="1"/>
          <p:nvPr/>
        </p:nvSpPr>
        <p:spPr>
          <a:xfrm>
            <a:off x="2544333" y="4727019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E47EEF9-7A3B-7CE5-9467-D0AFA7498630}"/>
              </a:ext>
            </a:extLst>
          </p:cNvPr>
          <p:cNvSpPr txBox="1"/>
          <p:nvPr/>
        </p:nvSpPr>
        <p:spPr>
          <a:xfrm>
            <a:off x="1362348" y="1838306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K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D786301-3A6A-FEEE-5CDC-D939D955E46F}"/>
              </a:ext>
            </a:extLst>
          </p:cNvPr>
          <p:cNvSpPr txBox="1"/>
          <p:nvPr/>
        </p:nvSpPr>
        <p:spPr>
          <a:xfrm>
            <a:off x="1078107" y="2492460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Y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4520555-BB69-CC76-A35C-DD5139C82392}"/>
              </a:ext>
            </a:extLst>
          </p:cNvPr>
          <p:cNvSpPr txBox="1"/>
          <p:nvPr/>
        </p:nvSpPr>
        <p:spPr>
          <a:xfrm>
            <a:off x="1986116" y="2920181"/>
            <a:ext cx="524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O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285E20E-DE2D-B088-BAE5-6C2355DC1E7C}"/>
              </a:ext>
            </a:extLst>
          </p:cNvPr>
          <p:cNvSpPr txBox="1"/>
          <p:nvPr/>
        </p:nvSpPr>
        <p:spPr>
          <a:xfrm>
            <a:off x="1048188" y="3157991"/>
            <a:ext cx="513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U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0FC8BFB5-4981-5ED1-9F92-E62E76EAFAC1}"/>
              </a:ext>
            </a:extLst>
          </p:cNvPr>
          <p:cNvSpPr txBox="1"/>
          <p:nvPr/>
        </p:nvSpPr>
        <p:spPr>
          <a:xfrm>
            <a:off x="2654762" y="3323267"/>
            <a:ext cx="420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F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F02F802-1F11-B399-9D04-35C9DE5DD20F}"/>
              </a:ext>
            </a:extLst>
          </p:cNvPr>
          <p:cNvSpPr txBox="1"/>
          <p:nvPr/>
        </p:nvSpPr>
        <p:spPr>
          <a:xfrm>
            <a:off x="3300098" y="3684328"/>
            <a:ext cx="524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O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D3785323-8C07-0284-4EDE-1B0A17B00031}"/>
              </a:ext>
            </a:extLst>
          </p:cNvPr>
          <p:cNvSpPr txBox="1"/>
          <p:nvPr/>
        </p:nvSpPr>
        <p:spPr>
          <a:xfrm>
            <a:off x="1736600" y="3966250"/>
            <a:ext cx="463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R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C3E3ABE-1B1C-7E08-77E3-50DF9D2D5E09}"/>
              </a:ext>
            </a:extLst>
          </p:cNvPr>
          <p:cNvSpPr txBox="1"/>
          <p:nvPr/>
        </p:nvSpPr>
        <p:spPr>
          <a:xfrm>
            <a:off x="1597979" y="2702060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T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11C75B07-23EC-A17F-1C31-A97E328A24AB}"/>
              </a:ext>
            </a:extLst>
          </p:cNvPr>
          <p:cNvSpPr txBox="1"/>
          <p:nvPr/>
        </p:nvSpPr>
        <p:spPr>
          <a:xfrm>
            <a:off x="1787252" y="4596448"/>
            <a:ext cx="5036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H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E3FB448-3E1A-71F2-609D-7851549C3904}"/>
              </a:ext>
            </a:extLst>
          </p:cNvPr>
          <p:cNvSpPr txBox="1"/>
          <p:nvPr/>
        </p:nvSpPr>
        <p:spPr>
          <a:xfrm>
            <a:off x="3052916" y="3986981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E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D5B35220-C65D-D1C5-35EB-2596F2B81C1D}"/>
              </a:ext>
            </a:extLst>
          </p:cNvPr>
          <p:cNvSpPr txBox="1"/>
          <p:nvPr/>
        </p:nvSpPr>
        <p:spPr>
          <a:xfrm>
            <a:off x="3205316" y="4139381"/>
            <a:ext cx="4812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A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1A4DB5DA-C623-A651-0203-73A51DD282DF}"/>
              </a:ext>
            </a:extLst>
          </p:cNvPr>
          <p:cNvSpPr txBox="1"/>
          <p:nvPr/>
        </p:nvSpPr>
        <p:spPr>
          <a:xfrm>
            <a:off x="1112427" y="3529781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T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6AC8C538-4B0A-83CC-F3CB-9F3877EED40E}"/>
              </a:ext>
            </a:extLst>
          </p:cNvPr>
          <p:cNvSpPr txBox="1"/>
          <p:nvPr/>
        </p:nvSpPr>
        <p:spPr>
          <a:xfrm>
            <a:off x="3759869" y="2492460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DC7DA1B6-DF00-BBED-7D03-EA43D6894D98}"/>
              </a:ext>
            </a:extLst>
          </p:cNvPr>
          <p:cNvSpPr txBox="1"/>
          <p:nvPr/>
        </p:nvSpPr>
        <p:spPr>
          <a:xfrm>
            <a:off x="2748941" y="2119658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E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2D043CCB-774B-53E6-764D-DC286D970072}"/>
              </a:ext>
            </a:extLst>
          </p:cNvPr>
          <p:cNvSpPr txBox="1"/>
          <p:nvPr/>
        </p:nvSpPr>
        <p:spPr>
          <a:xfrm>
            <a:off x="2242826" y="3866847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N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82D868FA-13EC-13B4-965A-52C83E20AF88}"/>
              </a:ext>
            </a:extLst>
          </p:cNvPr>
          <p:cNvSpPr txBox="1"/>
          <p:nvPr/>
        </p:nvSpPr>
        <p:spPr>
          <a:xfrm>
            <a:off x="1769025" y="3469714"/>
            <a:ext cx="4347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T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46AF7A1-BEB9-C9A1-9A2D-5D35AE9725AC}"/>
              </a:ext>
            </a:extLst>
          </p:cNvPr>
          <p:cNvSpPr txBox="1"/>
          <p:nvPr/>
        </p:nvSpPr>
        <p:spPr>
          <a:xfrm>
            <a:off x="2190647" y="3392656"/>
            <a:ext cx="314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I</a:t>
            </a: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96EBBC20-9359-6755-EC88-AE0310B8DCF0}"/>
              </a:ext>
            </a:extLst>
          </p:cNvPr>
          <p:cNvSpPr txBox="1"/>
          <p:nvPr/>
        </p:nvSpPr>
        <p:spPr>
          <a:xfrm>
            <a:off x="2835457" y="2659315"/>
            <a:ext cx="5245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O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0F074F8E-7BD4-D647-8EBB-A008BAC711FE}"/>
              </a:ext>
            </a:extLst>
          </p:cNvPr>
          <p:cNvSpPr txBox="1"/>
          <p:nvPr/>
        </p:nvSpPr>
        <p:spPr>
          <a:xfrm>
            <a:off x="3172408" y="3072581"/>
            <a:ext cx="5164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4000"/>
              <a:t>N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961ECE5-50B7-9112-E8A1-75F07E3984F1}"/>
              </a:ext>
            </a:extLst>
          </p:cNvPr>
          <p:cNvSpPr/>
          <p:nvPr/>
        </p:nvSpPr>
        <p:spPr>
          <a:xfrm rot="19727245">
            <a:off x="4966967" y="2294988"/>
            <a:ext cx="1424650" cy="29021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6E1F5E79-25C7-61BA-BC24-AE0A86AB6812}"/>
              </a:ext>
            </a:extLst>
          </p:cNvPr>
          <p:cNvSpPr/>
          <p:nvPr/>
        </p:nvSpPr>
        <p:spPr>
          <a:xfrm rot="1734330">
            <a:off x="5287982" y="2239660"/>
            <a:ext cx="1483011" cy="3067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7AC60093-7BA9-558C-30CE-3CCC9C58A264}"/>
              </a:ext>
            </a:extLst>
          </p:cNvPr>
          <p:cNvSpPr/>
          <p:nvPr/>
        </p:nvSpPr>
        <p:spPr>
          <a:xfrm rot="5400000">
            <a:off x="5697314" y="2143321"/>
            <a:ext cx="396163" cy="3048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24BC2CAE-6E64-6D1A-EAA8-C415DBEA7BE8}"/>
              </a:ext>
            </a:extLst>
          </p:cNvPr>
          <p:cNvSpPr/>
          <p:nvPr/>
        </p:nvSpPr>
        <p:spPr>
          <a:xfrm rot="5400000">
            <a:off x="5697314" y="2542546"/>
            <a:ext cx="396163" cy="3048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4" name="Elemento grafico 53" descr="Scatola di imballaggio aperta con riempimento a tinta unita">
            <a:extLst>
              <a:ext uri="{FF2B5EF4-FFF2-40B4-BE49-F238E27FC236}">
                <a16:creationId xmlns:a16="http://schemas.microsoft.com/office/drawing/2014/main" id="{F3E6DA80-A5C3-AC8C-73A6-EC8DA91A2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71783" y="1928748"/>
            <a:ext cx="3635702" cy="363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3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0348 L -0.00039 -0.00348 C 0.00703 0.00254 0.01446 0.00949 0.02214 0.01504 C 0.02487 0.01689 0.02748 0.01921 0.03021 0.0206 C 0.03177 0.02152 0.03347 0.02176 0.03503 0.02222 C 0.04076 0.02893 0.03946 0.02801 0.05117 0.03217 C 0.05391 0.0331 0.05651 0.03426 0.05925 0.03495 C 0.06211 0.03564 0.06511 0.03588 0.0681 0.03634 C 0.06979 0.0368 0.07136 0.03726 0.07292 0.03796 C 0.08242 0.03657 0.08138 0.0368 0.08985 0.03495 C 0.09206 0.03449 0.09414 0.03379 0.09636 0.03356 C 0.10365 0.03287 0.11081 0.03264 0.1181 0.03217 C 0.12826 0.0331 0.13125 0.03009 0.13828 0.03634 C 0.13919 0.03726 0.13985 0.03865 0.14076 0.03935 C 0.14219 0.04051 0.14388 0.0412 0.14557 0.04213 L 0.14792 0.04351 L 0.15039 0.0449 C 0.15143 0.04652 0.15235 0.04814 0.15365 0.0493 C 0.15456 0.05023 0.15573 0.05023 0.15677 0.05069 C 0.16459 0.05439 0.1612 0.05347 0.17057 0.05648 C 0.1888 0.06226 0.18229 0.06041 0.20196 0.06226 L 0.26328 0.06064 C 0.26446 0.06064 0.26537 0.05972 0.26654 0.05926 C 0.27552 0.05671 0.27761 0.05648 0.28594 0.05509 C 0.28776 0.05416 0.28959 0.05301 0.29154 0.05208 C 0.29349 0.05115 0.29857 0.04976 0.30039 0.0493 C 0.30222 0.04884 0.30417 0.04791 0.30599 0.04791 C 0.31836 0.04699 0.33073 0.04699 0.3431 0.04652 C 0.34636 0.04444 0.34466 0.0449 0.34805 0.0449 " pathEditMode="relative" ptsTypes="AAAAAAAAAAAAAAAAAAAAAAAAAAAAA">
                                      <p:cBhvr>
                                        <p:cTn id="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34 -0.00255 L -0.00234 -0.00255 C 0.003 -0.00347 0.00834 -0.00393 0.01367 -0.00532 C 0.02774 -0.00949 0.04141 -0.01921 0.05573 -0.01968 L 0.09675 -0.02106 C 0.11498 -0.01898 0.12735 -0.0206 0.1444 -0.00532 C 0.14818 -0.00208 0.15209 0.0007 0.15573 0.00463 C 0.16042 0.00972 0.16446 0.01713 0.1694 0.02176 C 0.17448 0.02662 0.18021 0.02917 0.18555 0.03333 C 0.21354 0.05532 0.18828 0.03634 0.20404 0.05046 C 0.20742 0.05347 0.21081 0.05463 0.21459 0.05625 C 0.21719 0.05718 0.21992 0.0581 0.22266 0.05903 C 0.22617 0.05764 0.22969 0.05671 0.23308 0.05463 C 0.2349 0.0537 0.23633 0.05162 0.23802 0.05046 C 0.23893 0.04977 0.24011 0.04954 0.24115 0.04907 C 0.24336 0.04769 0.24544 0.04607 0.24766 0.04468 C 0.24844 0.04421 0.24922 0.04375 0.25 0.04329 C 0.253 0.04514 0.25612 0.04676 0.25899 0.04907 C 0.2625 0.05185 0.2694 0.05903 0.2694 0.05903 C 0.27018 0.06042 0.2711 0.06181 0.27188 0.06343 C 0.2724 0.06458 0.27266 0.06644 0.27344 0.06759 C 0.27474 0.06968 0.27748 0.07083 0.27904 0.07199 C 0.28021 0.07338 0.28112 0.075 0.28229 0.07616 C 0.28334 0.07732 0.28451 0.07824 0.28555 0.07917 C 0.2888 0.08148 0.29206 0.0838 0.29518 0.08634 C 0.29714 0.08773 0.29883 0.09005 0.30091 0.09051 L 0.31055 0.09352 C 0.32318 0.09282 0.33581 0.09375 0.34844 0.0919 C 0.35078 0.09167 0.36315 0.08588 0.36784 0.08333 C 0.37031 0.08195 0.37253 0.07986 0.37513 0.07917 C 0.37982 0.07755 0.38477 0.07755 0.38959 0.07616 C 0.39766 0.07384 0.39284 0.075 0.40417 0.07338 C 0.42292 0.07477 0.42344 0.0757 0.44128 0.07338 C 0.44531 0.07269 0.44531 0.0713 0.44922 0.06898 C 0.45039 0.06852 0.45143 0.06806 0.45248 0.06759 C 0.45391 0.0662 0.45508 0.06458 0.45651 0.06343 C 0.45729 0.06273 0.45821 0.06273 0.45899 0.06181 C 0.46146 0.05926 0.46459 0.05509 0.46706 0.05185 C 0.46901 0.04167 0.46615 0.05324 0.47031 0.04468 C 0.47097 0.04306 0.47123 0.04074 0.47188 0.03889 C 0.47253 0.03704 0.47357 0.03519 0.47435 0.03333 C 0.47487 0.03195 0.47526 0.03009 0.47591 0.02894 C 0.47656 0.02778 0.47748 0.02708 0.47839 0.02616 " pathEditMode="relative" ptsTypes="AAAAAAAAAAAAAAAAAAAAAAAAAAAAAAAAAAAAAAAAAAA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17 -0.00208 L -0.00117 -0.00208 C 0.02292 -0.00138 0.04466 -0.00625 0.06732 0.00649 C 0.07136 0.0088 0.07526 0.01204 0.07865 0.01644 C 0.08907 0.03079 0.10118 0.04283 0.10847 0.0625 C 0.13177 0.12547 0.1306 0.13033 0.16003 0.1801 C 0.1655 0.18912 0.17136 0.19769 0.17787 0.2044 C 0.18099 0.20764 0.18477 0.20741 0.18828 0.20857 C 0.1944 0.21088 0.20065 0.2125 0.2069 0.21436 C 0.2125 0.21829 0.21836 0.2213 0.22383 0.22593 C 0.23086 0.23195 0.23711 0.24931 0.24076 0.2588 C 0.25039 0.2845 0.24961 0.28334 0.25443 0.30463 C 0.25495 0.31135 0.25547 0.31806 0.25599 0.32477 C 0.25651 0.33056 0.25651 0.33658 0.25769 0.3419 C 0.26211 0.36412 0.26042 0.36274 0.2681 0.36783 C 0.26888 0.36829 0.26966 0.36899 0.27058 0.36922 C 0.27318 0.36991 0.27591 0.37014 0.27865 0.37061 C 0.28047 0.37107 0.28243 0.37153 0.28425 0.37223 L 0.28907 0.37061 C 0.29102 0.37014 0.29284 0.36991 0.29479 0.36922 C 0.29558 0.36899 0.29636 0.36829 0.29714 0.36783 C 0.29857 0.36713 0.29987 0.3669 0.30118 0.36644 C 0.30287 0.36505 0.30443 0.3632 0.30599 0.36204 C 0.31146 0.35834 0.31901 0.35463 0.32461 0.35209 C 0.32696 0.35093 0.32943 0.35024 0.3319 0.34908 C 0.33776 0.34954 0.34362 0.3507 0.34961 0.3507 C 0.35183 0.3507 0.35391 0.34977 0.35612 0.34908 C 0.36042 0.34792 0.36289 0.3463 0.36732 0.34352 C 0.36927 0.34213 0.3711 0.34051 0.37305 0.33912 C 0.37604 0.3338 0.37552 0.33426 0.37943 0.32917 C 0.38125 0.32662 0.38295 0.32362 0.38503 0.322 C 0.39037 0.31783 0.40313 0.31806 0.4069 0.3176 C 0.41302 0.31899 0.41927 0.31991 0.42539 0.322 C 0.45339 0.33102 0.4375 0.33195 0.45521 0.32917 C 0.45664 0.32662 0.45782 0.32408 0.45925 0.322 C 0.46302 0.31598 0.46706 0.31088 0.47058 0.30463 C 0.47253 0.30139 0.47422 0.29792 0.47618 0.29468 C 0.47878 0.29075 0.48164 0.28727 0.48425 0.28311 C 0.48907 0.2757 0.49219 0.26783 0.49636 0.2588 C 0.49714 0.2551 0.49766 0.25093 0.49883 0.24746 C 0.49961 0.24514 0.50104 0.24375 0.50209 0.24167 C 0.50313 0.23936 0.5043 0.23704 0.50521 0.2345 C 0.50612 0.23218 0.5069 0.22963 0.50769 0.22732 C 0.50821 0.22593 0.50886 0.22454 0.50925 0.22292 C 0.5099 0.22107 0.51029 0.21922 0.51094 0.21737 C 0.51172 0.21482 0.51276 0.21274 0.51328 0.21019 C 0.51459 0.2044 0.51498 0.19838 0.51654 0.19283 C 0.51706 0.19098 0.51771 0.18912 0.51823 0.18727 C 0.51927 0.18241 0.52071 0.17778 0.52136 0.17292 L 0.52227 0.16713 " pathEditMode="relative" ptsTypes="AAAAAAAAAAAAAAAAAAAAAAAAAAAAAAAAAAAAAAAAAAAAAAAAAA">
                                      <p:cBhvr>
                                        <p:cTn id="1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209 L 0.00013 -0.00209 C 0.02617 -0.0581 -0.01302 0.0243 0.0194 -0.03797 C 0.02617 -0.05093 0.03216 -0.06505 0.03958 -0.07662 C 0.04167 -0.0801 0.04349 -0.08426 0.04596 -0.08681 C 0.075 -0.11598 0.07396 -0.11528 0.09922 -0.12824 C 0.10143 -0.1294 0.10352 -0.1301 0.10573 -0.13102 C 0.11185 -0.1301 0.1181 -0.12963 0.12422 -0.12824 C 0.13398 -0.12639 0.14375 -0.12176 0.15247 -0.11389 C 0.15911 -0.10787 0.15195 -0.11482 0.15977 -0.10533 C 0.16185 -0.10278 0.16406 -0.1007 0.16615 -0.09815 C 0.16732 -0.09676 0.16823 -0.09514 0.1694 -0.09398 C 0.17096 -0.09213 0.17266 -0.09121 0.17422 -0.08959 C 0.18151 -0.08148 0.17539 -0.08565 0.18073 -0.08241 C 0.18177 -0.08102 0.18281 -0.07963 0.18385 -0.07824 C 0.18477 -0.07709 0.18555 -0.07639 0.18633 -0.07523 C 0.18971 -0.07014 0.18958 -0.06806 0.19362 -0.06389 C 0.19479 -0.0625 0.19635 -0.06204 0.19766 -0.06088 C 0.19922 -0.05973 0.20091 -0.05834 0.20247 -0.05672 C 0.20417 -0.05486 0.2056 -0.05255 0.20729 -0.05093 C 0.20885 -0.04931 0.21055 -0.04815 0.21211 -0.04653 C 0.21354 -0.04537 0.21471 -0.04352 0.21615 -0.04236 C 0.21771 -0.04098 0.2194 -0.04051 0.22096 -0.03935 C 0.2276 -0.03519 0.2224 -0.03727 0.22982 -0.03519 C 0.23659 -0.03658 0.24349 -0.03681 0.25 -0.03935 C 0.25612 -0.0419 0.25925 -0.04792 0.26458 -0.05232 C 0.26615 -0.05371 0.26784 -0.05394 0.2694 -0.0551 C 0.28802 -0.07176 0.26523 -0.05579 0.2888 -0.07385 C 0.31315 -0.0926 0.29661 -0.07176 0.33385 -0.10973 C 0.33581 -0.11158 0.33776 -0.1132 0.33958 -0.11528 C 0.34414 -0.12107 0.34414 -0.12477 0.35 -0.12685 C 0.35352 -0.12801 0.35703 -0.12778 0.36055 -0.12824 L 0.39766 -0.12685 C 0.40104 -0.12616 0.40391 -0.12153 0.40729 -0.11968 C 0.40911 -0.11875 0.41107 -0.11875 0.41289 -0.11829 C 0.41367 -0.11736 0.41445 -0.11598 0.41536 -0.11528 C 0.41875 -0.11297 0.42292 -0.11135 0.42656 -0.10973 C 0.42982 -0.10625 0.43333 -0.10371 0.43633 -0.09954 C 0.43737 -0.09815 0.43841 -0.09676 0.43958 -0.09537 C 0.44219 -0.09144 0.44466 -0.08727 0.44753 -0.0838 C 0.44844 -0.08287 0.44935 -0.08218 0.45 -0.08102 C 0.45169 -0.07824 0.45339 -0.0757 0.45482 -0.07246 C 0.46107 -0.0581 0.45794 -0.0625 0.46289 -0.05672 C 0.46693 -0.04607 0.46172 -0.05903 0.46693 -0.04815 C 0.46758 -0.04676 0.46862 -0.04375 0.46862 -0.04375 " pathEditMode="relative" ptsTypes="AAAAAAAAAAAAAAAAAAAAAAAAAAAAAAAAAAAAAAAAAAAAA">
                                      <p:cBhvr>
                                        <p:cTn id="12" dur="2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0.00138 L -0.00521 0.00138 C 0.00469 -0.00232 0.01471 -0.00533 0.02461 -0.00996 C 0.03333 -0.01436 0.05039 -0.0257 0.05039 -0.0257 C 0.06575 -0.02431 0.08112 -0.02454 0.09635 -0.02153 C 0.09831 -0.02107 0.09948 -0.0176 0.10117 -0.01574 C 0.15078 0.03564 0.08763 -0.03311 0.12539 0.01296 C 0.14245 0.03356 0.14466 0.03564 0.16484 0.04305 C 0.16836 0.04421 0.17187 0.04398 0.17539 0.04444 L 0.1987 0.04143 C 0.20781 0.04027 0.20234 0.03912 0.20924 0.04143 C 0.21354 0.05023 0.21836 0.0581 0.22213 0.06736 L 0.2375 0.10463 C 0.23958 0.10995 0.2414 0.11551 0.24388 0.12037 C 0.24987 0.13171 0.26172 0.15324 0.26653 0.1662 C 0.27422 0.18703 0.28099 0.20926 0.28828 0.23078 C 0.29323 0.2456 0.30742 0.29004 0.3125 0.29652 C 0.31914 0.30532 0.32552 0.31481 0.33268 0.32245 C 0.33476 0.32476 0.3375 0.32523 0.33984 0.32685 C 0.35234 0.32523 0.36237 0.32615 0.3737 0.31088 C 0.38021 0.30231 0.38112 0.30023 0.38906 0.29375 C 0.39948 0.28518 0.41028 0.27847 0.42057 0.26944 C 0.4237 0.26643 0.42721 0.26435 0.43021 0.26088 C 0.43581 0.25416 0.44088 0.24629 0.44635 0.23935 C 0.44896 0.23588 0.45182 0.23287 0.45443 0.22939 C 0.46901 0.20879 0.46146 0.22013 0.47213 0.20347 C 0.47617 0.19722 0.48047 0.19166 0.48424 0.18495 C 0.48607 0.18148 0.48776 0.17777 0.48984 0.17476 C 0.49101 0.17338 0.49245 0.17268 0.49388 0.17199 C 0.50039 0.16898 0.51042 0.16759 0.51653 0.1662 L 0.55677 0.16759 C 0.56146 0.16782 0.56601 0.16898 0.57057 0.16898 C 0.57995 0.16898 0.58932 0.16805 0.5987 0.16759 C 0.60612 0.16435 0.6 0.16736 0.61328 0.15902 C 0.61484 0.1581 0.6164 0.15671 0.6181 0.15625 L 0.62292 0.15486 C 0.6237 0.1537 0.62448 0.15277 0.62539 0.15185 C 0.62617 0.15115 0.62695 0.15092 0.62773 0.15046 C 0.62917 0.14953 0.63047 0.14861 0.63177 0.14768 C 0.63268 0.14606 0.6332 0.14421 0.63424 0.14328 C 0.63515 0.14236 0.63646 0.14259 0.6375 0.14189 C 0.63906 0.14074 0.63958 0.13935 0.64075 0.1375 " pathEditMode="relative" ptsTypes="AAAAAAAAAAAAAAAAAAAAAAAAAAAAAAAAAAAAAAAAAA">
                                      <p:cBhvr>
                                        <p:cTn id="14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7 L 0.00026 -0.0007 C 0.01315 -0.01088 0.02201 -0.01875 0.03568 -0.02524 C 0.04635 -0.0301 0.05221 -0.03149 0.06146 -0.0338 L 0.09049 -0.03241 C 0.09701 -0.03172 0.09375 -0.03102 0.09935 -0.02662 C 0.10391 -0.02292 0.1043 -0.02408 0.10911 -0.02223 C 0.1112 -0.02153 0.11341 -0.02037 0.11549 -0.01945 C 0.12057 -0.01459 0.12578 -0.00996 0.13086 -0.0051 C 0.13359 -0.00232 0.13607 0.00139 0.13893 0.00347 C 0.14219 0.00601 0.14544 0.0081 0.14857 0.01064 C 0.15078 0.0125 0.15273 0.01504 0.15508 0.01643 C 0.17201 0.02685 0.16927 0.02338 0.1849 0.02939 C 0.19049 0.03148 0.19609 0.03472 0.20182 0.03657 C 0.21927 0.04236 0.22031 0.03981 0.23815 0.04375 C 0.27422 0.05139 0.23646 0.0456 0.26393 0.04953 C 0.28411 0.04699 0.3043 0.04652 0.32435 0.04236 C 0.32604 0.04189 0.33438 0.03078 0.33568 0.02801 C 0.33776 0.02361 0.3388 0.01736 0.34128 0.01365 C 0.34375 0.00995 0.34714 0.00833 0.35013 0.00648 C 0.35911 0.00046 0.36458 -0.00162 0.37357 -0.0051 C 0.37487 -0.00556 0.3763 -0.00625 0.3776 -0.00649 C 0.3819 -0.00764 0.39049 -0.00926 0.39049 -0.00926 C 0.39479 -0.0088 0.39909 -0.00857 0.40339 -0.00787 C 0.41497 -0.00625 0.40456 -0.00695 0.41797 -0.00371 C 0.42109 -0.00278 0.42435 -0.00278 0.4276 -0.00209 C 0.44076 -0.00371 0.45404 -0.00394 0.46706 -0.00649 C 0.4694 -0.00695 0.47135 -0.00949 0.47357 -0.01088 C 0.47969 -0.01459 0.48581 -0.01922 0.49206 -0.02223 C 0.51133 -0.03172 0.50169 -0.02848 0.52109 -0.03241 C 0.5431 -0.04121 0.51888 -0.03195 0.54701 -0.04098 C 0.56628 -0.04723 0.55026 -0.04422 0.56875 -0.04653 C 0.59661 -0.04283 0.62474 -0.0419 0.6526 -0.03519 C 0.6569 -0.03403 0.66055 -0.02848 0.66393 -0.02361 C 0.68854 0.01226 0.66341 -0.02014 0.67201 -0.0051 C 0.67292 -0.00348 0.67422 -0.00232 0.67513 -0.0007 C 0.67708 0.00231 0.67891 0.00601 0.68086 0.00926 C 0.6819 0.01736 0.68086 0.01273 0.6832 0.01921 C 0.68411 0.02176 0.68464 0.0243 0.68568 0.02639 C 0.68685 0.0287 0.68841 0.03009 0.68971 0.03217 C 0.69049 0.03356 0.69128 0.03518 0.69206 0.03657 C 0.69414 0.03958 0.69453 0.03935 0.69701 0.04074 " pathEditMode="relative" ptsTypes="AAAAAAAAAAAAAAAAAAAAAAAAAAAAAAAAAAAAAAAAAA">
                                      <p:cBhvr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7 -0.00138 L 0.00027 -0.00138 C 0.00339 -0.01203 0.00586 -0.02337 0.0099 -0.03287 C 0.01433 -0.04375 0.02709 -0.06643 0.0349 -0.07453 C 0.03816 -0.07777 0.0418 -0.07962 0.04532 -0.08171 C 0.0504 -0.08472 0.05547 -0.08773 0.06068 -0.09027 C 0.0681 -0.09398 0.07591 -0.0956 0.08321 -0.10023 C 0.14519 -0.14027 0.08555 -0.1206 0.16472 -0.13472 C 0.17383 -0.13425 0.1836 -0.13912 0.19219 -0.13333 C 0.20053 -0.12754 0.20443 -0.10925 0.21224 -0.10185 C 0.22852 -0.08657 0.2211 -0.09143 0.23412 -0.08449 C 0.24545 -0.06851 0.23946 -0.07847 0.25261 -0.03287 C 0.25691 -0.01805 0.26042 -0.00254 0.2655 0.01158 C 0.26849 0.01968 0.27175 0.02732 0.27435 0.03588 C 0.27813 0.04746 0.28139 0.05973 0.2849 0.07176 C 0.28829 0.08288 0.28829 0.08936 0.29376 0.09468 C 0.29506 0.09584 0.29649 0.09653 0.29779 0.09746 C 0.29662 0.10579 0.29662 0.10163 0.29857 0.11181 C 0.29935 0.11575 0.29987 0.11968 0.30105 0.12315 C 0.30183 0.1257 0.303 0.12732 0.3043 0.12894 C 0.30977 0.13612 0.31524 0.14352 0.32123 0.14908 C 0.32579 0.15348 0.33021 0.15788 0.3349 0.16204 C 0.34193 0.16829 0.35001 0.17385 0.35743 0.17778 C 0.3612 0.17963 0.36498 0.18079 0.36876 0.18195 C 0.38451 0.18727 0.38724 0.18704 0.40508 0.19075 C 0.41797 0.18959 0.43099 0.19051 0.44376 0.18774 C 0.47097 0.18195 0.46654 0.17894 0.48646 0.16482 C 0.48972 0.1625 0.4931 0.16158 0.49623 0.15903 C 0.50118 0.15533 0.50573 0.14977 0.51068 0.1463 C 0.51915 0.14005 0.53321 0.13542 0.54128 0.12477 C 0.56967 0.08774 0.54714 0.10718 0.56472 0.09306 C 0.57318 0.07801 0.56745 0.0875 0.58165 0.06875 C 0.58386 0.06598 0.58568 0.06204 0.58816 0.06019 C 0.58998 0.0588 0.59193 0.05764 0.59376 0.05579 C 0.60092 0.04908 0.59688 0.0507 0.6043 0.04167 C 0.61706 0.0257 0.59909 0.05394 0.6155 0.02732 C 0.61667 0.02547 0.61771 0.02362 0.61876 0.02153 C 0.61993 0.01922 0.62071 0.01644 0.62201 0.01436 C 0.62318 0.0125 0.62474 0.01158 0.62605 0.00996 C 0.62683 0.00903 0.62774 0.00834 0.62839 0.00718 C 0.62969 0.0051 0.63047 0.00209 0.63165 -4.81481E-6 C 0.63256 -0.00162 0.63399 -0.00254 0.6349 -0.00439 C 0.63555 -0.00555 0.63594 -0.00717 0.63646 -0.00856 C 0.63751 -0.01111 0.63868 -0.01342 0.63972 -0.01574 C 0.64037 -0.01712 0.64141 -0.02013 0.64141 -0.02013 " pathEditMode="relative" ptsTypes="AAAAAAAAAAAAAAAAAAAAAAAAAAAAAAAAAAAAAAAAAAAAA">
                                      <p:cBhvr>
                                        <p:cTn id="18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0.00115 L -0.00143 0.00115 L 0.00742 -0.00162 C 0.01185 -0.00324 0.01146 -0.00324 0.01628 -0.00463 C 0.03451 -0.00926 0.02305 -0.00602 0.04362 -0.01019 C 0.04766 -0.01111 0.05169 -0.0125 0.05573 -0.0132 C 0.06081 -0.01389 0.06602 -0.01389 0.0711 -0.01459 C 0.1086 -0.01945 0.06914 -0.01621 0.11458 -0.01898 L 0.23802 -0.01736 C 0.24167 -0.01736 0.24492 -0.01412 0.24857 -0.0132 C 0.28112 -0.00486 0.27943 -0.00556 0.30261 -0.00301 C 0.30469 -0.00209 0.30677 -0.0007 0.30899 -0.00023 C 0.3125 0.00069 0.31602 0.00069 0.31953 0.00115 C 0.34688 0.00416 0.32422 0.00092 0.34453 0.00416 L 0.37995 -0.00023 C 0.38268 -0.0007 0.38542 -0.00047 0.38802 -0.00162 C 0.39115 -0.00301 0.39388 -0.00579 0.39688 -0.00741 C 0.40039 -0.00926 0.40391 -0.01042 0.40742 -0.01181 C 0.41458 -0.01435 0.42214 -0.01528 0.42917 -0.01898 C 0.44727 -0.02801 0.44414 -0.02732 0.46224 -0.03334 C 0.46576 -0.03426 0.46927 -0.03519 0.47279 -0.03611 C 0.47669 -0.03704 0.48086 -0.0375 0.48477 -0.03889 C 0.50274 -0.04514 0.49219 -0.04445 0.5082 -0.04769 C 0.54961 -0.05579 0.53919 -0.05417 0.57279 -0.05625 C 0.57865 -0.0581 0.58464 -0.05949 0.5905 -0.06204 C 0.59427 -0.06343 0.60391 -0.07223 0.60664 -0.07338 C 0.61159 -0.0757 0.6168 -0.07593 0.62188 -0.07778 C 0.62656 -0.0794 0.63099 -0.08218 0.63568 -0.08334 C 0.6405 -0.08473 0.64531 -0.08449 0.65013 -0.08496 L 0.67995 -0.08635 C 0.69193 -0.08588 0.71237 -0.08912 0.72682 -0.08195 C 0.72904 -0.08102 0.73112 -0.07917 0.7332 -0.07778 C 0.73399 -0.07709 0.7349 -0.07685 0.73568 -0.07639 C 0.73646 -0.07523 0.73724 -0.07408 0.73802 -0.07338 C 0.74531 -0.06783 0.73763 -0.07639 0.74375 -0.06922 C 0.74427 -0.06551 0.74518 -0.05787 0.7461 -0.05324 C 0.74636 -0.05232 0.74662 -0.05139 0.74701 -0.05047 " pathEditMode="relative" ptsTypes="AAAAAAAAAAAAAAAAAAAAAAAAAAAAAAAAAAAAA">
                                      <p:cBhvr>
                                        <p:cTn id="20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-1.11111E-6 L -0.00026 -1.11111E-6 C 0.01002 -0.02361 0.00312 -0.00926 0.02148 -0.04167 C 0.02604 -0.05 0.02617 -0.05092 0.03268 -0.05741 C 0.03502 -0.05972 0.0375 -0.06157 0.03997 -0.06319 C 0.04336 -0.06528 0.05247 -0.06805 0.05533 -0.06898 C 0.05963 -0.07014 0.06393 -0.07106 0.06823 -0.07176 C 0.07448 -0.07292 0.09127 -0.07407 0.09648 -0.07454 L 0.14401 -0.07176 C 0.14869 -0.0713 0.15312 -0.06967 0.15781 -0.06898 C 0.16575 -0.06736 0.17395 -0.06643 0.1819 -0.06458 C 0.25664 -0.04722 0.17265 -0.06412 0.22148 -0.05463 C 0.23112 -0.05555 0.24088 -0.05486 0.25052 -0.05741 C 0.25898 -0.05972 0.26718 -0.06505 0.27552 -0.06898 L 0.27877 -0.07037 C 0.28112 -0.07268 0.28346 -0.07569 0.28593 -0.07755 C 0.2875 -0.07847 0.28932 -0.07801 0.29088 -0.07893 C 0.29257 -0.07986 0.29401 -0.08194 0.2957 -0.08333 C 0.29908 -0.08588 0.30286 -0.08727 0.30612 -0.09028 C 0.31445 -0.09838 0.32226 -0.10741 0.33033 -0.1162 C 0.34948 -0.1368 0.32851 -0.11458 0.34895 -0.13912 C 0.3539 -0.14514 0.35924 -0.15023 0.36419 -0.15625 C 0.37604 -0.17083 0.3802 -0.17917 0.39244 -0.19074 C 0.40677 -0.20417 0.40768 -0.20116 0.42304 -0.21227 C 0.42851 -0.21597 0.43359 -0.22199 0.43919 -0.225 C 0.44921 -0.23055 0.4595 -0.23472 0.46992 -0.23796 C 0.47656 -0.24005 0.48333 -0.23981 0.48997 -0.24074 C 0.51093 -0.24421 0.47552 -0.24074 0.51901 -0.24375 C 0.51497 -0.24421 0.51093 -0.24583 0.50703 -0.24514 C 0.48606 -0.24097 0.49479 -0.2294 0.48606 -0.24514 C 0.48971 -0.24606 0.49349 -0.24768 0.49726 -0.24792 C 0.5 -0.24815 0.50273 -0.24722 0.50533 -0.24653 C 0.51432 -0.24467 0.50768 -0.24583 0.51497 -0.24375 C 0.51849 -0.24259 0.522 -0.2419 0.52552 -0.24074 C 0.53164 -0.23657 0.53138 -0.23634 0.53997 -0.23217 C 0.54244 -0.23102 0.54492 -0.23032 0.54726 -0.2294 C 0.56015 -0.22407 0.54687 -0.22893 0.56184 -0.22361 C 0.56289 -0.22268 0.56393 -0.22176 0.5651 -0.22083 C 0.56744 -0.21852 0.56979 -0.21574 0.57226 -0.21366 C 0.57356 -0.2125 0.575 -0.2118 0.5763 -0.21065 C 0.57877 -0.20856 0.57942 -0.20625 0.58203 -0.20347 C 0.58268 -0.20278 0.58359 -0.20255 0.58437 -0.20208 L 0.58919 -0.19653 C 0.59101 -0.19421 0.59323 -0.19167 0.59492 -0.18935 C 0.59596 -0.1875 0.59713 -0.18565 0.59804 -0.18356 C 0.59895 -0.18171 0.59948 -0.1794 0.60052 -0.17778 C 0.60247 -0.175 0.60481 -0.17292 0.60703 -0.1706 C 0.60833 -0.16736 0.6095 -0.16389 0.61106 -0.16065 C 0.61276 -0.15671 0.61497 -0.15324 0.61666 -0.14907 C 0.62343 -0.13148 0.61627 -0.14236 0.62304 -0.13333 C 0.62448 -0.12963 0.62552 -0.12546 0.62708 -0.12199 C 0.62929 -0.11713 0.63203 -0.11342 0.63437 -0.10903 L 0.63763 -0.10324 C 0.63919 -0.10046 0.64114 -0.09792 0.64244 -0.09467 C 0.64323 -0.09282 0.64414 -0.09097 0.64492 -0.08889 C 0.64596 -0.08611 0.64804 -0.08032 0.64804 -0.08032 " pathEditMode="relative" ptsTypes="AAAAAAAAAAAAAAAAAAAAAAAAAAAAAAAAAAAAAAAAAAAAAAAAAAAAAAAA">
                                      <p:cBhvr>
                                        <p:cTn id="22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023 L -0.00104 0.00023 C 0.0056 0.00602 0.01198 0.01319 0.01901 0.01759 C 0.04179 0.03148 0.05169 0.03866 0.07708 0.04768 C 0.0888 0.05162 0.10078 0.05347 0.11263 0.05625 C 0.12174 0.05833 0.13997 0.06204 0.13997 0.06204 C 0.15026 0.06134 0.16041 0.06157 0.1707 0.06042 C 0.1737 0.06018 0.17656 0.05856 0.17955 0.05764 C 0.20325 0.05092 0.17955 0.05903 0.19974 0.05046 C 0.20625 0.04768 0.21341 0.04583 0.21992 0.0419 C 0.22239 0.04028 0.22487 0.03866 0.22708 0.03611 C 0.24179 0.01921 0.23476 0.02454 0.2457 0.00602 C 0.25039 -0.00208 0.25599 -0.0081 0.26015 -0.0169 C 0.26888 -0.03495 0.28359 -0.06482 0.28919 -0.08148 C 0.29166 -0.08866 0.29375 -0.09607 0.29648 -0.10301 C 0.30286 -0.11875 0.32526 -0.1581 0.32877 -0.16458 C 0.33099 -0.16875 0.34232 -0.19097 0.34648 -0.19769 C 0.34896 -0.20139 0.35117 -0.20556 0.35377 -0.20903 C 0.3638 -0.22199 0.37396 -0.23449 0.38437 -0.2463 C 0.39114 -0.25394 0.397 -0.26482 0.40455 -0.26921 C 0.40859 -0.27176 0.41263 -0.27408 0.41666 -0.27639 C 0.42526 -0.28125 0.42916 -0.28264 0.43763 -0.28634 L 0.51015 -0.28495 C 0.51497 -0.28472 0.52734 -0.28033 0.53203 -0.27778 C 0.54114 -0.27292 0.55026 -0.26736 0.55937 -0.26204 C 0.57317 -0.25417 0.5681 -0.25764 0.57877 -0.24908 C 0.58138 -0.24352 0.58255 -0.24144 0.58437 -0.23495 C 0.58763 -0.22338 0.58424 -0.23171 0.58841 -0.21898 C 0.59101 -0.21134 0.59362 -0.20972 0.59726 -0.20185 C 0.59909 -0.19815 0.60208 -0.1919 0.60377 -0.1875 C 0.60716 -0.1787 0.60599 -0.17986 0.60937 -0.16898 C 0.61094 -0.16412 0.61432 -0.15463 0.61432 -0.15463 C 0.61458 -0.15255 0.61445 -0.15046 0.6151 -0.14884 C 0.61562 -0.14745 0.61719 -0.14745 0.61745 -0.14607 C 0.61836 -0.14213 0.61823 -0.13611 0.61823 -0.13171 " pathEditMode="relative" ptsTypes="AAAAAAAAAAAAAAAAAAAAAAAAAAAAAAAAAAA">
                                      <p:cBhvr>
                                        <p:cTn id="24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82 -0.00208 L -0.00182 -0.00208 C 0.00156 -0.00116 0.00508 0.00093 0.00859 0.00093 C 0.01081 0.00093 0.01289 -0.00116 0.0151 -0.00208 C 0.01797 -0.00324 0.02096 -0.0044 0.02396 -0.00486 C 0.02851 -0.00579 0.03307 -0.00579 0.03763 -0.00625 C 0.04297 -0.00717 0.04844 -0.00833 0.05377 -0.00926 C 0.05677 -0.01065 0.05976 -0.0118 0.06263 -0.01342 C 0.06484 -0.01481 0.06693 -0.01667 0.06914 -0.01782 C 0.07278 -0.01967 0.07669 -0.0206 0.08034 -0.02222 C 0.08555 -0.0243 0.09062 -0.02708 0.0957 -0.0294 C 0.10898 -0.03495 0.12226 -0.03889 0.13515 -0.04653 C 0.1375 -0.04792 0.13945 -0.05069 0.14167 -0.05231 C 0.14935 -0.05741 0.15716 -0.06273 0.1651 -0.06667 C 0.18633 -0.07685 0.15989 -0.06366 0.18515 -0.07801 C 0.18815 -0.07963 0.19127 -0.08055 0.19414 -0.08241 C 0.20443 -0.08912 0.21458 -0.09653 0.22474 -0.10393 C 0.22877 -0.10671 0.23281 -0.10926 0.23685 -0.1125 C 0.25013 -0.12292 0.23815 -0.1125 0.25221 -0.12824 C 0.26107 -0.13819 0.25716 -0.13171 0.26432 -0.14097 C 0.27383 -0.15347 0.2681 -0.14861 0.27552 -0.15393 C 0.28333 -0.16782 0.27252 -0.15046 0.28685 -0.16412 C 0.29271 -0.16967 0.28958 -0.17315 0.29414 -0.18125 C 0.29518 -0.1831 0.3013 -0.18727 0.30299 -0.18842 C 0.30768 -0.19676 0.30299 -0.18958 0.31185 -0.19699 C 0.3138 -0.19861 0.31562 -0.20092 0.31745 -0.20278 C 0.31901 -0.20417 0.3207 -0.20579 0.32226 -0.20694 C 0.3289 -0.2125 0.33971 -0.21921 0.34492 -0.22268 C 0.35755 -0.23125 0.34479 -0.22315 0.36185 -0.23148 C 0.36732 -0.23403 0.37252 -0.23727 0.37799 -0.24005 C 0.38138 -0.24167 0.38502 -0.24259 0.38841 -0.24421 C 0.40065 -0.25069 0.40364 -0.2544 0.41432 -0.25856 C 0.42109 -0.26134 0.4237 -0.26157 0.43034 -0.26296 C 0.44544 -0.26875 0.45703 -0.27384 0.47318 -0.27731 L 0.50052 -0.28287 L 0.59974 -0.28148 C 0.60117 -0.28148 0.60247 -0.28055 0.60377 -0.28009 C 0.60807 -0.27893 0.61237 -0.27801 0.61667 -0.27731 C 0.61914 -0.27685 0.62161 -0.27639 0.62396 -0.27592 C 0.64193 -0.27083 0.62122 -0.27546 0.64167 -0.26875 C 0.65065 -0.26574 0.66015 -0.26505 0.66914 -0.26296 C 0.68073 -0.26018 0.67344 -0.26065 0.68359 -0.25717 C 0.68581 -0.25648 0.68789 -0.25625 0.6901 -0.25579 C 0.69362 -0.25393 0.69726 -0.25255 0.70052 -0.25 C 0.70664 -0.24537 0.71224 -0.23866 0.71836 -0.23426 C 0.71966 -0.23333 0.72109 -0.23264 0.72239 -0.23148 C 0.72747 -0.22685 0.72552 -0.22731 0.73047 -0.2213 C 0.73164 -0.21967 0.73307 -0.21852 0.7345 -0.21713 C 0.73555 -0.21597 0.73659 -0.21528 0.73763 -0.21412 C 0.74036 -0.21134 0.74297 -0.2081 0.7457 -0.20555 C 0.74739 -0.20417 0.74909 -0.20301 0.75052 -0.20139 C 0.75403 -0.19745 0.75338 -0.19722 0.75625 -0.19259 C 0.75781 -0.19028 0.75963 -0.18819 0.76107 -0.18542 C 0.76172 -0.18426 0.76185 -0.18217 0.76263 -0.18125 C 0.76354 -0.18009 0.76484 -0.18032 0.76588 -0.17986 C 0.77018 -0.17731 0.76914 -0.17824 0.77161 -0.17407 " pathEditMode="relative" ptsTypes="AAAAAAAAAAAAAAAAAAAAAAAAAAAAAAAAAAAAAAAAAAAAAAAAAAAAAAAA">
                                      <p:cBhvr>
                                        <p:cTn id="2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25E-7 -0.00718 L -6.25E-7 -0.00718 L 0.02813 -0.02315 C 0.03425 -0.02639 0.03997 -0.02894 0.04596 -0.0331 C 0.05182 -0.03704 0.05768 -0.0419 0.06367 -0.04607 C 0.07031 -0.05046 0.07708 -0.0544 0.08385 -0.0588 C 0.08841 -0.06204 0.09284 -0.06597 0.09753 -0.06898 C 0.10872 -0.07593 0.12031 -0.08148 0.13138 -0.08889 C 0.13307 -0.09005 0.16927 -0.11875 0.17904 -0.12338 C 0.18477 -0.12616 0.19076 -0.12732 0.19675 -0.12917 C 0.20938 -0.13264 0.21524 -0.1338 0.22578 -0.13611 C 0.24076 -0.13519 0.25586 -0.13495 0.27096 -0.13333 C 0.27422 -0.1331 0.28815 -0.12546 0.28945 -0.12477 C 0.30026 -0.11991 0.29766 -0.12384 0.31042 -0.11482 C 0.31484 -0.11158 0.31875 -0.10625 0.32331 -0.10324 C 0.3263 -0.10139 0.32943 -0.1 0.33216 -0.09745 C 0.33581 -0.09421 0.33893 -0.08935 0.34271 -0.08611 C 0.34675 -0.08264 0.35977 -0.07685 0.36367 -0.07454 C 0.36719 -0.07245 0.37044 -0.06875 0.37409 -0.06736 C 0.37552 -0.0669 0.37682 -0.06667 0.37813 -0.06597 C 0.38359 -0.0632 0.3819 -0.06227 0.38789 -0.05741 C 0.38945 -0.05625 0.39115 -0.05579 0.39271 -0.05463 C 0.39414 -0.05347 0.39531 -0.05162 0.39675 -0.05023 C 0.39805 -0.04908 0.39948 -0.04838 0.40078 -0.04745 C 0.40182 -0.04653 0.40287 -0.04514 0.40404 -0.04445 C 0.40534 -0.04375 0.40664 -0.04352 0.40807 -0.04306 C 0.40912 -0.04167 0.41003 -0.04005 0.4112 -0.03889 C 0.41458 -0.03542 0.41641 -0.03565 0.42005 -0.03449 C 0.425 -0.03102 0.43021 -0.02708 0.43542 -0.02593 C 0.43763 -0.02546 0.43971 -0.02523 0.44193 -0.02454 C 0.45495 -0.02037 0.44388 -0.02269 0.45404 -0.02014 C 0.45964 -0.01875 0.46055 -0.01898 0.46602 -0.01736 C 0.47083 -0.01597 0.47018 -0.01528 0.47578 -0.01435 C 0.48008 -0.01389 0.48438 -0.01366 0.48867 -0.01296 C 0.49193 -0.0125 0.49505 -0.01204 0.49831 -0.01158 C 0.51042 -0.0132 0.50586 -0.01296 0.51211 -0.01296 " pathEditMode="relative" ptsTypes="AAAAAAAAAAAAAAAAAAAAAAAAAAAAAAAAAAAA">
                                      <p:cBhvr>
                                        <p:cTn id="28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-0.00208 L -0.00104 -0.00208 C 0.00403 -0.00926 0.00898 -0.0169 0.01419 -0.02361 C 0.0237 -0.03588 0.04518 -0.05046 0.0513 -0.05532 C 0.0569 -0.05972 0.06224 -0.06528 0.06823 -0.06806 C 0.09453 -0.08056 0.07239 -0.07083 0.10052 -0.08102 C 0.10403 -0.08241 0.10742 -0.08403 0.11094 -0.08542 C 0.11575 -0.08704 0.1207 -0.08773 0.12552 -0.08958 C 0.12903 -0.09097 0.13242 -0.09352 0.13594 -0.09537 C 0.13919 -0.09699 0.14245 -0.09792 0.1457 -0.09977 C 0.14791 -0.10093 0.14987 -0.10278 0.15208 -0.10394 C 0.15586 -0.10579 0.15963 -0.10671 0.16341 -0.10833 C 0.16614 -0.10949 0.16875 -0.11134 0.17148 -0.1125 C 0.18086 -0.11713 0.18711 -0.11898 0.1957 -0.12546 C 0.20846 -0.13542 0.21575 -0.1463 0.22877 -0.16134 C 0.23164 -0.16458 0.23515 -0.1669 0.23763 -0.1713 C 0.23971 -0.17523 0.24166 -0.1794 0.24401 -0.18287 C 0.2582 -0.20394 0.24817 -0.1838 0.26341 -0.20995 C 0.27278 -0.22616 0.29583 -0.27431 0.29974 -0.28449 C 0.30664 -0.30324 0.31354 -0.32199 0.3207 -0.34051 C 0.32591 -0.35417 0.3345 -0.37523 0.34075 -0.38634 C 0.3526 -0.40718 0.37044 -0.42153 0.38515 -0.43079 C 0.39179 -0.43495 0.39844 -0.43982 0.40534 -0.44213 C 0.40742 -0.44282 0.40963 -0.44306 0.41172 -0.44352 C 0.42643 -0.44074 0.43112 -0.44167 0.44323 -0.43495 C 0.44622 -0.43333 0.44935 -0.43195 0.45208 -0.4294 C 0.4582 -0.42338 0.46484 -0.41806 0.46979 -0.40926 C 0.47174 -0.40579 0.47383 -0.40278 0.47552 -0.39931 C 0.47916 -0.39144 0.48255 -0.3831 0.48594 -0.37477 C 0.48737 -0.37153 0.48854 -0.36806 0.48997 -0.36482 C 0.49661 -0.35 0.4901 -0.36505 0.49557 -0.35046 C 0.49687 -0.34699 0.49844 -0.34398 0.49961 -0.34051 C 0.5013 -0.33588 0.50495 -0.32361 0.50612 -0.31898 C 0.50729 -0.31389 0.5082 -0.30833 0.50937 -0.30324 C 0.51002 -0.29977 0.51094 -0.29653 0.51172 -0.29306 C 0.51797 -0.26528 0.51041 -0.29699 0.51653 -0.27176 C 0.51862 -0.2507 0.51653 -0.25949 0.52148 -0.24445 C 0.52344 -0.22708 0.52031 -0.24815 0.52552 -0.23009 C 0.52604 -0.22801 0.52591 -0.22523 0.5263 -0.22292 C 0.5276 -0.21435 0.52721 -0.21597 0.52955 -0.20995 C 0.53008 -0.20625 0.53047 -0.20232 0.53112 -0.19861 C 0.53138 -0.19699 0.53177 -0.19583 0.5319 -0.19421 C 0.53385 -0.17917 0.53177 -0.19097 0.53359 -0.18125 C 0.53268 -0.17361 0.53372 -0.17593 0.5319 -0.17269 " pathEditMode="relative" ptsTypes="AAAAAAAAAAAAAAAAAAAAAAAAAAAAAAAAAAAAAAAAAAAA">
                                      <p:cBhvr>
                                        <p:cTn id="3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26 -0.00069 L 0.00026 -0.00069 C 0.00039 -0.00116 0.00742 -0.01157 0.0099 -0.01227 C 0.02474 -0.01667 0.04974 -0.01991 0.06628 -0.0294 C 0.07083 -0.03194 0.07526 -0.03518 0.0793 -0.03958 C 0.08789 -0.04907 0.09544 -0.06181 0.1043 -0.07106 C 0.10937 -0.07616 0.11445 -0.08171 0.11953 -0.08681 C 0.12279 -0.08981 0.12604 -0.09213 0.1293 -0.09537 C 0.13581 -0.10185 0.14219 -0.1088 0.14857 -0.11528 C 0.15247 -0.11944 0.15846 -0.12546 0.16237 -0.12824 C 0.16367 -0.12917 0.16497 -0.13032 0.16641 -0.13102 C 0.16745 -0.13171 0.16849 -0.13194 0.16953 -0.13264 C 0.18659 -0.14167 0.15963 -0.12824 0.18086 -0.13819 C 0.18646 -0.14097 0.19206 -0.14444 0.19779 -0.14537 C 0.2013 -0.14606 0.20482 -0.1463 0.20833 -0.14676 C 0.21641 -0.14491 0.22448 -0.14352 0.23242 -0.1412 C 0.23737 -0.13981 0.24219 -0.13727 0.247 -0.13542 C 0.25 -0.13426 0.25299 -0.1338 0.25586 -0.13264 C 0.26471 -0.12893 0.27344 -0.12384 0.28255 -0.12106 L 0.29219 -0.11829 C 0.29492 -0.11736 0.29753 -0.1162 0.30026 -0.11528 C 0.30286 -0.11458 0.3056 -0.11435 0.30833 -0.11389 C 0.3112 -0.1125 0.31419 -0.11088 0.31719 -0.10972 C 0.32448 -0.10671 0.32617 -0.10671 0.33333 -0.10532 C 0.33542 -0.10486 0.33763 -0.10417 0.33971 -0.10393 C 0.34831 -0.10324 0.3569 -0.10301 0.36562 -0.10255 C 0.38034 -0.10139 0.38099 -0.10093 0.39622 -0.09815 C 0.39896 -0.09722 0.40156 -0.09606 0.4043 -0.09537 C 0.41068 -0.09352 0.4224 -0.09306 0.4276 -0.09236 C 0.43776 -0.08796 0.42526 -0.09375 0.43333 -0.08958 C 0.43437 -0.08912 0.43542 -0.08819 0.43659 -0.08819 C 0.44193 -0.08773 0.44726 -0.08819 0.45273 -0.08819 " pathEditMode="relative" ptsTypes="AAAAAAAAAAAAAAAAAAAAAAAAAAAAAAAA">
                                      <p:cBhvr>
                                        <p:cTn id="3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6 -2.59259E-6 L 3.95833E-6 0.00023 C 0.01692 -0.03565 0.02656 -0.06319 0.05078 -0.08472 C 0.07578 -0.10694 0.09036 -0.10903 0.11523 -0.1162 C 0.11627 -0.11875 0.11692 -0.12222 0.11849 -0.12338 C 0.12265 -0.12662 0.13541 -0.13009 0.14101 -0.13217 C 0.14349 -0.13287 0.14583 -0.13426 0.1483 -0.13495 C 0.15078 -0.13565 0.15976 -0.13727 0.16198 -0.13773 C 0.16575 -0.13865 0.16953 -0.14004 0.1733 -0.14074 C 0.18424 -0.14282 0.17812 -0.1419 0.19179 -0.14352 C 0.2306 -0.14213 0.23307 -0.14004 0.27083 -0.14653 C 0.27252 -0.14676 0.27408 -0.14861 0.27565 -0.1493 C 0.27812 -0.15046 0.28046 -0.15115 0.28294 -0.15208 C 0.28619 -0.15509 0.28919 -0.15879 0.29257 -0.16088 C 0.3052 -0.16782 0.32669 -0.17569 0.34023 -0.1794 C 0.36445 -0.18611 0.35325 -0.18148 0.37487 -0.18657 C 0.37786 -0.18727 0.38073 -0.18842 0.38372 -0.18935 C 0.39935 -0.18889 0.41497 -0.18935 0.43046 -0.18796 C 0.43294 -0.18773 0.43541 -0.1868 0.43776 -0.18518 C 0.43932 -0.18403 0.44036 -0.18125 0.44179 -0.1794 C 0.44388 -0.17685 0.44596 -0.17453 0.44817 -0.17222 C 0.45026 -0.17014 0.4526 -0.16875 0.45468 -0.16643 C 0.45612 -0.16481 0.45716 -0.16227 0.45872 -0.16088 C 0.472 -0.14699 0.45846 -0.16435 0.46757 -0.15208 C 0.46783 -0.15069 0.4681 -0.1493 0.46836 -0.14791 C 0.46888 -0.14583 0.46966 -0.14421 0.47005 -0.14213 C 0.47057 -0.13842 0.47044 -0.13449 0.47083 -0.13055 C 0.472 -0.11504 0.47161 -0.1287 0.47161 -0.10764 " pathEditMode="relative" rAng="0" ptsTypes="AAAAAAAAAAAAAAAAAAAAAAAAAAAA">
                                      <p:cBhvr>
                                        <p:cTn id="3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581" y="-9468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139 L -0.00104 0.00139 C 0.00638 -0.00764 0.01055 -0.0118 0.01745 -0.02453 C 0.02774 -0.04351 0.03555 -0.06689 0.04727 -0.08333 C 0.05586 -0.09514 0.06485 -0.10625 0.07305 -0.11898 C 0.08152 -0.13217 0.08842 -0.14861 0.09727 -0.16064 C 0.10274 -0.16805 0.1323 -0.21088 0.14571 -0.22361 C 0.15248 -0.23009 0.15951 -0.23588 0.16667 -0.24097 C 0.17214 -0.2449 0.17774 -0.24861 0.1836 -0.25092 C 0.2073 -0.26088 0.20925 -0.25949 0.23112 -0.26088 C 0.25209 -0.25995 0.27318 -0.26018 0.29402 -0.2581 C 0.29636 -0.25787 0.29844 -0.25532 0.30053 -0.25393 C 0.3056 -0.25023 0.30599 -0.25 0.31016 -0.24514 C 0.31185 -0.24328 0.31329 -0.2412 0.31498 -0.23958 C 0.32136 -0.23356 0.32006 -0.2375 0.32553 -0.22939 C 0.33138 -0.22083 0.32969 -0.2206 0.33516 -0.21088 C 0.33803 -0.20578 0.34154 -0.20185 0.34402 -0.19652 C 0.3461 -0.19213 0.34714 -0.1868 0.34896 -0.18217 C 0.35144 -0.17523 0.35443 -0.16898 0.35704 -0.16203 C 0.36277 -0.14699 0.36706 -0.12986 0.37396 -0.1162 C 0.37631 -0.11134 0.37917 -0.10717 0.38112 -0.10185 C 0.38633 -0.08842 0.39089 -0.0743 0.39571 -0.06041 C 0.39974 -0.04838 0.40261 -0.03495 0.40782 -0.02453 C 0.41159 -0.01689 0.41511 -0.00879 0.41902 -0.00162 C 0.42566 0.01065 0.43256 0.02246 0.4392 0.03426 C 0.45079 0.05486 0.4461 0.04699 0.45704 0.06436 C 0.46498 0.07709 0.4724 0.08959 0.48282 0.09746 C 0.48607 0.09977 0.48933 0.10209 0.49245 0.10463 C 0.49597 0.10741 0.49935 0.11065 0.503 0.1132 C 0.50534 0.11482 0.50782 0.11598 0.51016 0.11736 C 0.51237 0.11875 0.51446 0.12061 0.51667 0.12176 C 0.52032 0.12361 0.52422 0.12454 0.528 0.12616 L 0.55938 0.12454 C 0.56446 0.12361 0.56915 0.11922 0.57396 0.11598 C 0.59349 0.10255 0.57787 0.11204 0.58842 0.10741 C 0.58933 0.10695 0.59011 0.10649 0.59089 0.10602 C 0.59193 0.1051 0.59297 0.10371 0.59415 0.10301 C 0.59597 0.10232 0.59779 0.10209 0.59974 0.10162 C 0.60534 0.09514 0.59831 0.10301 0.60612 0.09584 C 0.61172 0.09098 0.60508 0.09468 0.61185 0.09167 C 0.61263 0.09028 0.61329 0.08843 0.6142 0.08727 C 0.62553 0.07593 0.61029 0.09537 0.61993 0.08311 C 0.62006 0.08287 0.62917 0.07084 0.63034 0.06875 C 0.63347 0.0632 0.63191 0.06551 0.63516 0.06158 C 0.63881 0.05186 0.63412 0.06343 0.64089 0.05139 C 0.64232 0.04908 0.6431 0.04422 0.64415 0.04144 C 0.64506 0.03843 0.64623 0.03565 0.64727 0.03287 L 0.65222 0.01991 L 0.65534 0.01135 C 0.65691 0.00047 0.65573 0.00741 0.66016 -0.00879 C 0.66224 -0.01597 0.6612 -0.01273 0.66342 -0.01875 C 0.66446 -0.02384 0.6642 -0.02152 0.6642 -0.02592 " pathEditMode="relative" ptsTypes="AAAAAAAAAAAAAAAAAAAAAAAAAAAAAAAAAAAAAAAAAAAAAAAAAAAA">
                                      <p:cBhvr>
                                        <p:cTn id="3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-0.02291 L -0.00039 -0.02291 C 0.00325 -0.02824 0.00703 -0.03356 0.01081 -0.03866 C 0.01237 -0.04074 0.0138 -0.04329 0.01562 -0.04444 C 0.01875 -0.04629 0.02213 -0.04583 0.02539 -0.04722 C 0.05195 -0.05833 0.02734 -0.05231 0.05755 -0.05717 C 0.06758 -0.05671 0.07747 -0.05717 0.08737 -0.05579 C 0.10443 -0.0537 0.13372 -0.04722 0.15351 -0.04305 C 0.15833 -0.04004 0.16315 -0.0368 0.1681 -0.03426 C 0.1914 -0.02291 0.21406 -0.01366 0.23828 -0.00856 C 0.25299 -0.00555 0.26784 -0.00486 0.28255 -0.00278 C 0.30364 0.00023 0.29596 0.0007 0.32122 0.00579 C 0.32461 0.00648 0.36198 0.01158 0.36406 0.01158 L 0.5487 0.01296 C 0.55755 0.01389 0.5664 0.01459 0.57526 0.01597 C 0.5914 0.01829 0.58125 0.01829 0.59466 0.02153 C 0.59752 0.02246 0.60052 0.02246 0.60351 0.02292 C 0.60482 0.02454 0.60612 0.02616 0.60755 0.02732 C 0.60911 0.02847 0.61094 0.02847 0.61237 0.03009 C 0.61393 0.03195 0.61497 0.03519 0.6164 0.03727 C 0.61706 0.03843 0.61797 0.03935 0.61875 0.04028 C 0.61992 0.04167 0.62083 0.04329 0.622 0.04445 C 0.62278 0.04537 0.6237 0.04514 0.62448 0.04607 C 0.6319 0.05347 0.62669 0.04954 0.63333 0.05741 C 0.63437 0.05857 0.63555 0.05926 0.63659 0.06042 C 0.63763 0.06158 0.6388 0.06296 0.63971 0.06459 C 0.64193 0.06829 0.64349 0.07431 0.64466 0.07894 C 0.64492 0.08033 0.64531 0.08171 0.64544 0.08334 C 0.64557 0.0875 0.64544 0.0919 0.64544 0.0963 " pathEditMode="relative" ptsTypes="AAAAAAAAAAAAAAAAAAAAAAAAAAAAA">
                                      <p:cBhvr>
                                        <p:cTn id="3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17 -0.00371 L 0.00117 -0.00371 C 0.02682 0.05162 0.02917 0.06273 0.06237 0.1081 C 0.13503 0.20694 0.04453 0.06574 0.11562 0.17546 C 0.15781 0.24051 0.09818 0.16157 0.17122 0.25139 C 0.17331 0.2537 0.1819 0.26481 0.18333 0.26713 C 0.18867 0.27546 0.18919 0.27824 0.19544 0.28148 C 0.2 0.28379 0.20456 0.28634 0.20911 0.28727 C 0.21745 0.28866 0.22578 0.28796 0.23411 0.28866 C 0.23854 0.28889 0.24271 0.28958 0.24713 0.29004 C 0.33346 0.29838 0.2974 0.29329 0.34219 0.30023 C 0.34088 0.29907 0.33958 0.29838 0.33815 0.29722 C 0.33711 0.29629 0.33542 0.29629 0.33503 0.29444 C 0.33476 0.29305 0.33659 0.29352 0.33737 0.29305 L 0.3543 0.29583 C 0.35599 0.29606 0.35755 0.29722 0.35911 0.29722 C 0.38255 0.29722 0.40599 0.29629 0.4293 0.29583 C 0.4375 0.29491 0.45391 0.29491 0.46406 0.29004 C 0.46523 0.28958 0.46615 0.28773 0.46719 0.28727 C 0.47266 0.28426 0.47865 0.28356 0.48411 0.28148 C 0.49831 0.27616 0.47878 0.28009 0.50026 0.27708 C 0.50195 0.27569 0.50351 0.27407 0.50521 0.27291 C 0.51042 0.26921 0.51641 0.26829 0.52122 0.26273 C 0.52656 0.25694 0.5332 0.24907 0.53906 0.2456 L 0.54388 0.24282 L 0.55117 0.23426 C 0.55273 0.23217 0.55456 0.23079 0.55599 0.22847 C 0.5599 0.22153 0.55794 0.2243 0.56159 0.21991 C 0.56237 0.2169 0.56302 0.21389 0.56406 0.21134 C 0.56458 0.20949 0.56575 0.20856 0.56641 0.20694 C 0.56732 0.20509 0.5681 0.20301 0.56888 0.20116 C 0.56914 0.19977 0.56927 0.19838 0.56966 0.19699 C 0.57018 0.19491 0.57109 0.19329 0.57122 0.1912 C 0.57148 0.18866 0.57044 0.18403 0.57044 0.18403 " pathEditMode="relative" ptsTypes="AAAAAAAAAAAAAAAAAAAAAAAAAAAAAAAAAA">
                                      <p:cBhvr>
                                        <p:cTn id="4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26 0.00393 L -0.00026 0.00393 C 0.00312 0.00185 0.00677 0.00046 0.01015 -0.00185 C 0.0194 -0.0081 0.02812 -0.0169 0.03763 -0.02199 C 0.07851 -0.04398 0.08359 -0.03634 0.1207 -0.06088 C 0.12578 -0.06412 0.13021 -0.07083 0.13515 -0.07523 C 0.13932 -0.0787 0.14388 -0.08056 0.14805 -0.0838 C 0.15456 -0.08866 0.16068 -0.09537 0.16745 -0.09954 C 0.20664 -0.12431 0.20117 -0.10903 0.25286 -0.13102 C 0.25963 -0.13403 0.26666 -0.13519 0.27305 -0.13982 C 0.27435 -0.14074 0.27578 -0.14144 0.27708 -0.14259 C 0.28008 -0.14491 0.28281 -0.14815 0.28594 -0.14977 C 0.29206 -0.15301 0.29818 -0.15532 0.30456 -0.15695 C 0.31614 -0.15995 0.31771 -0.16042 0.33034 -0.16273 C 0.33385 -0.1632 0.33724 -0.16366 0.34075 -0.16412 C 0.34375 -0.16505 0.34661 -0.16644 0.34961 -0.1669 C 0.37018 -0.1713 0.40768 -0.1662 0.41901 -0.16551 C 0.48594 -0.15509 0.4263 -0.16343 0.49323 -0.15695 C 0.56875 -0.14954 0.46719 -0.15764 0.53359 -0.15255 C 0.54323 -0.1507 0.55299 -0.14977 0.5625 -0.14699 C 0.56614 -0.14583 0.56953 -0.14306 0.57305 -0.1412 C 0.57409 -0.14051 0.57526 -0.14028 0.5763 -0.13982 C 0.59544 -0.11945 0.5875 -0.125 0.59883 -0.11829 C 0.60677 -0.10394 0.6 -0.11343 0.60937 -0.10671 C 0.61172 -0.10509 0.61419 -0.09907 0.61575 -0.09676 C 0.61732 -0.09421 0.61966 -0.09236 0.62148 -0.09097 C 0.62226 -0.08958 0.62291 -0.08796 0.62383 -0.08657 C 0.62461 -0.08542 0.62552 -0.08495 0.6263 -0.0838 C 0.62747 -0.08148 0.62838 -0.07894 0.62956 -0.07662 C 0.63021 -0.075 0.63125 -0.07384 0.6319 -0.07222 C 0.63255 -0.07083 0.63359 -0.06806 0.63359 -0.06806 " pathEditMode="relative" ptsTypes="AAAAAAAAAAAAAAAAAAAAAAAAAAAAAAA">
                                      <p:cBhvr>
                                        <p:cTn id="4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-0.00648 L -0.00091 -0.00648 C 0.00899 -0.00602 0.01888 -0.00486 0.02891 -0.0051 C 0.03646 -0.00533 0.04388 -0.00695 0.05143 -0.00787 C 0.06029 -0.00903 0.06914 -0.01019 0.078 -0.01088 L 0.19987 -0.01806 L 0.24818 -0.02084 L 0.31836 -0.01945 C 0.32865 -0.01898 0.32865 -0.01875 0.33607 -0.01644 C 0.33698 -0.0169 0.33789 -0.01713 0.33854 -0.01806 C 0.33946 -0.01898 0.33985 -0.02223 0.34102 -0.02223 C 0.34206 -0.02223 0.34258 -0.01945 0.34336 -0.01806 C 0.3461 -0.01852 0.34883 -0.01806 0.35143 -0.01945 C 0.35482 -0.02107 0.35794 -0.02431 0.36107 -0.02662 C 0.36328 -0.02801 0.36537 -0.02963 0.36758 -0.03079 C 0.38034 -0.0382 0.37865 -0.03704 0.38932 -0.04098 C 0.39544 -0.04815 0.3875 -0.03959 0.40143 -0.04514 C 0.40326 -0.04584 0.40456 -0.04861 0.40625 -0.04954 C 0.40977 -0.05116 0.41328 -0.05162 0.4168 -0.05232 C 0.42461 -0.05394 0.43242 -0.05486 0.44011 -0.05672 C 0.44336 -0.05741 0.44662 -0.0588 0.44987 -0.05949 C 0.4556 -0.06088 0.46927 -0.06181 0.47409 -0.06227 C 0.50261 -0.05787 0.48373 -0.06273 0.51511 -0.04954 C 0.52774 -0.04422 0.54779 -0.03866 0.55873 -0.02801 C 0.57396 -0.0132 0.5862 -0.00232 0.60065 0.01643 L 0.62722 0.05092 C 0.62943 0.0537 0.6319 0.05578 0.63373 0.05949 C 0.63529 0.06273 0.63685 0.06643 0.63854 0.06944 C 0.64492 0.08078 0.63672 0.0625 0.64336 0.07662 C 0.64518 0.08032 0.64518 0.08217 0.64662 0.08657 C 0.64818 0.09166 0.64935 0.09305 0.65143 0.09814 C 0.65261 0.10092 0.65352 0.10393 0.65469 0.10671 C 0.65625 0.11064 0.65834 0.11389 0.65951 0.11828 C 0.66315 0.13125 0.65847 0.11527 0.66432 0.1324 C 0.66524 0.13541 0.66615 0.14004 0.66758 0.14259 C 0.66849 0.14421 0.66966 0.14537 0.67084 0.14676 C 0.67214 0.15416 0.67071 0.14861 0.67409 0.15555 C 0.67748 0.16273 0.67487 0.15995 0.678 0.16273 " pathEditMode="relative" ptsTypes="AAAAAAAAAAAAAAAAAAAAAAAAAAAAAAAAAAAAAA">
                                      <p:cBhvr>
                                        <p:cTn id="44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43 -0.00301 L -0.00143 -0.00301 C 0.02239 0.02523 0.03984 0.05046 0.06706 0.06713 C 0.08958 0.08101 0.13802 0.0993 0.16224 0.10601 C 0.17005 0.1081 0.20208 0.1118 0.21133 0.11319 C 0.22969 0.11203 0.24805 0.11273 0.26627 0.11018 C 0.2694 0.10972 0.27213 0.10625 0.27513 0.10439 C 0.27799 0.10277 0.28099 0.10162 0.28398 0.10023 C 0.29349 0.09004 0.28854 0.09444 0.3082 0.08588 C 0.32096 0.08032 0.33437 0.07754 0.34687 0.07014 C 0.38008 0.05046 0.33008 0.07939 0.38073 0.05277 C 0.40351 0.04097 0.38607 0.04652 0.41302 0.03148 C 0.42956 0.02199 0.43346 0.02268 0.45013 0.01851 C 0.45703 0.01666 0.46406 0.01412 0.47109 0.01273 C 0.49062 0.00879 0.52995 0.00277 0.52995 0.00277 L 0.62669 0.00416 C 0.63099 0.00416 0.63528 0.00601 0.63958 0.00555 C 0.64674 0.00486 0.65833 0.00046 0.66614 -0.00162 C 0.67435 -0.00371 0.67409 -0.00301 0.6832 -0.00301 " pathEditMode="relative" ptsTypes="AAAAAAAAAAAAAAAAAAA">
                                      <p:cBhvr>
                                        <p:cTn id="46" dur="2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57 -0.00069 L -0.00157 -0.00069 C 0.00104 -0.00116 0.00377 -0.00139 0.00638 -0.00208 C 0.00729 -0.00231 0.00794 -0.0037 0.00885 -0.00347 C 0.02422 -0.00231 0.03945 0.00023 0.05481 0.00209 C 0.072 0.01435 0.08867 0.02292 0.10403 0.04097 C 0.11015 0.04792 0.11627 0.05509 0.12174 0.06389 C 0.12448 0.06806 0.12682 0.07315 0.12981 0.07662 C 0.15117 0.10278 0.14297 0.08982 0.16614 0.10671 C 0.17239 0.11158 0.17851 0.11713 0.18463 0.12269 C 0.18763 0.12523 0.19036 0.12894 0.19349 0.13125 C 0.19583 0.13287 0.1983 0.1331 0.20078 0.13403 C 0.20716 0.13634 0.20911 0.13588 0.21692 0.13704 L 0.24114 0.13403 C 0.24401 0.13357 0.247 0.1331 0.25 0.13264 C 0.25182 0.13218 0.25377 0.13148 0.2556 0.13125 C 0.26067 0.13056 0.26588 0.13033 0.27096 0.12986 C 0.27395 0.1294 0.27682 0.12871 0.27981 0.12824 C 0.28203 0.12685 0.28411 0.12523 0.28632 0.12408 C 0.30169 0.11574 0.31328 0.10972 0.32903 0.10533 C 0.36731 0.09514 0.35455 0.10093 0.39036 0.09398 C 0.44856 0.08264 0.35846 0.09676 0.42578 0.08681 L 0.52734 0.0882 C 0.53867 0.08866 0.54739 0.09259 0.55807 0.09537 L 0.575 0.09954 C 0.57773 0.10046 0.58034 0.10185 0.58307 0.10255 C 0.58645 0.10324 0.5901 0.10324 0.59349 0.10394 C 0.597 0.10463 0.60052 0.10556 0.60403 0.10671 C 0.60599 0.10741 0.60768 0.10926 0.60963 0.10972 C 0.61419 0.11065 0.61875 0.11065 0.6233 0.11111 L 0.6427 0.10972 C 0.64297 0.10972 0.64218 0.10972 0.64192 0.10972 " pathEditMode="relative" ptsTypes="AAAAAAAAAAAAAAAAAAAAAAAAAAAAAAAA">
                                      <p:cBhvr>
                                        <p:cTn id="4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0.00023 L -0.00078 0.00023 C 0.00664 -0.01319 0.01328 -0.02847 0.02174 -0.04004 C 0.05911 -0.0919 0.06588 -0.08032 0.10885 -0.13171 C 0.18893 -0.22754 0.12617 -0.15532 0.16367 -0.19491 C 0.16406 -0.19514 0.1944 -0.22916 0.20234 -0.23495 C 0.2069 -0.23842 0.21133 -0.24236 0.21614 -0.24491 C 0.21927 -0.24676 0.22252 -0.24699 0.22578 -0.24791 C 0.22435 -0.26111 0.22396 -0.25254 0.23229 -0.25208 L 0.26536 -0.2537 C 0.28281 -0.25162 0.30026 -0.25046 0.31771 -0.24791 C 0.32291 -0.24722 0.32786 -0.24467 0.33307 -0.24352 C 0.34648 -0.24074 0.37331 -0.23634 0.37331 -0.23634 C 0.39127 -0.2294 0.39544 -0.22754 0.41445 -0.22199 C 0.42383 -0.21944 0.43333 -0.21782 0.44271 -0.21481 C 0.45299 -0.21157 0.46341 -0.20879 0.47344 -0.20347 C 0.47682 -0.20162 0.48021 -0.19884 0.48385 -0.19768 C 0.49557 -0.19398 0.51758 -0.19398 0.52747 -0.19352 L 0.56041 -0.18773 C 0.56263 -0.18703 0.56471 -0.18541 0.56692 -0.18472 C 0.57096 -0.18356 0.575 -0.18287 0.57903 -0.18194 C 0.59817 -0.18495 0.60208 -0.18472 0.62252 -0.1919 C 0.62526 -0.19282 0.62799 -0.19375 0.6306 -0.19491 C 0.63255 -0.1956 0.63437 -0.19722 0.63633 -0.19768 C 0.64297 -0.1993 0.64974 -0.1993 0.65651 -0.20046 C 0.66562 -0.20231 0.66133 -0.20139 0.6694 -0.20347 C 0.672 -0.20301 0.67474 -0.20278 0.67747 -0.20208 C 0.67825 -0.20185 0.67903 -0.20092 0.67982 -0.20046 C 0.68099 -0.2 0.68815 -0.19676 0.69036 -0.19629 C 0.6914 -0.19606 0.69245 -0.19629 0.69362 -0.19629 " pathEditMode="relative" ptsTypes="AAAAAAAAAAAAAAAAAAAAAAAAAAAAAA">
                                      <p:cBhvr>
                                        <p:cTn id="5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8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32" grpId="0"/>
      <p:bldP spid="34" grpId="0"/>
      <p:bldP spid="36" grpId="0"/>
      <p:bldP spid="38" grpId="0"/>
      <p:bldP spid="40" grpId="0"/>
      <p:bldP spid="42" grpId="0"/>
      <p:bldP spid="44" grpId="0"/>
      <p:bldP spid="46" grpId="0"/>
      <p:bldP spid="4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4114</Words>
  <Application>Microsoft Office PowerPoint</Application>
  <PresentationFormat>Widescreen</PresentationFormat>
  <Paragraphs>575</Paragraphs>
  <Slides>49</Slides>
  <Notes>19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49</vt:i4>
      </vt:variant>
    </vt:vector>
  </HeadingPairs>
  <TitlesOfParts>
    <vt:vector size="57" baseType="lpstr">
      <vt:lpstr>Abadi</vt:lpstr>
      <vt:lpstr>Arial</vt:lpstr>
      <vt:lpstr>Calibri</vt:lpstr>
      <vt:lpstr>Calibri Light</vt:lpstr>
      <vt:lpstr>Cambria Math</vt:lpstr>
      <vt:lpstr>Google Sans Text</vt:lpstr>
      <vt:lpstr>Wingdings</vt:lpstr>
      <vt:lpstr>Office Theme</vt:lpstr>
      <vt:lpstr>Estimation and Learning in Aerospace</vt:lpstr>
      <vt:lpstr>Project Tasks</vt:lpstr>
      <vt:lpstr>Project Tasks</vt:lpstr>
      <vt:lpstr>Linearised model for longitudinal dynamics</vt:lpstr>
      <vt:lpstr>Data Exctraction </vt:lpstr>
      <vt:lpstr>PSD Estimation</vt:lpstr>
      <vt:lpstr>Power Spectral Density Analysis</vt:lpstr>
      <vt:lpstr>Frequency Response Function Estimation</vt:lpstr>
      <vt:lpstr>Frequency Response Function Comparison</vt:lpstr>
      <vt:lpstr>Coherence Analysis</vt:lpstr>
      <vt:lpstr>Grey Box Model: Initialization</vt:lpstr>
      <vt:lpstr>Grey Box Model: Performance metrics</vt:lpstr>
      <vt:lpstr>Grey Box Model: Results</vt:lpstr>
      <vt:lpstr>Grey Box Model: Results</vt:lpstr>
      <vt:lpstr>FRF Validation</vt:lpstr>
      <vt:lpstr>System Validation</vt:lpstr>
      <vt:lpstr>System Validation</vt:lpstr>
      <vt:lpstr>Project Tasks</vt:lpstr>
      <vt:lpstr>Coherence Comparison</vt:lpstr>
      <vt:lpstr>FRF Comparison</vt:lpstr>
      <vt:lpstr>Time-domain validation:</vt:lpstr>
      <vt:lpstr>Time-domain validation:</vt:lpstr>
      <vt:lpstr>Comparison Results (I)</vt:lpstr>
      <vt:lpstr>Comparison Results (II)</vt:lpstr>
      <vt:lpstr>Comparison Results (II)</vt:lpstr>
      <vt:lpstr>Project tasks</vt:lpstr>
      <vt:lpstr>Number of iterations rationale</vt:lpstr>
      <vt:lpstr>Zeros and Poles Dispersion</vt:lpstr>
      <vt:lpstr>FRF Dispersion: pitch rate</vt:lpstr>
      <vt:lpstr>FRF Dispersion: acceleration</vt:lpstr>
      <vt:lpstr>Hystograms of Parameters</vt:lpstr>
      <vt:lpstr>Validation</vt:lpstr>
      <vt:lpstr>Validation</vt:lpstr>
      <vt:lpstr>Bias reduction: K = 20 – Model Parameters</vt:lpstr>
      <vt:lpstr>Bias reduction: Model Parameters Comparison</vt:lpstr>
      <vt:lpstr>Bias reduction: Model Parameters Comparison</vt:lpstr>
      <vt:lpstr>Bias reduction: K = 20 – Poles and FRF Dispersion</vt:lpstr>
      <vt:lpstr>Bias reduction: K = 20 – MC Dataset Validation</vt:lpstr>
      <vt:lpstr>Variance reduction: Frequency Cropping</vt:lpstr>
      <vt:lpstr>Variance reduction: Frequency Cropping - Model Parameters </vt:lpstr>
      <vt:lpstr>Variance reduction: Frequency Cropping – Poles and FRF Dispersion</vt:lpstr>
      <vt:lpstr>Variance reduction: Frequency Cropping – Dataset validation</vt:lpstr>
      <vt:lpstr>Combined bias and variance reduction</vt:lpstr>
      <vt:lpstr>Combined bias and variance reduction</vt:lpstr>
      <vt:lpstr>Combined bias and variance reduction</vt:lpstr>
      <vt:lpstr>Combined bias and variance reduction</vt:lpstr>
      <vt:lpstr>Final Considerations</vt:lpstr>
      <vt:lpstr>Final Considerations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Riccardo Simonetti</dc:creator>
  <cp:lastModifiedBy>Francesco Pezzi</cp:lastModifiedBy>
  <cp:revision>2</cp:revision>
  <dcterms:created xsi:type="dcterms:W3CDTF">2019-02-13T14:58:22Z</dcterms:created>
  <dcterms:modified xsi:type="dcterms:W3CDTF">2026-06-28T14:20:14Z</dcterms:modified>
</cp:coreProperties>
</file>